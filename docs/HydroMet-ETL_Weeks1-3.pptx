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Introduce the project by name and one line of purpose: HydroMet-ETL is a reproducible data engineering pipeline for hydrometeorological data covering eight Tanzanian locations, being built incrementally across the semester. Today's talk covers only Weeks 1 to 3: understanding the data, designing the architecture, and building reliable ingestion.
WHY IT MATTERS: Sets audience expectations immediately — this is engineering work (not just an analysis), and it is scoped to three specific weeks, not the whole roadmap.
LIKELY QUESTION: 'What will this pipeline eventually do?' STRONG ANSWER: It will ingest, validate, harmonize, store and eventually serve climate and agricultural analytics data for Tanzania, starting from NASA POWER and later adding sources such as CHIRPS and ERA5-Land.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Climate risk in Tanzania is real, but the data needed to study it responsibly is scattered and inconsistent. This project treats that as an engineering problem, not only an analytics problem.
WHY IT MATTERS: Frames the whole talk — you are not just 'doing an analysis', you are building infrastructure that many kinds of users could eventually rely on.
EXPLAIN SIMPLY: Think of it like plumbing before you can drink clean water — someone has to build the pipes (ingestion, validation, storage) before analysts can safely build on top.
LIKELY QUESTION: 'Isn't this just downloading a CSV from NASA POWER?' STRONG ANSWER: NASA POWER gives raw daily values only. The value we add is validation, quality flagging, a proper relational model, and provable reproducibility — turning a raw feed into a trustworthy analytics-ready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Read the objective statement, then immediately scope the talk: 'Today I'm only presenting Weeks 1 through 3 of this — problem framing, architecture, and ingestion.'
WHY IT MATTERS: Prevents the lecturer from expecting components (dashboards, cloud deployment) that don't exist yet — sets honest boundaries up front.
LIKELY QUESTION: 'Why DuckDB and not a full cloud data warehouse?' STRONG ANSWER: At this stage the dataset is small enough (hundreds of thousands of rows) that a lightweight embedded analytical database is the right-sized tool; heavier infrastructure is deferred until it's actually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through the four headline numbers first (8 locations, 25 years, 73,048 records, 7 variables), then briefly name the locations and variables — don't read every table row aloud.
WHY IT MATTERS: Establishes the scale and shape of the raw data before explaining what was done to it.
EXPLAIN SIMPLY: 73,048 rows = roughly 25 years × 365 days × 8 locations of daily weather readings, one row per location-day.
LIKELY QUESTION: 'Why only these 8 locations?' STRONG ANSWER: They were selected as representative points across Tanzania's regions for this stage of the project; Problem 1 in the profiling findings explicitly flags that 8 points is not full national spatial coverage, and denser/gridded sampling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the map for the whole talk. Point at the six-stage pipeline first, then the three week-cards underneath, and say each week focused on a different part of this same pipeline.
WHY IT MATTERS: Gives the audience one mental picture to hang the rest of the presentation on — every later slide is 'zooming into' one of these boxes.
LIKELY QUESTION: 'Where does the star schema fit in this flow?' STRONG ANSWER: It's the destination — the Analytical Database box on the right; Week 2 designed that box's internal structure (dimension and fact tables) while Weeks 1 and 3 shaped what feeds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Before touching architecture or ingestion, Week 1 was spent profiling the raw NASA POWER data across eleven dimensions — from basic schema checks to physical validity rules like temperature ordering.
WHY IT MATTERS: Shows the methodology was systematic, not ad hoc — profiling came before any design decision.
EXPLAIN SIMPLY: This is like a doctor doing a full check-up before recommending treatment — you profile the patient (the data) before prescribing an architecture.
LIKELY QUESTION: 'What counts as a physical validity check here?' STRONG ANSWER: Domain rules that must always hold — e.g. minimum temperature can never exceed maximum temperature, relative humidity must be within 0–100%, precipitation and wind speed can never be negative, coordinates must fall within valid latitude/longitude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Initial profiling found zero invalid dates, zero duplicates, zero missing values, zero physically impossible readings — across every basic check. Emphasize this is a genuine, surprising result — NASA POWER is a high-quality reanalysis product.
WHY IT MATTERS: This is a storytelling turning point — many student projects invent messy-data problems; here the honest finding was 'the data passed every basic check', which forced a more rigorous second pass instead of manufacturing an easy problem.
LIKELY QUESTION: 'If there were no problems, why continue profiling?' STRONG ANSWER: Passing basic structural checks doesn't mean the dataset has no engineering limitations — it just means those particular checks weren't the issue. Advanced profiling was needed to surface deeper, non-obvious problems like spatial coverage and source dependency.
[INSERT: a screenshot or chart from notebooks/01_initial_data_profiling.ipynb summarising these checks,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Since the data passed basic structural checks, the second notebook dug into four deeper categories: spatial and coverage questions, statistical distribution checks, temporal/seasonal patterns, and cross-cutting checks like correlations and source lineage.
WHY IT MATTERS: This is where the three real engineering problems (next slide) were actually discovered — the interesting findings live here, not in the basic checks.
LIKELY QUESTION: 'What is an IQR-based outlier check, in simple terms?' STRONG ANSWER: It flags values that fall far outside the typical spread of the middle 50% of observations (below Q1 − 1.5×IQR or above Q3 + 1.5×IQR) — a statistical flag, not an automatic verdict that the value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Advanced profiling converged on three defensible, non-invented problems: limited spatial density, dependence on a single data source, and the need for domain-aware handling of statistical extremes rather than blind deletion.
WHY IT MATTERS: These three findings directly motivate every Week 2 design decision — especially the star schema's dim_source and the fact_quality_flag table.
LIKELY QUESTION: 'Why is an outlier not automatically an error?' STRONG ANSWER: Hydrometeorological variables, especially precipitation, are naturally skewed and have real extreme events — a heavy storm producing 145mm in a day is unusual but physically valid, not a data entry error. We distinguish invalid value, statistical outlier, extreme-but-valid event, and dataset limitation instead of collapsing them into one category.
LIKELY QUESTION: 'How will you address single-source dependency later?' STRONG ANSWER: The dim_source table is already designed to hold multiple sources; future units would add CHIRPS and ERA5-Land, which introduces new challenges — different schemas, spatial/temporal resolutions, units and missing-value conventions that will need to be harmonized.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funnel top to bottom: raw NASA POWER data, initial profiling said 'structurally clean', advanced profiling uncovered three deeper limitations, and those three limitations were translated directly into engineering requirements that shaped Week 2's schema.
WHY IT MATTERS: This is the connective tissue of the whole presentation — it proves each design decision was evidence-driven, not arbitrary. Spend real time on this slide; it is the narrative spine.
LIKELY QUESTION: 'How exactly did these three problems become requirements?' STRONG ANSWER: Source dependency → a dedicated dim_source table for explicit lineage and future multi-source support. Extremes needing domain-aware QA → a separate fact_quality_flag table instead of deleting values. Spatial limitation → an explicit, stated limitation in the problem statement so future work (denser sampling, gridded data) has a clear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 star schema was chosen because the system's job is analytical querying and aggregation, not transactional record-keeping — dimension tables avoid repeating location/variable/source metadata on every row, and the fact table stays lean.
WHY IT MATTERS: Anticipates the most common lecturer question in data modeling courses — justify the modeling choice, don't just describe it.
EXPLAIN SIMPLY: Instead of writing 'Arusha, -3.37, 36.68, Tanzania' on every single row, we write it once in dim_location and just reference an ID — like a phone contact list instead of retyping someone's number every time you text them.
LIKELY QUESTION: 'Doesn't long format waste space compared to wide?' STRONG ANSWER: It trades some row-count growth for flexibility, integrity and scalability; when a wide feature matrix is needed for machine learning later, the long table is pivoted into that shape — the database and the ML input serve different purposes and don't need to share one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fact_observation sits at the centre, connected to four dimension tables — dim_date, dim_location, dim_variable, dim_source — each in a 1-to-many relationship. fact_quality_flag hangs off fact_observation in its own 1-to-many relationship, one observation can carry zero or more quality flags.
WHY IT MATTERS: This is the core architectural artifact of Week 2 — expect the lecturer to look at this slide closely.
LIKELY QUESTION: 'Why is fact_quality_flag a separate table instead of columns on fact_observation?' STRONG ANSWER: An observation can have zero, one, or several quality flags over time (e.g. re-evaluated by a new rule), which is a one-to-many relationship — modeling it as its own table avoids repeating or nulling out flag columns and keeps fact_observation lean.
LIKELY QUESTION: 'How would you extend this for CHIRPS or ERA5-Land?' STRONG ANSWER: dim_source already carries provider and resolution metadata, and the fact grain includes source_id — so a new source is a new dim_source row and new fact_observation rows; no schema redesign needed.
[INSERT: an ER-diagram export from your own tool (e.g. dbdiagram.io / DuckDB schema browser) here or alongside this slide if you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Read the grain sentence slowly and let it land — this is the single most important sentence in the data model. Then explain the uniqueness constraint enforces exactly that grain at the database level.
WHY IT MATTERS: The lecturer's number one question in a fact-table discussion is 'what is the grain?' — being able to state it in one precise sentence, and show the constraint that enforces it, is the strongest possible answer.
LIKELY QUESTION: 'What is the grain of your fact table?' STRONG ANSWER: One meteorological variable, observed at one location, on one date, from one data source — enforced by a uniqueness constraint on (date_id, location_id, variable_id, source_id).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raw NASA POWER file is wide — one row per location-date with a column per variable. The dimensional loader reshapes it to long — one row per individual variable observation. Walk through the concrete Arusha example: three columns (T2M, RH2M, PRECTOTCORR) become three separate rows.
WHY IT MATTERS: This is the transformation most likely to look like an error to someone unfamiliar with dimensional modeling — pre-empt that question directly.
LIKELY QUESTION: 'Why did 73,048 rows become 511,336? Isn't that duplication?' STRONG ANSWER: No — it's a grain change. 73,048 source rows each had 7 variable columns; pivoting to long format turns each of those into 7 rows (73,048 × 7 = 511,336), one per variable observation. No value is repeated or invented; the same information is simply re-shaped.
LIKELY QUESTION: 'Why not just keep the original wide CSV?' STRONG ANSWER: Wide format hard-codes the variable list into the schema — adding a new variable means adding a new column everywhere. Long format lets dim_variable grow with new rows instead of schema changes, and keeps the fact table uniformly structured regardless of how many variables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Use the 145mm rainfall example. Traditional pipelines might delete anything flagged as a statistical outlier; HydroMet-ETL keeps the raw value untouched and attaches a separate quality flag record instead.
WHY IT MATTERS: Directly demonstrates the causal chain from Week 1 profiling finding to Week 2 architecture decision — a strong example of evidence-driven engineering.
LIKELY QUESTION: 'Why did you create fact_quality_flag as its own table?' STRONG ANSWER: An observation can accumulate multiple flags from different rules over time (one-to-many), and we never want a quality concern to force us to lose or alter the original measurement — separating flags from values preserves raw data integrity while still surfacing quality information to downstream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Idempotency means f(f(x)) = f(x) — applying an operation repeatedly gives the same result as applying it once. For this pipeline, running ingestion a second or third time must produce the same 73,048 rows, not a growing pile of duplicates.
WHY IT MATTERS: This is the central engineering concern of Week 3 — everything else (request IDs, manifest, checksums, caching) exists in service of this property.
EXPLAIN SIMPLY: Like pressing an elevator call button multiple times — it doesn't call multiple elevators, the state just stays 'called'.
LIKELY QUESTION: 'What does idempotency mean?' STRONG ANSWER: Re-running the same operation any number of times produces the same result as running it once — no duplicate rows, no drifting state, regardless of how many times the pipeline is re-executed.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Eleven engineering components together make ingestion reliable and rerun-safe — from deterministic IDs and a manifest to checksums, retries, caching and automated tests. The raw layer is preserved on disk as permanent evidence, not deleted after use.
WHY IT MATTERS: Shows the pipeline was engineered with production practices in mind, even at this early stage — this is what turns a script into a pipeline.
LIKELY QUESTION: 'Why preserve raw data at all if it's already been transformed?' STRONG ANSWER: Raw responses are treated as source evidence — if a transformation bug is found later, we can reproduce the analytical output without re-calling the API, and we can verify nothing was altered on the way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Three provenance mechanisms work together. Request IDs are deterministic hashes of the request parameters — same inputs always produce the same ID. The manifest logs every ingestion event with full lineage. SHA-256 checksums fingerprint every raw and interim file so any change is instantly detectable.
WHY IT MATTERS: This is the evidence trail that makes reproducibility provable, not just claimed.
LIKELY QUESTION: 'Why use SHA-256 specifically?' STRONG ANSWER: It is a standard cryptographic hash — any change to file content, even a single byte, produces a completely different hash, so it's a reliable way to detect corruption or modification without storing a full copy to compare against.
LIKELY QUESTION: 'What happens if a raw file changes?' STRONG ANSWER: Its SHA-256 checksum would no longer match the value recorded in the manifest at ingestion time, immediately flagging the file as modified or corrupted before it's used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ingestion pipeline was actually executed twice, back to back. Both runs produced exactly 73,048 rows, and — critically — the SHA-256 hash of the resulting interim CSV was byte-for-byte identical between Run 1 and Run 2.
WHY IT MATTERS: This is empirical proof of idempotency, not a theoretical claim — treat this as the centrepiece evidence slide of the whole talk.
LIKELY QUESTION: 'How did you prove idempotency?' STRONG ANSWER: By re-running the full ingestion pipeline and comparing both the row count and the SHA-256 checksum of the output file across two runs — matching row counts alone could coincidentally match, but an identical SHA-256 hash means the output bytes are provably identical.
LIKELY QUESTION: 'Why did you skip the API on the second run?' STRONG ANSWER: The pipeline checks the manifest and raw-file checksum first; if a validated raw file already exists for that exact request ID, it reuses it instead of re-calling the API — reducing unnecessary load on NASA POWER and keeping reruns fast.
[INSERT TERMINAL SCREENSHOT: rerun log showing 'Existing validated raw file found. Skipping API.' for both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On top of the manual rerun experiment, five automated pytest tests check the interim file exists, has the expected row and location counts, contains no duplicate location-date records, and identifies a unique source — all five passed in well under a second.
WHY IT MATTERS: Automated tests turn a one-off manual check into a repeatable safety net that can run on every future code change.
LIKELY QUESTION: 'Why write tests instead of just checking manually each time?' STRONG ANSWER: Manual checks don't scale and are easy to forget; automated tests run in under a second and can be wired into every future commit, catching regressions immediately rather than discovering them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Recap the three-week arc in one breath — understand the data, design the architecture around its real limitations, then build ingestion reliable enough to feed that architecture safely — then run down the completed checklist.
WHY IT MATTERS: This is the closing argument of the presentation — it ties every earlier slide back to the single narrative thread.
LIKELY QUESTION: 'What was the single most important decision across these three weeks?' STRONG ANSWER: Letting Week 1's actual findings — not assumptions — drive the Week 2 schema and Week 3 ingestion design; for example, the quality-flag table and the multi-source-ready dim_source both trace directly back to specific profiling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These items are explicitly future work, not completed pieces — name them plainly as the roadmap for later units, so nothing here is mistaken for something already built.
WHY IT MATTERS: Honesty about scope boundaries is itself good engineering practice and protects credibility under lecturer questioning.
LIKELY QUESTION: 'How will this architecture support CHIRPS or ERA5-Land later?' STRONG ANSWER: dim_source and the fact grain already include a source dimension, so a new source becomes new dim_source rows and new fact_observation rows referencing them — the challenge will be harmonizing differing schemas, spatial/temporal resolutions, units and missing-value conventions before they reach that common grain.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Invite questions and be ready to return to any evidence slide (ER diagram, wide-to-long, or the rerun proof) if asked to elaborate.
WHY IT MATTERS: A confident close signals command of the material.
TIP: Keep this slide up while fielding questions so the audience has something to look at other than a blank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1.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6-1.png"/><Relationship Id="rId8" Type="http://schemas.openxmlformats.org/officeDocument/2006/relationships/image" Target="../media/image-6-1.png"/><Relationship Id="rId9" Type="http://schemas.openxmlformats.org/officeDocument/2006/relationships/image" Target="../media/image-6-1.png"/><Relationship Id="rId10" Type="http://schemas.openxmlformats.org/officeDocument/2006/relationships/image" Target="../media/image-6-1.png"/><Relationship Id="rId11" Type="http://schemas.openxmlformats.org/officeDocument/2006/relationships/image" Target="../media/image-6-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image" Target="../media/image-11-1.png"/><Relationship Id="rId6" Type="http://schemas.openxmlformats.org/officeDocument/2006/relationships/image" Target="../media/image-11-1.png"/><Relationship Id="rId7" Type="http://schemas.openxmlformats.org/officeDocument/2006/relationships/image" Target="../media/image-11-1.png"/><Relationship Id="rId8" Type="http://schemas.openxmlformats.org/officeDocument/2006/relationships/image" Target="../media/image-11-1.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1.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1.png"/><Relationship Id="rId4" Type="http://schemas.openxmlformats.org/officeDocument/2006/relationships/image" Target="../media/image-20-1.png"/><Relationship Id="rId5" Type="http://schemas.openxmlformats.org/officeDocument/2006/relationships/image" Target="../media/image-20-1.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4.png"/><Relationship Id="rId6" Type="http://schemas.openxmlformats.org/officeDocument/2006/relationships/image" Target="../media/image-21-4.png"/><Relationship Id="rId7" Type="http://schemas.openxmlformats.org/officeDocument/2006/relationships/image" Target="../media/image-21-4.png"/><Relationship Id="rId8" Type="http://schemas.openxmlformats.org/officeDocument/2006/relationships/image" Target="../media/image-21-4.png"/><Relationship Id="rId9" Type="http://schemas.openxmlformats.org/officeDocument/2006/relationships/image" Target="../media/image-21-4.png"/><Relationship Id="rId10" Type="http://schemas.openxmlformats.org/officeDocument/2006/relationships/image" Target="../media/image-21-4.png"/><Relationship Id="rId11" Type="http://schemas.openxmlformats.org/officeDocument/2006/relationships/image" Target="../media/image-21-4.png"/><Relationship Id="rId12" Type="http://schemas.openxmlformats.org/officeDocument/2006/relationships/image" Target="../media/image-21-4.png"/><Relationship Id="rId13" Type="http://schemas.openxmlformats.org/officeDocument/2006/relationships/image" Target="../media/image-21-4.png"/><Relationship Id="rId14" Type="http://schemas.openxmlformats.org/officeDocument/2006/relationships/image" Target="../media/image-21-4.png"/><Relationship Id="rId15" Type="http://schemas.openxmlformats.org/officeDocument/2006/relationships/image" Target="../media/image-21-4.png"/><Relationship Id="rId16" Type="http://schemas.openxmlformats.org/officeDocument/2006/relationships/image" Target="../media/image-21-4.png"/><Relationship Id="rId17" Type="http://schemas.openxmlformats.org/officeDocument/2006/relationships/slideLayout" Target="../slideLayouts/slideLayout1.xml"/><Relationship Id="rId1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320"/>
        </a:solidFill>
      </p:bgPr>
    </p:bg>
    <p:spTree>
      <p:nvGrpSpPr>
        <p:cNvPr id="1" name=""/>
        <p:cNvGrpSpPr/>
        <p:nvPr/>
      </p:nvGrpSpPr>
      <p:grpSpPr>
        <a:xfrm>
          <a:off x="0" y="0"/>
          <a:ext cx="0" cy="0"/>
          <a:chOff x="0" y="0"/>
          <a:chExt cx="0" cy="0"/>
        </a:xfrm>
      </p:grpSpPr>
      <p:sp>
        <p:nvSpPr>
          <p:cNvPr id="2" name="Text 0"/>
          <p:cNvSpPr txBox="1"/>
          <p:nvPr/>
        </p:nvSpPr>
        <p:spPr>
          <a:xfrm>
            <a:off x="0" y="777240"/>
            <a:ext cx="12191695" cy="365760"/>
          </a:xfrm>
          <a:prstGeom prst="rect">
            <a:avLst/>
          </a:prstGeom>
          <a:noFill/>
          <a:ln/>
        </p:spPr>
        <p:txBody>
          <a:bodyPr wrap="square" lIns="0" tIns="0" rIns="0" bIns="0" rtlCol="0" anchor="ctr"/>
          <a:lstStyle/>
          <a:p>
            <a:pPr algn="ctr" indent="0" marL="0">
              <a:buNone/>
            </a:pPr>
            <a:r>
              <a:rPr lang="en-US" sz="1500" b="1" spc="200" kern="0" dirty="0">
                <a:solidFill>
                  <a:srgbClr val="D9A441"/>
                </a:solidFill>
                <a:latin typeface="Calibri" pitchFamily="34" charset="0"/>
                <a:ea typeface="Calibri" pitchFamily="34" charset="-122"/>
                <a:cs typeface="Calibri" pitchFamily="34" charset="-120"/>
              </a:rPr>
              <a:t>DSAI 6226  ·  DATA ENGINEERING AND ANALYTICS</a:t>
            </a:r>
            <a:endParaRPr lang="en-US" sz="1500" dirty="0"/>
          </a:p>
        </p:txBody>
      </p:sp>
      <p:sp>
        <p:nvSpPr>
          <p:cNvPr id="3" name="Text 1"/>
          <p:cNvSpPr txBox="1"/>
          <p:nvPr/>
        </p:nvSpPr>
        <p:spPr>
          <a:xfrm>
            <a:off x="0" y="1417320"/>
            <a:ext cx="12191695" cy="118872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HydroMet-ETL</a:t>
            </a:r>
            <a:endParaRPr lang="en-US" sz="5800" dirty="0"/>
          </a:p>
        </p:txBody>
      </p:sp>
      <p:sp>
        <p:nvSpPr>
          <p:cNvPr id="4" name="Text 2"/>
          <p:cNvSpPr txBox="1"/>
          <p:nvPr/>
        </p:nvSpPr>
        <p:spPr>
          <a:xfrm>
            <a:off x="1280160" y="2606040"/>
            <a:ext cx="9631375" cy="822960"/>
          </a:xfrm>
          <a:prstGeom prst="rect">
            <a:avLst/>
          </a:prstGeom>
          <a:noFill/>
          <a:ln/>
        </p:spPr>
        <p:txBody>
          <a:bodyPr wrap="square" lIns="0" tIns="0" rIns="0" bIns="0" rtlCol="0" anchor="ctr"/>
          <a:lstStyle/>
          <a:p>
            <a:pPr algn="ctr" indent="0" marL="0">
              <a:lnSpc>
                <a:spcPct val="115000"/>
              </a:lnSpc>
              <a:buNone/>
            </a:pPr>
            <a:r>
              <a:rPr lang="en-US" sz="1900" dirty="0">
                <a:solidFill>
                  <a:srgbClr val="D9F0DC"/>
                </a:solidFill>
                <a:latin typeface="Calibri" pitchFamily="34" charset="0"/>
                <a:ea typeface="Calibri" pitchFamily="34" charset="-122"/>
                <a:cs typeface="Calibri" pitchFamily="34" charset="-120"/>
              </a:rPr>
              <a:t>A Reproducible Hydrometeorological Data Engineering Pipeline for</a:t>
            </a:r>
            <a:endParaRPr lang="en-US" sz="1900" dirty="0"/>
          </a:p>
          <a:p>
            <a:pPr algn="ctr" indent="0" marL="0">
              <a:lnSpc>
                <a:spcPct val="115000"/>
              </a:lnSpc>
              <a:buNone/>
            </a:pPr>
            <a:r>
              <a:rPr lang="en-US" sz="1900" dirty="0">
                <a:solidFill>
                  <a:srgbClr val="D9F0DC"/>
                </a:solidFill>
                <a:latin typeface="Calibri" pitchFamily="34" charset="0"/>
                <a:ea typeface="Calibri" pitchFamily="34" charset="-122"/>
                <a:cs typeface="Calibri" pitchFamily="34" charset="-120"/>
              </a:rPr>
              <a:t>Climate and Agricultural Analytics in Tanzania</a:t>
            </a:r>
            <a:endParaRPr lang="en-US" sz="1900" dirty="0"/>
          </a:p>
        </p:txBody>
      </p:sp>
      <p:sp>
        <p:nvSpPr>
          <p:cNvPr id="5" name="Shape 3"/>
          <p:cNvSpPr/>
          <p:nvPr/>
        </p:nvSpPr>
        <p:spPr>
          <a:xfrm>
            <a:off x="2438248" y="3977640"/>
            <a:ext cx="731520" cy="731520"/>
          </a:xfrm>
          <a:prstGeom prst="ellipse">
            <a:avLst/>
          </a:prstGeom>
          <a:solidFill>
            <a:srgbClr val="1F7A3D"/>
          </a:solidFill>
          <a:ln/>
        </p:spPr>
      </p:sp>
      <p:pic>
        <p:nvPicPr>
          <p:cNvPr id="6" name="Image 0" descr="/home/claude/hydromet_ppt/icons/search.png">    </p:cNvPr>
          <p:cNvPicPr>
            <a:picLocks noChangeAspect="1"/>
          </p:cNvPicPr>
          <p:nvPr/>
        </p:nvPicPr>
        <p:blipFill>
          <a:blip r:embed="rId1"/>
          <a:stretch>
            <a:fillRect/>
          </a:stretch>
        </p:blipFill>
        <p:spPr>
          <a:xfrm>
            <a:off x="2621128" y="4160520"/>
            <a:ext cx="365760" cy="365760"/>
          </a:xfrm>
          <a:prstGeom prst="rect">
            <a:avLst/>
          </a:prstGeom>
        </p:spPr>
      </p:pic>
      <p:sp>
        <p:nvSpPr>
          <p:cNvPr id="7" name="Text 4"/>
          <p:cNvSpPr txBox="1"/>
          <p:nvPr/>
        </p:nvSpPr>
        <p:spPr>
          <a:xfrm>
            <a:off x="1569568" y="4846320"/>
            <a:ext cx="2468880" cy="292608"/>
          </a:xfrm>
          <a:prstGeom prst="rect">
            <a:avLst/>
          </a:prstGeom>
          <a:noFill/>
          <a:ln/>
        </p:spPr>
        <p:txBody>
          <a:bodyPr wrap="square" lIns="0" tIns="0" rIns="0" bIns="0" rtlCol="0" anchor="ctr"/>
          <a:lstStyle/>
          <a:p>
            <a:pPr algn="ctr" indent="0" marL="0">
              <a:buNone/>
            </a:pPr>
            <a:r>
              <a:rPr lang="en-US" sz="1300" b="1" spc="150" kern="0" dirty="0">
                <a:solidFill>
                  <a:srgbClr val="D9A441"/>
                </a:solidFill>
                <a:latin typeface="Calibri" pitchFamily="34" charset="0"/>
                <a:ea typeface="Calibri" pitchFamily="34" charset="-122"/>
                <a:cs typeface="Calibri" pitchFamily="34" charset="-120"/>
              </a:rPr>
              <a:t>WEEK 1</a:t>
            </a:r>
            <a:endParaRPr lang="en-US" sz="1300" dirty="0"/>
          </a:p>
        </p:txBody>
      </p:sp>
      <p:sp>
        <p:nvSpPr>
          <p:cNvPr id="8" name="Text 5"/>
          <p:cNvSpPr txBox="1"/>
          <p:nvPr/>
        </p:nvSpPr>
        <p:spPr>
          <a:xfrm>
            <a:off x="1569568" y="5148072"/>
            <a:ext cx="2468880" cy="548640"/>
          </a:xfrm>
          <a:prstGeom prst="rect">
            <a:avLst/>
          </a:prstGeom>
          <a:noFill/>
          <a:ln/>
        </p:spPr>
        <p:txBody>
          <a:bodyPr wrap="square" lIns="0" tIns="0" rIns="0" bIns="0" rtlCol="0" anchor="ctr"/>
          <a:lstStyle/>
          <a:p>
            <a:pPr algn="ctr" indent="0" marL="0">
              <a:lnSpc>
                <a:spcPct val="105000"/>
              </a:lnSpc>
              <a:buNone/>
            </a:pPr>
            <a:r>
              <a:rPr lang="en-US" sz="1450" dirty="0">
                <a:solidFill>
                  <a:srgbClr val="FFFFFF"/>
                </a:solidFill>
                <a:latin typeface="Calibri" pitchFamily="34" charset="0"/>
                <a:ea typeface="Calibri" pitchFamily="34" charset="-122"/>
                <a:cs typeface="Calibri" pitchFamily="34" charset="-120"/>
              </a:rPr>
              <a:t>Data Profiling</a:t>
            </a:r>
            <a:endParaRPr lang="en-US" sz="1450" dirty="0"/>
          </a:p>
        </p:txBody>
      </p:sp>
      <p:sp>
        <p:nvSpPr>
          <p:cNvPr id="9" name="Shape 6"/>
          <p:cNvSpPr/>
          <p:nvPr/>
        </p:nvSpPr>
        <p:spPr>
          <a:xfrm>
            <a:off x="4148176" y="4297680"/>
            <a:ext cx="603504" cy="91440"/>
          </a:xfrm>
          <a:prstGeom prst="rightArrow">
            <a:avLst/>
          </a:prstGeom>
          <a:solidFill>
            <a:srgbClr val="D9A441"/>
          </a:solidFill>
          <a:ln/>
        </p:spPr>
      </p:sp>
      <p:sp>
        <p:nvSpPr>
          <p:cNvPr id="10" name="Shape 7"/>
          <p:cNvSpPr/>
          <p:nvPr/>
        </p:nvSpPr>
        <p:spPr>
          <a:xfrm>
            <a:off x="5730088" y="3977640"/>
            <a:ext cx="731520" cy="731520"/>
          </a:xfrm>
          <a:prstGeom prst="ellipse">
            <a:avLst/>
          </a:prstGeom>
          <a:solidFill>
            <a:srgbClr val="1F7A3D"/>
          </a:solidFill>
          <a:ln/>
        </p:spPr>
      </p:sp>
      <p:pic>
        <p:nvPicPr>
          <p:cNvPr id="11" name="Image 1" descr="/home/claude/hydromet_ppt/icons/database.png">    </p:cNvPr>
          <p:cNvPicPr>
            <a:picLocks noChangeAspect="1"/>
          </p:cNvPicPr>
          <p:nvPr/>
        </p:nvPicPr>
        <p:blipFill>
          <a:blip r:embed="rId2"/>
          <a:stretch>
            <a:fillRect/>
          </a:stretch>
        </p:blipFill>
        <p:spPr>
          <a:xfrm>
            <a:off x="5912968" y="4160520"/>
            <a:ext cx="365760" cy="365760"/>
          </a:xfrm>
          <a:prstGeom prst="rect">
            <a:avLst/>
          </a:prstGeom>
        </p:spPr>
      </p:pic>
      <p:sp>
        <p:nvSpPr>
          <p:cNvPr id="12" name="Text 8"/>
          <p:cNvSpPr txBox="1"/>
          <p:nvPr/>
        </p:nvSpPr>
        <p:spPr>
          <a:xfrm>
            <a:off x="4861408" y="4846320"/>
            <a:ext cx="2468880" cy="292608"/>
          </a:xfrm>
          <a:prstGeom prst="rect">
            <a:avLst/>
          </a:prstGeom>
          <a:noFill/>
          <a:ln/>
        </p:spPr>
        <p:txBody>
          <a:bodyPr wrap="square" lIns="0" tIns="0" rIns="0" bIns="0" rtlCol="0" anchor="ctr"/>
          <a:lstStyle/>
          <a:p>
            <a:pPr algn="ctr" indent="0" marL="0">
              <a:buNone/>
            </a:pPr>
            <a:r>
              <a:rPr lang="en-US" sz="1300" b="1" spc="150" kern="0" dirty="0">
                <a:solidFill>
                  <a:srgbClr val="D9A441"/>
                </a:solidFill>
                <a:latin typeface="Calibri" pitchFamily="34" charset="0"/>
                <a:ea typeface="Calibri" pitchFamily="34" charset="-122"/>
                <a:cs typeface="Calibri" pitchFamily="34" charset="-120"/>
              </a:rPr>
              <a:t>WEEK 2</a:t>
            </a:r>
            <a:endParaRPr lang="en-US" sz="1300" dirty="0"/>
          </a:p>
        </p:txBody>
      </p:sp>
      <p:sp>
        <p:nvSpPr>
          <p:cNvPr id="13" name="Text 9"/>
          <p:cNvSpPr txBox="1"/>
          <p:nvPr/>
        </p:nvSpPr>
        <p:spPr>
          <a:xfrm>
            <a:off x="4861408" y="5148072"/>
            <a:ext cx="2468880" cy="548640"/>
          </a:xfrm>
          <a:prstGeom prst="rect">
            <a:avLst/>
          </a:prstGeom>
          <a:noFill/>
          <a:ln/>
        </p:spPr>
        <p:txBody>
          <a:bodyPr wrap="square" lIns="0" tIns="0" rIns="0" bIns="0" rtlCol="0" anchor="ctr"/>
          <a:lstStyle/>
          <a:p>
            <a:pPr algn="ctr" indent="0" marL="0">
              <a:lnSpc>
                <a:spcPct val="105000"/>
              </a:lnSpc>
              <a:buNone/>
            </a:pPr>
            <a:r>
              <a:rPr lang="en-US" sz="1450" dirty="0">
                <a:solidFill>
                  <a:srgbClr val="FFFFFF"/>
                </a:solidFill>
                <a:latin typeface="Calibri" pitchFamily="34" charset="0"/>
                <a:ea typeface="Calibri" pitchFamily="34" charset="-122"/>
                <a:cs typeface="Calibri" pitchFamily="34" charset="-120"/>
              </a:rPr>
              <a:t>Architecture &amp;</a:t>
            </a:r>
            <a:endParaRPr lang="en-US" sz="1450" dirty="0"/>
          </a:p>
          <a:p>
            <a:pPr algn="ctr" indent="0" marL="0">
              <a:lnSpc>
                <a:spcPct val="105000"/>
              </a:lnSpc>
              <a:buNone/>
            </a:pPr>
            <a:r>
              <a:rPr lang="en-US" sz="1450" dirty="0">
                <a:solidFill>
                  <a:srgbClr val="FFFFFF"/>
                </a:solidFill>
                <a:latin typeface="Calibri" pitchFamily="34" charset="0"/>
                <a:ea typeface="Calibri" pitchFamily="34" charset="-122"/>
                <a:cs typeface="Calibri" pitchFamily="34" charset="-120"/>
              </a:rPr>
              <a:t>Modeling</a:t>
            </a:r>
            <a:endParaRPr lang="en-US" sz="1450" dirty="0"/>
          </a:p>
        </p:txBody>
      </p:sp>
      <p:sp>
        <p:nvSpPr>
          <p:cNvPr id="14" name="Shape 10"/>
          <p:cNvSpPr/>
          <p:nvPr/>
        </p:nvSpPr>
        <p:spPr>
          <a:xfrm>
            <a:off x="7440016" y="4297680"/>
            <a:ext cx="603504" cy="91440"/>
          </a:xfrm>
          <a:prstGeom prst="rightArrow">
            <a:avLst/>
          </a:prstGeom>
          <a:solidFill>
            <a:srgbClr val="D9A441"/>
          </a:solidFill>
          <a:ln/>
        </p:spPr>
      </p:sp>
      <p:sp>
        <p:nvSpPr>
          <p:cNvPr id="15" name="Shape 11"/>
          <p:cNvSpPr/>
          <p:nvPr/>
        </p:nvSpPr>
        <p:spPr>
          <a:xfrm>
            <a:off x="9021928" y="3977640"/>
            <a:ext cx="731520" cy="731520"/>
          </a:xfrm>
          <a:prstGeom prst="ellipse">
            <a:avLst/>
          </a:prstGeom>
          <a:solidFill>
            <a:srgbClr val="1F7A3D"/>
          </a:solidFill>
          <a:ln/>
        </p:spPr>
      </p:sp>
      <p:pic>
        <p:nvPicPr>
          <p:cNvPr id="16" name="Image 2" descr="/home/claude/hydromet_ppt/icons/sync.png">    </p:cNvPr>
          <p:cNvPicPr>
            <a:picLocks noChangeAspect="1"/>
          </p:cNvPicPr>
          <p:nvPr/>
        </p:nvPicPr>
        <p:blipFill>
          <a:blip r:embed="rId3"/>
          <a:stretch>
            <a:fillRect/>
          </a:stretch>
        </p:blipFill>
        <p:spPr>
          <a:xfrm>
            <a:off x="9204808" y="4160520"/>
            <a:ext cx="365760" cy="365760"/>
          </a:xfrm>
          <a:prstGeom prst="rect">
            <a:avLst/>
          </a:prstGeom>
        </p:spPr>
      </p:pic>
      <p:sp>
        <p:nvSpPr>
          <p:cNvPr id="17" name="Text 12"/>
          <p:cNvSpPr txBox="1"/>
          <p:nvPr/>
        </p:nvSpPr>
        <p:spPr>
          <a:xfrm>
            <a:off x="8153248" y="4846320"/>
            <a:ext cx="2468880" cy="292608"/>
          </a:xfrm>
          <a:prstGeom prst="rect">
            <a:avLst/>
          </a:prstGeom>
          <a:noFill/>
          <a:ln/>
        </p:spPr>
        <p:txBody>
          <a:bodyPr wrap="square" lIns="0" tIns="0" rIns="0" bIns="0" rtlCol="0" anchor="ctr"/>
          <a:lstStyle/>
          <a:p>
            <a:pPr algn="ctr" indent="0" marL="0">
              <a:buNone/>
            </a:pPr>
            <a:r>
              <a:rPr lang="en-US" sz="1300" b="1" spc="150" kern="0" dirty="0">
                <a:solidFill>
                  <a:srgbClr val="D9A441"/>
                </a:solidFill>
                <a:latin typeface="Calibri" pitchFamily="34" charset="0"/>
                <a:ea typeface="Calibri" pitchFamily="34" charset="-122"/>
                <a:cs typeface="Calibri" pitchFamily="34" charset="-120"/>
              </a:rPr>
              <a:t>WEEK 3</a:t>
            </a:r>
            <a:endParaRPr lang="en-US" sz="1300" dirty="0"/>
          </a:p>
        </p:txBody>
      </p:sp>
      <p:sp>
        <p:nvSpPr>
          <p:cNvPr id="18" name="Text 13"/>
          <p:cNvSpPr txBox="1"/>
          <p:nvPr/>
        </p:nvSpPr>
        <p:spPr>
          <a:xfrm>
            <a:off x="8153248" y="5148072"/>
            <a:ext cx="2468880" cy="548640"/>
          </a:xfrm>
          <a:prstGeom prst="rect">
            <a:avLst/>
          </a:prstGeom>
          <a:noFill/>
          <a:ln/>
        </p:spPr>
        <p:txBody>
          <a:bodyPr wrap="square" lIns="0" tIns="0" rIns="0" bIns="0" rtlCol="0" anchor="ctr"/>
          <a:lstStyle/>
          <a:p>
            <a:pPr algn="ctr" indent="0" marL="0">
              <a:lnSpc>
                <a:spcPct val="105000"/>
              </a:lnSpc>
              <a:buNone/>
            </a:pPr>
            <a:r>
              <a:rPr lang="en-US" sz="1450" dirty="0">
                <a:solidFill>
                  <a:srgbClr val="FFFFFF"/>
                </a:solidFill>
                <a:latin typeface="Calibri" pitchFamily="34" charset="0"/>
                <a:ea typeface="Calibri" pitchFamily="34" charset="-122"/>
                <a:cs typeface="Calibri" pitchFamily="34" charset="-120"/>
              </a:rPr>
              <a:t>Idempotent</a:t>
            </a:r>
            <a:endParaRPr lang="en-US" sz="1450" dirty="0"/>
          </a:p>
          <a:p>
            <a:pPr algn="ctr" indent="0" marL="0">
              <a:lnSpc>
                <a:spcPct val="105000"/>
              </a:lnSpc>
              <a:buNone/>
            </a:pPr>
            <a:r>
              <a:rPr lang="en-US" sz="1450" dirty="0">
                <a:solidFill>
                  <a:srgbClr val="FFFFFF"/>
                </a:solidFill>
                <a:latin typeface="Calibri" pitchFamily="34" charset="0"/>
                <a:ea typeface="Calibri" pitchFamily="34" charset="-122"/>
                <a:cs typeface="Calibri" pitchFamily="34" charset="-120"/>
              </a:rPr>
              <a:t>Ingestion</a:t>
            </a:r>
            <a:endParaRPr lang="en-US" sz="1450" dirty="0"/>
          </a:p>
        </p:txBody>
      </p:sp>
      <p:sp>
        <p:nvSpPr>
          <p:cNvPr id="19" name="Text 14"/>
          <p:cNvSpPr txBox="1"/>
          <p:nvPr/>
        </p:nvSpPr>
        <p:spPr>
          <a:xfrm>
            <a:off x="0" y="6080760"/>
            <a:ext cx="12191695" cy="365760"/>
          </a:xfrm>
          <a:prstGeom prst="rect">
            <a:avLst/>
          </a:prstGeom>
          <a:noFill/>
          <a:ln/>
        </p:spPr>
        <p:txBody>
          <a:bodyPr wrap="square" lIns="0" tIns="0" rIns="0" bIns="0" rtlCol="0" anchor="ctr"/>
          <a:lstStyle/>
          <a:p>
            <a:pPr algn="ctr" indent="0" marL="0">
              <a:buNone/>
            </a:pPr>
            <a:r>
              <a:rPr lang="en-US" sz="1250" dirty="0">
                <a:solidFill>
                  <a:srgbClr val="D9F0DC"/>
                </a:solidFill>
                <a:latin typeface="Calibri" pitchFamily="34" charset="0"/>
                <a:ea typeface="Calibri" pitchFamily="34" charset="-122"/>
                <a:cs typeface="Calibri" pitchFamily="34" charset="-120"/>
              </a:rPr>
              <a:t>Daniel Noah Laizer (Laizer DN)   ·   MSc Data Science &amp; Artificial Intelligence   ·   NM-AIST  ·   Reg. MT074/T25</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PROJECT MOTIVATION</a:t>
            </a:r>
            <a:endParaRPr lang="en-US" sz="1300" dirty="0"/>
          </a:p>
        </p:txBody>
      </p:sp>
      <p:sp>
        <p:nvSpPr>
          <p:cNvPr id="3" name="Text 1"/>
          <p:cNvSpPr txBox="1"/>
          <p:nvPr/>
        </p:nvSpPr>
        <p:spPr>
          <a:xfrm>
            <a:off x="548640" y="566928"/>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Why This Project Matters</a:t>
            </a:r>
            <a:endParaRPr lang="en-US" sz="3200" dirty="0"/>
          </a:p>
        </p:txBody>
      </p:sp>
      <p:sp>
        <p:nvSpPr>
          <p:cNvPr id="4" name="Shape 2"/>
          <p:cNvSpPr/>
          <p:nvPr/>
        </p:nvSpPr>
        <p:spPr>
          <a:xfrm>
            <a:off x="548640" y="1691640"/>
            <a:ext cx="566928" cy="566928"/>
          </a:xfrm>
          <a:prstGeom prst="ellipse">
            <a:avLst/>
          </a:prstGeom>
          <a:solidFill>
            <a:srgbClr val="1F7A3D"/>
          </a:solidFill>
          <a:ln/>
        </p:spPr>
      </p:sp>
      <p:pic>
        <p:nvPicPr>
          <p:cNvPr id="5" name="Image 0" descr="/home/claude/hydromet_ppt/icons/cloudrain.png">    </p:cNvPr>
          <p:cNvPicPr>
            <a:picLocks noChangeAspect="1"/>
          </p:cNvPicPr>
          <p:nvPr/>
        </p:nvPicPr>
        <p:blipFill>
          <a:blip r:embed="rId1"/>
          <a:stretch>
            <a:fillRect/>
          </a:stretch>
        </p:blipFill>
        <p:spPr>
          <a:xfrm>
            <a:off x="690372" y="1833372"/>
            <a:ext cx="283464" cy="283464"/>
          </a:xfrm>
          <a:prstGeom prst="rect">
            <a:avLst/>
          </a:prstGeom>
        </p:spPr>
      </p:pic>
      <p:sp>
        <p:nvSpPr>
          <p:cNvPr id="6" name="Text 3"/>
          <p:cNvSpPr txBox="1"/>
          <p:nvPr/>
        </p:nvSpPr>
        <p:spPr>
          <a:xfrm>
            <a:off x="1325880" y="1691640"/>
            <a:ext cx="5349240" cy="566928"/>
          </a:xfrm>
          <a:prstGeom prst="rect">
            <a:avLst/>
          </a:prstGeom>
          <a:noFill/>
          <a:ln/>
        </p:spPr>
        <p:txBody>
          <a:bodyPr wrap="square" lIns="0" tIns="0" rIns="0" bIns="0" rtlCol="0" anchor="ctr"/>
          <a:lstStyle/>
          <a:p>
            <a:pPr indent="0" marL="0">
              <a:lnSpc>
                <a:spcPct val="105000"/>
              </a:lnSpc>
              <a:buNone/>
            </a:pPr>
            <a:r>
              <a:rPr lang="en-US" sz="1850" dirty="0">
                <a:solidFill>
                  <a:srgbClr val="17241C"/>
                </a:solidFill>
                <a:latin typeface="Calibri" pitchFamily="34" charset="0"/>
                <a:ea typeface="Calibri" pitchFamily="34" charset="-122"/>
                <a:cs typeface="Calibri" pitchFamily="34" charset="-120"/>
              </a:rPr>
              <a:t>Climate variability threatens Tanzanian agriculture and water resources</a:t>
            </a:r>
            <a:endParaRPr lang="en-US" sz="1850" dirty="0"/>
          </a:p>
        </p:txBody>
      </p:sp>
      <p:sp>
        <p:nvSpPr>
          <p:cNvPr id="7" name="Shape 4"/>
          <p:cNvSpPr/>
          <p:nvPr/>
        </p:nvSpPr>
        <p:spPr>
          <a:xfrm>
            <a:off x="548640" y="2587752"/>
            <a:ext cx="566928" cy="566928"/>
          </a:xfrm>
          <a:prstGeom prst="ellipse">
            <a:avLst/>
          </a:prstGeom>
          <a:solidFill>
            <a:srgbClr val="1F7A3D"/>
          </a:solidFill>
          <a:ln/>
        </p:spPr>
      </p:sp>
      <p:pic>
        <p:nvPicPr>
          <p:cNvPr id="8" name="Image 1" descr="/home/claude/hydromet_ppt/icons/database.png">    </p:cNvPr>
          <p:cNvPicPr>
            <a:picLocks noChangeAspect="1"/>
          </p:cNvPicPr>
          <p:nvPr/>
        </p:nvPicPr>
        <p:blipFill>
          <a:blip r:embed="rId2"/>
          <a:stretch>
            <a:fillRect/>
          </a:stretch>
        </p:blipFill>
        <p:spPr>
          <a:xfrm>
            <a:off x="690372" y="2729484"/>
            <a:ext cx="283464" cy="283464"/>
          </a:xfrm>
          <a:prstGeom prst="rect">
            <a:avLst/>
          </a:prstGeom>
        </p:spPr>
      </p:pic>
      <p:sp>
        <p:nvSpPr>
          <p:cNvPr id="9" name="Text 5"/>
          <p:cNvSpPr txBox="1"/>
          <p:nvPr/>
        </p:nvSpPr>
        <p:spPr>
          <a:xfrm>
            <a:off x="1325880" y="2587752"/>
            <a:ext cx="5349240" cy="566928"/>
          </a:xfrm>
          <a:prstGeom prst="rect">
            <a:avLst/>
          </a:prstGeom>
          <a:noFill/>
          <a:ln/>
        </p:spPr>
        <p:txBody>
          <a:bodyPr wrap="square" lIns="0" tIns="0" rIns="0" bIns="0" rtlCol="0" anchor="ctr"/>
          <a:lstStyle/>
          <a:p>
            <a:pPr indent="0" marL="0">
              <a:lnSpc>
                <a:spcPct val="105000"/>
              </a:lnSpc>
              <a:buNone/>
            </a:pPr>
            <a:r>
              <a:rPr lang="en-US" sz="1850" dirty="0">
                <a:solidFill>
                  <a:srgbClr val="17241C"/>
                </a:solidFill>
                <a:latin typeface="Calibri" pitchFamily="34" charset="0"/>
                <a:ea typeface="Calibri" pitchFamily="34" charset="-122"/>
                <a:cs typeface="Calibri" pitchFamily="34" charset="-120"/>
              </a:rPr>
              <a:t>Good decisions need reliable, analysis-ready climate data — not scattered raw files</a:t>
            </a:r>
            <a:endParaRPr lang="en-US" sz="1850" dirty="0"/>
          </a:p>
        </p:txBody>
      </p:sp>
      <p:sp>
        <p:nvSpPr>
          <p:cNvPr id="10" name="Shape 6"/>
          <p:cNvSpPr/>
          <p:nvPr/>
        </p:nvSpPr>
        <p:spPr>
          <a:xfrm>
            <a:off x="548640" y="3483864"/>
            <a:ext cx="566928" cy="566928"/>
          </a:xfrm>
          <a:prstGeom prst="ellipse">
            <a:avLst/>
          </a:prstGeom>
          <a:solidFill>
            <a:srgbClr val="1F7A3D"/>
          </a:solidFill>
          <a:ln/>
        </p:spPr>
      </p:sp>
      <p:pic>
        <p:nvPicPr>
          <p:cNvPr id="11" name="Image 2" descr="/home/claude/hydromet_ppt/icons/warning.png">    </p:cNvPr>
          <p:cNvPicPr>
            <a:picLocks noChangeAspect="1"/>
          </p:cNvPicPr>
          <p:nvPr/>
        </p:nvPicPr>
        <p:blipFill>
          <a:blip r:embed="rId3"/>
          <a:stretch>
            <a:fillRect/>
          </a:stretch>
        </p:blipFill>
        <p:spPr>
          <a:xfrm>
            <a:off x="690372" y="3625596"/>
            <a:ext cx="283464" cy="283464"/>
          </a:xfrm>
          <a:prstGeom prst="rect">
            <a:avLst/>
          </a:prstGeom>
        </p:spPr>
      </p:pic>
      <p:sp>
        <p:nvSpPr>
          <p:cNvPr id="12" name="Text 7"/>
          <p:cNvSpPr txBox="1"/>
          <p:nvPr/>
        </p:nvSpPr>
        <p:spPr>
          <a:xfrm>
            <a:off x="1325880" y="3483864"/>
            <a:ext cx="5349240" cy="566928"/>
          </a:xfrm>
          <a:prstGeom prst="rect">
            <a:avLst/>
          </a:prstGeom>
          <a:noFill/>
          <a:ln/>
        </p:spPr>
        <p:txBody>
          <a:bodyPr wrap="square" lIns="0" tIns="0" rIns="0" bIns="0" rtlCol="0" anchor="ctr"/>
          <a:lstStyle/>
          <a:p>
            <a:pPr indent="0" marL="0">
              <a:lnSpc>
                <a:spcPct val="105000"/>
              </a:lnSpc>
              <a:buNone/>
            </a:pPr>
            <a:r>
              <a:rPr lang="en-US" sz="1850" dirty="0">
                <a:solidFill>
                  <a:srgbClr val="17241C"/>
                </a:solidFill>
                <a:latin typeface="Calibri" pitchFamily="34" charset="0"/>
                <a:ea typeface="Calibri" pitchFamily="34" charset="-122"/>
                <a:cs typeface="Calibri" pitchFamily="34" charset="-120"/>
              </a:rPr>
              <a:t>Hydrometeorological data is fragmented and inconsistent across sources</a:t>
            </a:r>
            <a:endParaRPr lang="en-US" sz="1850" dirty="0"/>
          </a:p>
        </p:txBody>
      </p:sp>
      <p:sp>
        <p:nvSpPr>
          <p:cNvPr id="13" name="Shape 8"/>
          <p:cNvSpPr/>
          <p:nvPr/>
        </p:nvSpPr>
        <p:spPr>
          <a:xfrm>
            <a:off x="548640" y="4379976"/>
            <a:ext cx="566928" cy="566928"/>
          </a:xfrm>
          <a:prstGeom prst="ellipse">
            <a:avLst/>
          </a:prstGeom>
          <a:solidFill>
            <a:srgbClr val="1F7A3D"/>
          </a:solidFill>
          <a:ln/>
        </p:spPr>
      </p:sp>
      <p:pic>
        <p:nvPicPr>
          <p:cNvPr id="14" name="Image 3" descr="/home/claude/hydromet_ppt/icons/sitemap.png">    </p:cNvPr>
          <p:cNvPicPr>
            <a:picLocks noChangeAspect="1"/>
          </p:cNvPicPr>
          <p:nvPr/>
        </p:nvPicPr>
        <p:blipFill>
          <a:blip r:embed="rId4"/>
          <a:stretch>
            <a:fillRect/>
          </a:stretch>
        </p:blipFill>
        <p:spPr>
          <a:xfrm>
            <a:off x="690372" y="4521708"/>
            <a:ext cx="283464" cy="283464"/>
          </a:xfrm>
          <a:prstGeom prst="rect">
            <a:avLst/>
          </a:prstGeom>
        </p:spPr>
      </p:pic>
      <p:sp>
        <p:nvSpPr>
          <p:cNvPr id="15" name="Text 9"/>
          <p:cNvSpPr txBox="1"/>
          <p:nvPr/>
        </p:nvSpPr>
        <p:spPr>
          <a:xfrm>
            <a:off x="1325880" y="4379976"/>
            <a:ext cx="5349240" cy="566928"/>
          </a:xfrm>
          <a:prstGeom prst="rect">
            <a:avLst/>
          </a:prstGeom>
          <a:noFill/>
          <a:ln/>
        </p:spPr>
        <p:txBody>
          <a:bodyPr wrap="square" lIns="0" tIns="0" rIns="0" bIns="0" rtlCol="0" anchor="ctr"/>
          <a:lstStyle/>
          <a:p>
            <a:pPr indent="0" marL="0">
              <a:lnSpc>
                <a:spcPct val="105000"/>
              </a:lnSpc>
              <a:buNone/>
            </a:pPr>
            <a:r>
              <a:rPr lang="en-US" sz="1850" dirty="0">
                <a:solidFill>
                  <a:srgbClr val="17241C"/>
                </a:solidFill>
                <a:latin typeface="Calibri" pitchFamily="34" charset="0"/>
                <a:ea typeface="Calibri" pitchFamily="34" charset="-122"/>
                <a:cs typeface="Calibri" pitchFamily="34" charset="-120"/>
              </a:rPr>
              <a:t>Engineering discipline — not just analysis — is the missing layer</a:t>
            </a:r>
            <a:endParaRPr lang="en-US" sz="1850" dirty="0"/>
          </a:p>
        </p:txBody>
      </p:sp>
      <p:sp>
        <p:nvSpPr>
          <p:cNvPr id="16" name="Shape 10"/>
          <p:cNvSpPr/>
          <p:nvPr/>
        </p:nvSpPr>
        <p:spPr>
          <a:xfrm>
            <a:off x="7178040" y="1554480"/>
            <a:ext cx="4480560" cy="4617720"/>
          </a:xfrm>
          <a:prstGeom prst="roundRect">
            <a:avLst>
              <a:gd name="adj" fmla="val 2857"/>
            </a:avLst>
          </a:prstGeom>
          <a:solidFill>
            <a:srgbClr val="EAF6EC"/>
          </a:solidFill>
          <a:ln w="12700">
            <a:solidFill>
              <a:srgbClr val="CFE8D2"/>
            </a:solidFill>
            <a:prstDash val="solid"/>
          </a:ln>
        </p:spPr>
      </p:sp>
      <p:sp>
        <p:nvSpPr>
          <p:cNvPr id="17" name="Text 11"/>
          <p:cNvSpPr txBox="1"/>
          <p:nvPr/>
        </p:nvSpPr>
        <p:spPr>
          <a:xfrm>
            <a:off x="7452360" y="1783080"/>
            <a:ext cx="3931920" cy="365760"/>
          </a:xfrm>
          <a:prstGeom prst="rect">
            <a:avLst/>
          </a:prstGeom>
          <a:noFill/>
          <a:ln/>
        </p:spPr>
        <p:txBody>
          <a:bodyPr wrap="square" lIns="0" tIns="0" rIns="0" bIns="0" rtlCol="0" anchor="ctr"/>
          <a:lstStyle/>
          <a:p>
            <a:pPr indent="0" marL="0">
              <a:buNone/>
            </a:pPr>
            <a:r>
              <a:rPr lang="en-US" sz="1500" b="1" spc="120" kern="0" dirty="0">
                <a:solidFill>
                  <a:srgbClr val="175C2E"/>
                </a:solidFill>
                <a:latin typeface="Calibri" pitchFamily="34" charset="0"/>
                <a:ea typeface="Calibri" pitchFamily="34" charset="-122"/>
                <a:cs typeface="Calibri" pitchFamily="34" charset="-120"/>
              </a:rPr>
              <a:t>WHO NEEDS THIS DATA</a:t>
            </a:r>
            <a:endParaRPr lang="en-US" sz="1500" dirty="0"/>
          </a:p>
        </p:txBody>
      </p:sp>
      <p:sp>
        <p:nvSpPr>
          <p:cNvPr id="18" name="Shape 12"/>
          <p:cNvSpPr/>
          <p:nvPr/>
        </p:nvSpPr>
        <p:spPr>
          <a:xfrm>
            <a:off x="7452360" y="2331720"/>
            <a:ext cx="457200" cy="457200"/>
          </a:xfrm>
          <a:prstGeom prst="ellipse">
            <a:avLst/>
          </a:prstGeom>
          <a:solidFill>
            <a:srgbClr val="3FA34D"/>
          </a:solidFill>
          <a:ln/>
        </p:spPr>
      </p:sp>
      <p:pic>
        <p:nvPicPr>
          <p:cNvPr id="19" name="Image 4" descr="/home/claude/hydromet_ppt/icons/search.png">    </p:cNvPr>
          <p:cNvPicPr>
            <a:picLocks noChangeAspect="1"/>
          </p:cNvPicPr>
          <p:nvPr/>
        </p:nvPicPr>
        <p:blipFill>
          <a:blip r:embed="rId5"/>
          <a:stretch>
            <a:fillRect/>
          </a:stretch>
        </p:blipFill>
        <p:spPr>
          <a:xfrm>
            <a:off x="7566660" y="2446020"/>
            <a:ext cx="228600" cy="228600"/>
          </a:xfrm>
          <a:prstGeom prst="rect">
            <a:avLst/>
          </a:prstGeom>
        </p:spPr>
      </p:pic>
      <p:sp>
        <p:nvSpPr>
          <p:cNvPr id="20" name="Text 13"/>
          <p:cNvSpPr txBox="1"/>
          <p:nvPr/>
        </p:nvSpPr>
        <p:spPr>
          <a:xfrm>
            <a:off x="8019288" y="2313432"/>
            <a:ext cx="1417320" cy="502920"/>
          </a:xfrm>
          <a:prstGeom prst="rect">
            <a:avLst/>
          </a:prstGeom>
          <a:noFill/>
          <a:ln/>
        </p:spPr>
        <p:txBody>
          <a:bodyPr wrap="square" lIns="0" tIns="0" rIns="0" bIns="0" rtlCol="0" anchor="ctr"/>
          <a:lstStyle/>
          <a:p>
            <a:pPr indent="0" marL="0">
              <a:lnSpc>
                <a:spcPct val="100000"/>
              </a:lnSpc>
              <a:buNone/>
            </a:pPr>
            <a:r>
              <a:rPr lang="en-US" sz="1350" dirty="0">
                <a:solidFill>
                  <a:srgbClr val="17241C"/>
                </a:solidFill>
                <a:latin typeface="Calibri" pitchFamily="34" charset="0"/>
                <a:ea typeface="Calibri" pitchFamily="34" charset="-122"/>
                <a:cs typeface="Calibri" pitchFamily="34" charset="-120"/>
              </a:rPr>
              <a:t>Climate researchers</a:t>
            </a:r>
            <a:endParaRPr lang="en-US" sz="1350" dirty="0"/>
          </a:p>
        </p:txBody>
      </p:sp>
      <p:sp>
        <p:nvSpPr>
          <p:cNvPr id="21" name="Shape 14"/>
          <p:cNvSpPr/>
          <p:nvPr/>
        </p:nvSpPr>
        <p:spPr>
          <a:xfrm>
            <a:off x="9509760" y="2331720"/>
            <a:ext cx="457200" cy="457200"/>
          </a:xfrm>
          <a:prstGeom prst="ellipse">
            <a:avLst/>
          </a:prstGeom>
          <a:solidFill>
            <a:srgbClr val="3FA34D"/>
          </a:solidFill>
          <a:ln/>
        </p:spPr>
      </p:sp>
      <p:pic>
        <p:nvPicPr>
          <p:cNvPr id="22" name="Image 5" descr="/home/claude/hydromet_ppt/icons/cloudrain.png">    </p:cNvPr>
          <p:cNvPicPr>
            <a:picLocks noChangeAspect="1"/>
          </p:cNvPicPr>
          <p:nvPr/>
        </p:nvPicPr>
        <p:blipFill>
          <a:blip r:embed="rId6"/>
          <a:stretch>
            <a:fillRect/>
          </a:stretch>
        </p:blipFill>
        <p:spPr>
          <a:xfrm>
            <a:off x="9624060" y="2446020"/>
            <a:ext cx="228600" cy="228600"/>
          </a:xfrm>
          <a:prstGeom prst="rect">
            <a:avLst/>
          </a:prstGeom>
        </p:spPr>
      </p:pic>
      <p:sp>
        <p:nvSpPr>
          <p:cNvPr id="23" name="Text 15"/>
          <p:cNvSpPr txBox="1"/>
          <p:nvPr/>
        </p:nvSpPr>
        <p:spPr>
          <a:xfrm>
            <a:off x="10076688" y="2313432"/>
            <a:ext cx="1417320" cy="502920"/>
          </a:xfrm>
          <a:prstGeom prst="rect">
            <a:avLst/>
          </a:prstGeom>
          <a:noFill/>
          <a:ln/>
        </p:spPr>
        <p:txBody>
          <a:bodyPr wrap="square" lIns="0" tIns="0" rIns="0" bIns="0" rtlCol="0" anchor="ctr"/>
          <a:lstStyle/>
          <a:p>
            <a:pPr indent="0" marL="0">
              <a:lnSpc>
                <a:spcPct val="100000"/>
              </a:lnSpc>
              <a:buNone/>
            </a:pPr>
            <a:r>
              <a:rPr lang="en-US" sz="1350" dirty="0">
                <a:solidFill>
                  <a:srgbClr val="17241C"/>
                </a:solidFill>
                <a:latin typeface="Calibri" pitchFamily="34" charset="0"/>
                <a:ea typeface="Calibri" pitchFamily="34" charset="-122"/>
                <a:cs typeface="Calibri" pitchFamily="34" charset="-120"/>
              </a:rPr>
              <a:t>Agricultural analysts</a:t>
            </a:r>
            <a:endParaRPr lang="en-US" sz="1350" dirty="0"/>
          </a:p>
        </p:txBody>
      </p:sp>
      <p:sp>
        <p:nvSpPr>
          <p:cNvPr id="24" name="Shape 16"/>
          <p:cNvSpPr/>
          <p:nvPr/>
        </p:nvSpPr>
        <p:spPr>
          <a:xfrm>
            <a:off x="7452360" y="3108960"/>
            <a:ext cx="457200" cy="457200"/>
          </a:xfrm>
          <a:prstGeom prst="ellipse">
            <a:avLst/>
          </a:prstGeom>
          <a:solidFill>
            <a:srgbClr val="3FA34D"/>
          </a:solidFill>
          <a:ln/>
        </p:spPr>
      </p:sp>
      <p:pic>
        <p:nvPicPr>
          <p:cNvPr id="25" name="Image 6" descr="/home/claude/hydromet_ppt/icons/shield.png">    </p:cNvPr>
          <p:cNvPicPr>
            <a:picLocks noChangeAspect="1"/>
          </p:cNvPicPr>
          <p:nvPr/>
        </p:nvPicPr>
        <p:blipFill>
          <a:blip r:embed="rId7"/>
          <a:stretch>
            <a:fillRect/>
          </a:stretch>
        </p:blipFill>
        <p:spPr>
          <a:xfrm>
            <a:off x="7566660" y="3223260"/>
            <a:ext cx="228600" cy="228600"/>
          </a:xfrm>
          <a:prstGeom prst="rect">
            <a:avLst/>
          </a:prstGeom>
        </p:spPr>
      </p:pic>
      <p:sp>
        <p:nvSpPr>
          <p:cNvPr id="26" name="Text 17"/>
          <p:cNvSpPr txBox="1"/>
          <p:nvPr/>
        </p:nvSpPr>
        <p:spPr>
          <a:xfrm>
            <a:off x="8019288" y="3090672"/>
            <a:ext cx="1417320" cy="502920"/>
          </a:xfrm>
          <a:prstGeom prst="rect">
            <a:avLst/>
          </a:prstGeom>
          <a:noFill/>
          <a:ln/>
        </p:spPr>
        <p:txBody>
          <a:bodyPr wrap="square" lIns="0" tIns="0" rIns="0" bIns="0" rtlCol="0" anchor="ctr"/>
          <a:lstStyle/>
          <a:p>
            <a:pPr indent="0" marL="0">
              <a:lnSpc>
                <a:spcPct val="100000"/>
              </a:lnSpc>
              <a:buNone/>
            </a:pPr>
            <a:r>
              <a:rPr lang="en-US" sz="1350" dirty="0">
                <a:solidFill>
                  <a:srgbClr val="17241C"/>
                </a:solidFill>
                <a:latin typeface="Calibri" pitchFamily="34" charset="0"/>
                <a:ea typeface="Calibri" pitchFamily="34" charset="-122"/>
                <a:cs typeface="Calibri" pitchFamily="34" charset="-120"/>
              </a:rPr>
              <a:t>Government agencies</a:t>
            </a:r>
            <a:endParaRPr lang="en-US" sz="1350" dirty="0"/>
          </a:p>
        </p:txBody>
      </p:sp>
      <p:sp>
        <p:nvSpPr>
          <p:cNvPr id="27" name="Shape 18"/>
          <p:cNvSpPr/>
          <p:nvPr/>
        </p:nvSpPr>
        <p:spPr>
          <a:xfrm>
            <a:off x="9509760" y="3108960"/>
            <a:ext cx="457200" cy="457200"/>
          </a:xfrm>
          <a:prstGeom prst="ellipse">
            <a:avLst/>
          </a:prstGeom>
          <a:solidFill>
            <a:srgbClr val="3FA34D"/>
          </a:solidFill>
          <a:ln/>
        </p:spPr>
      </p:sp>
      <p:pic>
        <p:nvPicPr>
          <p:cNvPr id="28" name="Image 7" descr="/home/claude/hydromet_ppt/icons/marker.png">    </p:cNvPr>
          <p:cNvPicPr>
            <a:picLocks noChangeAspect="1"/>
          </p:cNvPicPr>
          <p:nvPr/>
        </p:nvPicPr>
        <p:blipFill>
          <a:blip r:embed="rId8"/>
          <a:stretch>
            <a:fillRect/>
          </a:stretch>
        </p:blipFill>
        <p:spPr>
          <a:xfrm>
            <a:off x="9624060" y="3223260"/>
            <a:ext cx="228600" cy="228600"/>
          </a:xfrm>
          <a:prstGeom prst="rect">
            <a:avLst/>
          </a:prstGeom>
        </p:spPr>
      </p:pic>
      <p:sp>
        <p:nvSpPr>
          <p:cNvPr id="29" name="Text 19"/>
          <p:cNvSpPr txBox="1"/>
          <p:nvPr/>
        </p:nvSpPr>
        <p:spPr>
          <a:xfrm>
            <a:off x="10076688" y="3090672"/>
            <a:ext cx="1417320" cy="502920"/>
          </a:xfrm>
          <a:prstGeom prst="rect">
            <a:avLst/>
          </a:prstGeom>
          <a:noFill/>
          <a:ln/>
        </p:spPr>
        <p:txBody>
          <a:bodyPr wrap="square" lIns="0" tIns="0" rIns="0" bIns="0" rtlCol="0" anchor="ctr"/>
          <a:lstStyle/>
          <a:p>
            <a:pPr indent="0" marL="0">
              <a:lnSpc>
                <a:spcPct val="100000"/>
              </a:lnSpc>
              <a:buNone/>
            </a:pPr>
            <a:r>
              <a:rPr lang="en-US" sz="1350" dirty="0">
                <a:solidFill>
                  <a:srgbClr val="17241C"/>
                </a:solidFill>
                <a:latin typeface="Calibri" pitchFamily="34" charset="0"/>
                <a:ea typeface="Calibri" pitchFamily="34" charset="-122"/>
                <a:cs typeface="Calibri" pitchFamily="34" charset="-120"/>
              </a:rPr>
              <a:t>Water-resource analysts</a:t>
            </a:r>
            <a:endParaRPr lang="en-US" sz="1350" dirty="0"/>
          </a:p>
        </p:txBody>
      </p:sp>
      <p:sp>
        <p:nvSpPr>
          <p:cNvPr id="30" name="Shape 20"/>
          <p:cNvSpPr/>
          <p:nvPr/>
        </p:nvSpPr>
        <p:spPr>
          <a:xfrm>
            <a:off x="7452360" y="3886200"/>
            <a:ext cx="457200" cy="457200"/>
          </a:xfrm>
          <a:prstGeom prst="ellipse">
            <a:avLst/>
          </a:prstGeom>
          <a:solidFill>
            <a:srgbClr val="3FA34D"/>
          </a:solidFill>
          <a:ln/>
        </p:spPr>
      </p:sp>
      <p:pic>
        <p:nvPicPr>
          <p:cNvPr id="31" name="Image 8" descr="/home/claude/hydromet_ppt/icons/warning.png">    </p:cNvPr>
          <p:cNvPicPr>
            <a:picLocks noChangeAspect="1"/>
          </p:cNvPicPr>
          <p:nvPr/>
        </p:nvPicPr>
        <p:blipFill>
          <a:blip r:embed="rId9"/>
          <a:stretch>
            <a:fillRect/>
          </a:stretch>
        </p:blipFill>
        <p:spPr>
          <a:xfrm>
            <a:off x="7566660" y="4000500"/>
            <a:ext cx="228600" cy="228600"/>
          </a:xfrm>
          <a:prstGeom prst="rect">
            <a:avLst/>
          </a:prstGeom>
        </p:spPr>
      </p:pic>
      <p:sp>
        <p:nvSpPr>
          <p:cNvPr id="32" name="Text 21"/>
          <p:cNvSpPr txBox="1"/>
          <p:nvPr/>
        </p:nvSpPr>
        <p:spPr>
          <a:xfrm>
            <a:off x="8019288" y="3867912"/>
            <a:ext cx="1417320" cy="502920"/>
          </a:xfrm>
          <a:prstGeom prst="rect">
            <a:avLst/>
          </a:prstGeom>
          <a:noFill/>
          <a:ln/>
        </p:spPr>
        <p:txBody>
          <a:bodyPr wrap="square" lIns="0" tIns="0" rIns="0" bIns="0" rtlCol="0" anchor="ctr"/>
          <a:lstStyle/>
          <a:p>
            <a:pPr indent="0" marL="0">
              <a:lnSpc>
                <a:spcPct val="100000"/>
              </a:lnSpc>
              <a:buNone/>
            </a:pPr>
            <a:r>
              <a:rPr lang="en-US" sz="1350" dirty="0">
                <a:solidFill>
                  <a:srgbClr val="17241C"/>
                </a:solidFill>
                <a:latin typeface="Calibri" pitchFamily="34" charset="0"/>
                <a:ea typeface="Calibri" pitchFamily="34" charset="-122"/>
                <a:cs typeface="Calibri" pitchFamily="34" charset="-120"/>
              </a:rPr>
              <a:t>Disaster-risk analysts</a:t>
            </a:r>
            <a:endParaRPr lang="en-US" sz="1350" dirty="0"/>
          </a:p>
        </p:txBody>
      </p:sp>
      <p:sp>
        <p:nvSpPr>
          <p:cNvPr id="33" name="Shape 22"/>
          <p:cNvSpPr/>
          <p:nvPr/>
        </p:nvSpPr>
        <p:spPr>
          <a:xfrm>
            <a:off x="9509760" y="3886200"/>
            <a:ext cx="457200" cy="457200"/>
          </a:xfrm>
          <a:prstGeom prst="ellipse">
            <a:avLst/>
          </a:prstGeom>
          <a:solidFill>
            <a:srgbClr val="3FA34D"/>
          </a:solidFill>
          <a:ln/>
        </p:spPr>
      </p:sp>
      <p:pic>
        <p:nvPicPr>
          <p:cNvPr id="34" name="Image 9" descr="/home/claude/hydromet_ppt/icons/diagram.png">    </p:cNvPr>
          <p:cNvPicPr>
            <a:picLocks noChangeAspect="1"/>
          </p:cNvPicPr>
          <p:nvPr/>
        </p:nvPicPr>
        <p:blipFill>
          <a:blip r:embed="rId10"/>
          <a:stretch>
            <a:fillRect/>
          </a:stretch>
        </p:blipFill>
        <p:spPr>
          <a:xfrm>
            <a:off x="9624060" y="4000500"/>
            <a:ext cx="228600" cy="228600"/>
          </a:xfrm>
          <a:prstGeom prst="rect">
            <a:avLst/>
          </a:prstGeom>
        </p:spPr>
      </p:pic>
      <p:sp>
        <p:nvSpPr>
          <p:cNvPr id="35" name="Text 23"/>
          <p:cNvSpPr txBox="1"/>
          <p:nvPr/>
        </p:nvSpPr>
        <p:spPr>
          <a:xfrm>
            <a:off x="10076688" y="3867912"/>
            <a:ext cx="1417320" cy="502920"/>
          </a:xfrm>
          <a:prstGeom prst="rect">
            <a:avLst/>
          </a:prstGeom>
          <a:noFill/>
          <a:ln/>
        </p:spPr>
        <p:txBody>
          <a:bodyPr wrap="square" lIns="0" tIns="0" rIns="0" bIns="0" rtlCol="0" anchor="ctr"/>
          <a:lstStyle/>
          <a:p>
            <a:pPr indent="0" marL="0">
              <a:lnSpc>
                <a:spcPct val="100000"/>
              </a:lnSpc>
              <a:buNone/>
            </a:pPr>
            <a:r>
              <a:rPr lang="en-US" sz="1350" dirty="0">
                <a:solidFill>
                  <a:srgbClr val="17241C"/>
                </a:solidFill>
                <a:latin typeface="Calibri" pitchFamily="34" charset="0"/>
                <a:ea typeface="Calibri" pitchFamily="34" charset="-122"/>
                <a:cs typeface="Calibri" pitchFamily="34" charset="-120"/>
              </a:rPr>
              <a:t>ML researchers</a:t>
            </a:r>
            <a:endParaRPr lang="en-US" sz="1350" dirty="0"/>
          </a:p>
        </p:txBody>
      </p:sp>
      <p:sp>
        <p:nvSpPr>
          <p:cNvPr id="36" name="Text 24"/>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2 / 23</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PROJECT OBJECTIVE</a:t>
            </a:r>
            <a:endParaRPr lang="en-US" sz="1300" dirty="0"/>
          </a:p>
        </p:txBody>
      </p:sp>
      <p:sp>
        <p:nvSpPr>
          <p:cNvPr id="3" name="Text 1"/>
          <p:cNvSpPr txBox="1"/>
          <p:nvPr/>
        </p:nvSpPr>
        <p:spPr>
          <a:xfrm>
            <a:off x="548640" y="566928"/>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What HydroMet-ETL Sets Out To Do</a:t>
            </a:r>
            <a:endParaRPr lang="en-US" sz="3200" dirty="0"/>
          </a:p>
        </p:txBody>
      </p:sp>
      <p:sp>
        <p:nvSpPr>
          <p:cNvPr id="4" name="Shape 2"/>
          <p:cNvSpPr/>
          <p:nvPr/>
        </p:nvSpPr>
        <p:spPr>
          <a:xfrm>
            <a:off x="1005840" y="1828800"/>
            <a:ext cx="10180015" cy="1965960"/>
          </a:xfrm>
          <a:prstGeom prst="roundRect">
            <a:avLst>
              <a:gd name="adj" fmla="val 7442"/>
            </a:avLst>
          </a:prstGeom>
          <a:solidFill>
            <a:srgbClr val="EAF6EC"/>
          </a:solidFill>
          <a:ln w="19050">
            <a:solidFill>
              <a:srgbClr val="D9A441"/>
            </a:solidFill>
            <a:prstDash val="solid"/>
          </a:ln>
        </p:spPr>
      </p:sp>
      <p:sp>
        <p:nvSpPr>
          <p:cNvPr id="5" name="Text 3"/>
          <p:cNvSpPr txBox="1"/>
          <p:nvPr/>
        </p:nvSpPr>
        <p:spPr>
          <a:xfrm>
            <a:off x="1371600" y="2011680"/>
            <a:ext cx="9448495" cy="1600200"/>
          </a:xfrm>
          <a:prstGeom prst="rect">
            <a:avLst/>
          </a:prstGeom>
          <a:noFill/>
          <a:ln/>
        </p:spPr>
        <p:txBody>
          <a:bodyPr wrap="square" lIns="0" tIns="0" rIns="0" bIns="0" rtlCol="0" anchor="ctr"/>
          <a:lstStyle/>
          <a:p>
            <a:pPr algn="ctr" indent="0" marL="0">
              <a:lnSpc>
                <a:spcPct val="120000"/>
              </a:lnSpc>
              <a:buNone/>
            </a:pPr>
            <a:r>
              <a:rPr lang="en-US" sz="2400" i="1" dirty="0">
                <a:solidFill>
                  <a:srgbClr val="0F3320"/>
                </a:solidFill>
                <a:latin typeface="Cambria" pitchFamily="34" charset="0"/>
                <a:ea typeface="Cambria" pitchFamily="34" charset="-122"/>
                <a:cs typeface="Cambria" pitchFamily="34" charset="-120"/>
              </a:rPr>
              <a:t>Build a reproducible, scalable hydrometeorological data engineering pipeline that can ingest, validate, harmonize, store and transform — and eventually serve — climate and agricultural analytics data for Tanzania.</a:t>
            </a:r>
            <a:endParaRPr lang="en-US" sz="2400" dirty="0"/>
          </a:p>
        </p:txBody>
      </p:sp>
      <p:sp>
        <p:nvSpPr>
          <p:cNvPr id="6" name="Shape 4"/>
          <p:cNvSpPr/>
          <p:nvPr/>
        </p:nvSpPr>
        <p:spPr>
          <a:xfrm>
            <a:off x="1523848" y="4160520"/>
            <a:ext cx="502920" cy="502920"/>
          </a:xfrm>
          <a:prstGeom prst="ellipse">
            <a:avLst/>
          </a:prstGeom>
          <a:solidFill>
            <a:srgbClr val="1F7A3D"/>
          </a:solidFill>
          <a:ln/>
        </p:spPr>
      </p:sp>
      <p:pic>
        <p:nvPicPr>
          <p:cNvPr id="7" name="Image 0" descr="/home/claude/hydromet_ppt/icons/sync.png">    </p:cNvPr>
          <p:cNvPicPr>
            <a:picLocks noChangeAspect="1"/>
          </p:cNvPicPr>
          <p:nvPr/>
        </p:nvPicPr>
        <p:blipFill>
          <a:blip r:embed="rId1"/>
          <a:stretch>
            <a:fillRect/>
          </a:stretch>
        </p:blipFill>
        <p:spPr>
          <a:xfrm>
            <a:off x="1649578" y="4286250"/>
            <a:ext cx="251460" cy="251460"/>
          </a:xfrm>
          <a:prstGeom prst="rect">
            <a:avLst/>
          </a:prstGeom>
        </p:spPr>
      </p:pic>
      <p:sp>
        <p:nvSpPr>
          <p:cNvPr id="8" name="Text 5"/>
          <p:cNvSpPr txBox="1"/>
          <p:nvPr/>
        </p:nvSpPr>
        <p:spPr>
          <a:xfrm>
            <a:off x="2145640" y="4160520"/>
            <a:ext cx="2121408" cy="502920"/>
          </a:xfrm>
          <a:prstGeom prst="rect">
            <a:avLst/>
          </a:prstGeom>
          <a:noFill/>
          <a:ln/>
        </p:spPr>
        <p:txBody>
          <a:bodyPr wrap="square" lIns="0" tIns="0" rIns="0" bIns="0" rtlCol="0" anchor="ctr"/>
          <a:lstStyle/>
          <a:p>
            <a:pPr indent="0" marL="0">
              <a:buNone/>
            </a:pPr>
            <a:r>
              <a:rPr lang="en-US" sz="1700" b="1" dirty="0">
                <a:solidFill>
                  <a:srgbClr val="17241C"/>
                </a:solidFill>
                <a:latin typeface="Calibri" pitchFamily="34" charset="0"/>
                <a:ea typeface="Calibri" pitchFamily="34" charset="-122"/>
                <a:cs typeface="Calibri" pitchFamily="34" charset="-120"/>
              </a:rPr>
              <a:t>Reproducible</a:t>
            </a:r>
            <a:endParaRPr lang="en-US" sz="1700" dirty="0"/>
          </a:p>
        </p:txBody>
      </p:sp>
      <p:sp>
        <p:nvSpPr>
          <p:cNvPr id="9" name="Shape 6"/>
          <p:cNvSpPr/>
          <p:nvPr/>
        </p:nvSpPr>
        <p:spPr>
          <a:xfrm>
            <a:off x="4724248" y="4160520"/>
            <a:ext cx="502920" cy="502920"/>
          </a:xfrm>
          <a:prstGeom prst="ellipse">
            <a:avLst/>
          </a:prstGeom>
          <a:solidFill>
            <a:srgbClr val="1F7A3D"/>
          </a:solidFill>
          <a:ln/>
        </p:spPr>
      </p:sp>
      <p:pic>
        <p:nvPicPr>
          <p:cNvPr id="10" name="Image 1" descr="/home/claude/hydromet_ppt/icons/diagram.png">    </p:cNvPr>
          <p:cNvPicPr>
            <a:picLocks noChangeAspect="1"/>
          </p:cNvPicPr>
          <p:nvPr/>
        </p:nvPicPr>
        <p:blipFill>
          <a:blip r:embed="rId2"/>
          <a:stretch>
            <a:fillRect/>
          </a:stretch>
        </p:blipFill>
        <p:spPr>
          <a:xfrm>
            <a:off x="4849978" y="4286250"/>
            <a:ext cx="251460" cy="251460"/>
          </a:xfrm>
          <a:prstGeom prst="rect">
            <a:avLst/>
          </a:prstGeom>
        </p:spPr>
      </p:pic>
      <p:sp>
        <p:nvSpPr>
          <p:cNvPr id="11" name="Text 7"/>
          <p:cNvSpPr txBox="1"/>
          <p:nvPr/>
        </p:nvSpPr>
        <p:spPr>
          <a:xfrm>
            <a:off x="5346040" y="4160520"/>
            <a:ext cx="2121408" cy="502920"/>
          </a:xfrm>
          <a:prstGeom prst="rect">
            <a:avLst/>
          </a:prstGeom>
          <a:noFill/>
          <a:ln/>
        </p:spPr>
        <p:txBody>
          <a:bodyPr wrap="square" lIns="0" tIns="0" rIns="0" bIns="0" rtlCol="0" anchor="ctr"/>
          <a:lstStyle/>
          <a:p>
            <a:pPr indent="0" marL="0">
              <a:buNone/>
            </a:pPr>
            <a:r>
              <a:rPr lang="en-US" sz="1700" b="1" dirty="0">
                <a:solidFill>
                  <a:srgbClr val="17241C"/>
                </a:solidFill>
                <a:latin typeface="Calibri" pitchFamily="34" charset="0"/>
                <a:ea typeface="Calibri" pitchFamily="34" charset="-122"/>
                <a:cs typeface="Calibri" pitchFamily="34" charset="-120"/>
              </a:rPr>
              <a:t>Scalable</a:t>
            </a:r>
            <a:endParaRPr lang="en-US" sz="1700" dirty="0"/>
          </a:p>
        </p:txBody>
      </p:sp>
      <p:sp>
        <p:nvSpPr>
          <p:cNvPr id="12" name="Shape 8"/>
          <p:cNvSpPr/>
          <p:nvPr/>
        </p:nvSpPr>
        <p:spPr>
          <a:xfrm>
            <a:off x="7924648" y="4160520"/>
            <a:ext cx="502920" cy="502920"/>
          </a:xfrm>
          <a:prstGeom prst="ellipse">
            <a:avLst/>
          </a:prstGeom>
          <a:solidFill>
            <a:srgbClr val="1F7A3D"/>
          </a:solidFill>
          <a:ln/>
        </p:spPr>
      </p:sp>
      <p:pic>
        <p:nvPicPr>
          <p:cNvPr id="13" name="Image 2" descr="/home/claude/hydromet_ppt/icons/check.png">    </p:cNvPr>
          <p:cNvPicPr>
            <a:picLocks noChangeAspect="1"/>
          </p:cNvPicPr>
          <p:nvPr/>
        </p:nvPicPr>
        <p:blipFill>
          <a:blip r:embed="rId3"/>
          <a:stretch>
            <a:fillRect/>
          </a:stretch>
        </p:blipFill>
        <p:spPr>
          <a:xfrm>
            <a:off x="8050378" y="4286250"/>
            <a:ext cx="251460" cy="251460"/>
          </a:xfrm>
          <a:prstGeom prst="rect">
            <a:avLst/>
          </a:prstGeom>
        </p:spPr>
      </p:pic>
      <p:sp>
        <p:nvSpPr>
          <p:cNvPr id="14" name="Text 9"/>
          <p:cNvSpPr txBox="1"/>
          <p:nvPr/>
        </p:nvSpPr>
        <p:spPr>
          <a:xfrm>
            <a:off x="8546440" y="4160520"/>
            <a:ext cx="2121408" cy="502920"/>
          </a:xfrm>
          <a:prstGeom prst="rect">
            <a:avLst/>
          </a:prstGeom>
          <a:noFill/>
          <a:ln/>
        </p:spPr>
        <p:txBody>
          <a:bodyPr wrap="square" lIns="0" tIns="0" rIns="0" bIns="0" rtlCol="0" anchor="ctr"/>
          <a:lstStyle/>
          <a:p>
            <a:pPr indent="0" marL="0">
              <a:buNone/>
            </a:pPr>
            <a:r>
              <a:rPr lang="en-US" sz="1700" b="1" dirty="0">
                <a:solidFill>
                  <a:srgbClr val="17241C"/>
                </a:solidFill>
                <a:latin typeface="Calibri" pitchFamily="34" charset="0"/>
                <a:ea typeface="Calibri" pitchFamily="34" charset="-122"/>
                <a:cs typeface="Calibri" pitchFamily="34" charset="-120"/>
              </a:rPr>
              <a:t>Analytics-Ready</a:t>
            </a:r>
            <a:endParaRPr lang="en-US" sz="1700" dirty="0"/>
          </a:p>
        </p:txBody>
      </p:sp>
      <p:sp>
        <p:nvSpPr>
          <p:cNvPr id="15" name="Shape 10"/>
          <p:cNvSpPr/>
          <p:nvPr/>
        </p:nvSpPr>
        <p:spPr>
          <a:xfrm>
            <a:off x="1005840" y="5257800"/>
            <a:ext cx="10180015" cy="960120"/>
          </a:xfrm>
          <a:prstGeom prst="roundRect">
            <a:avLst>
              <a:gd name="adj" fmla="val 11429"/>
            </a:avLst>
          </a:prstGeom>
          <a:solidFill>
            <a:srgbClr val="FFFFFF"/>
          </a:solidFill>
          <a:ln w="12700">
            <a:solidFill>
              <a:srgbClr val="CFE8D2"/>
            </a:solidFill>
            <a:prstDash val="solid"/>
          </a:ln>
        </p:spPr>
      </p:sp>
      <p:sp>
        <p:nvSpPr>
          <p:cNvPr id="16" name="Text 11"/>
          <p:cNvSpPr txBox="1"/>
          <p:nvPr/>
        </p:nvSpPr>
        <p:spPr>
          <a:xfrm>
            <a:off x="1280160" y="5367528"/>
            <a:ext cx="2743200" cy="274320"/>
          </a:xfrm>
          <a:prstGeom prst="rect">
            <a:avLst/>
          </a:prstGeom>
          <a:noFill/>
          <a:ln/>
        </p:spPr>
        <p:txBody>
          <a:bodyPr wrap="square" lIns="0" tIns="0" rIns="0" bIns="0" rtlCol="0" anchor="ctr"/>
          <a:lstStyle/>
          <a:p>
            <a:pPr indent="0" marL="0">
              <a:buNone/>
            </a:pPr>
            <a:r>
              <a:rPr lang="en-US" sz="1250" b="1" spc="100" kern="0" dirty="0">
                <a:solidFill>
                  <a:srgbClr val="B9832A"/>
                </a:solidFill>
                <a:latin typeface="Calibri" pitchFamily="34" charset="0"/>
                <a:ea typeface="Calibri" pitchFamily="34" charset="-122"/>
                <a:cs typeface="Calibri" pitchFamily="34" charset="-120"/>
              </a:rPr>
              <a:t>SCOPE OF THIS TALK</a:t>
            </a:r>
            <a:endParaRPr lang="en-US" sz="1250" dirty="0"/>
          </a:p>
        </p:txBody>
      </p:sp>
      <p:sp>
        <p:nvSpPr>
          <p:cNvPr id="17" name="Text 12"/>
          <p:cNvSpPr txBox="1"/>
          <p:nvPr/>
        </p:nvSpPr>
        <p:spPr>
          <a:xfrm>
            <a:off x="1280160" y="5623560"/>
            <a:ext cx="9631375" cy="502920"/>
          </a:xfrm>
          <a:prstGeom prst="rect">
            <a:avLst/>
          </a:prstGeom>
          <a:noFill/>
          <a:ln/>
        </p:spPr>
        <p:txBody>
          <a:bodyPr wrap="square" lIns="0" tIns="0" rIns="0" bIns="0" rtlCol="0" anchor="t"/>
          <a:lstStyle/>
          <a:p>
            <a:pPr indent="0" marL="0">
              <a:lnSpc>
                <a:spcPct val="105000"/>
              </a:lnSpc>
              <a:buNone/>
            </a:pPr>
            <a:r>
              <a:rPr lang="en-US" sz="1400" dirty="0">
                <a:solidFill>
                  <a:srgbClr val="5C6B63"/>
                </a:solidFill>
                <a:latin typeface="Calibri" pitchFamily="34" charset="0"/>
                <a:ea typeface="Calibri" pitchFamily="34" charset="-122"/>
                <a:cs typeface="Calibri" pitchFamily="34" charset="-120"/>
              </a:rPr>
              <a:t>This presentation covers Weeks 1–3 of a 10-unit pipeline: problem framing, architecture, and reliable ingestion. Later units (benchmarking, orchestration, serving, deployment) are not yet built.</a:t>
            </a:r>
            <a:endParaRPr lang="en-US" sz="1400" dirty="0"/>
          </a:p>
        </p:txBody>
      </p:sp>
      <p:sp>
        <p:nvSpPr>
          <p:cNvPr id="18" name="Text 13"/>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3 / 23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DATASET OVERVIEW</a:t>
            </a:r>
            <a:endParaRPr lang="en-US" sz="1300" dirty="0"/>
          </a:p>
        </p:txBody>
      </p:sp>
      <p:sp>
        <p:nvSpPr>
          <p:cNvPr id="3" name="Text 1"/>
          <p:cNvSpPr txBox="1"/>
          <p:nvPr/>
        </p:nvSpPr>
        <p:spPr>
          <a:xfrm>
            <a:off x="548640" y="566928"/>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The Data Behind HydroMet-ETL</a:t>
            </a:r>
            <a:endParaRPr lang="en-US" sz="3200" dirty="0"/>
          </a:p>
        </p:txBody>
      </p:sp>
      <p:sp>
        <p:nvSpPr>
          <p:cNvPr id="4" name="Shape 2"/>
          <p:cNvSpPr/>
          <p:nvPr/>
        </p:nvSpPr>
        <p:spPr>
          <a:xfrm>
            <a:off x="586588" y="1508760"/>
            <a:ext cx="2514600" cy="1051560"/>
          </a:xfrm>
          <a:prstGeom prst="roundRect">
            <a:avLst>
              <a:gd name="adj" fmla="val 10435"/>
            </a:avLst>
          </a:prstGeom>
          <a:solidFill>
            <a:srgbClr val="0F3320"/>
          </a:solidFill>
          <a:ln/>
        </p:spPr>
      </p:sp>
      <p:sp>
        <p:nvSpPr>
          <p:cNvPr id="5" name="Text 3"/>
          <p:cNvSpPr txBox="1"/>
          <p:nvPr/>
        </p:nvSpPr>
        <p:spPr>
          <a:xfrm>
            <a:off x="586588" y="1536192"/>
            <a:ext cx="2514600" cy="566928"/>
          </a:xfrm>
          <a:prstGeom prst="rect">
            <a:avLst/>
          </a:prstGeom>
          <a:noFill/>
          <a:ln/>
        </p:spPr>
        <p:txBody>
          <a:bodyPr wrap="square" lIns="0" tIns="0" rIns="0" bIns="0" rtlCol="0" anchor="ctr"/>
          <a:lstStyle/>
          <a:p>
            <a:pPr algn="ctr" indent="0" marL="0">
              <a:buNone/>
            </a:pPr>
            <a:r>
              <a:rPr lang="en-US" sz="3000" b="1" dirty="0">
                <a:solidFill>
                  <a:srgbClr val="D9A441"/>
                </a:solidFill>
                <a:latin typeface="Cambria" pitchFamily="34" charset="0"/>
                <a:ea typeface="Cambria" pitchFamily="34" charset="-122"/>
                <a:cs typeface="Cambria" pitchFamily="34" charset="-120"/>
              </a:rPr>
              <a:t>8</a:t>
            </a:r>
            <a:endParaRPr lang="en-US" sz="3000" dirty="0"/>
          </a:p>
        </p:txBody>
      </p:sp>
      <p:sp>
        <p:nvSpPr>
          <p:cNvPr id="6" name="Text 4"/>
          <p:cNvSpPr txBox="1"/>
          <p:nvPr/>
        </p:nvSpPr>
        <p:spPr>
          <a:xfrm>
            <a:off x="586588" y="2121408"/>
            <a:ext cx="2514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Locations</a:t>
            </a:r>
            <a:endParaRPr lang="en-US" sz="1300" dirty="0"/>
          </a:p>
        </p:txBody>
      </p:sp>
      <p:sp>
        <p:nvSpPr>
          <p:cNvPr id="7" name="Shape 5"/>
          <p:cNvSpPr/>
          <p:nvPr/>
        </p:nvSpPr>
        <p:spPr>
          <a:xfrm>
            <a:off x="3421228" y="1508760"/>
            <a:ext cx="2514600" cy="1051560"/>
          </a:xfrm>
          <a:prstGeom prst="roundRect">
            <a:avLst>
              <a:gd name="adj" fmla="val 10435"/>
            </a:avLst>
          </a:prstGeom>
          <a:solidFill>
            <a:srgbClr val="0F3320"/>
          </a:solidFill>
          <a:ln/>
        </p:spPr>
      </p:sp>
      <p:sp>
        <p:nvSpPr>
          <p:cNvPr id="8" name="Text 6"/>
          <p:cNvSpPr txBox="1"/>
          <p:nvPr/>
        </p:nvSpPr>
        <p:spPr>
          <a:xfrm>
            <a:off x="3421228" y="1536192"/>
            <a:ext cx="2514600" cy="566928"/>
          </a:xfrm>
          <a:prstGeom prst="rect">
            <a:avLst/>
          </a:prstGeom>
          <a:noFill/>
          <a:ln/>
        </p:spPr>
        <p:txBody>
          <a:bodyPr wrap="square" lIns="0" tIns="0" rIns="0" bIns="0" rtlCol="0" anchor="ctr"/>
          <a:lstStyle/>
          <a:p>
            <a:pPr algn="ctr" indent="0" marL="0">
              <a:buNone/>
            </a:pPr>
            <a:r>
              <a:rPr lang="en-US" sz="3000" b="1" dirty="0">
                <a:solidFill>
                  <a:srgbClr val="D9A441"/>
                </a:solidFill>
                <a:latin typeface="Cambria" pitchFamily="34" charset="0"/>
                <a:ea typeface="Cambria" pitchFamily="34" charset="-122"/>
                <a:cs typeface="Cambria" pitchFamily="34" charset="-120"/>
              </a:rPr>
              <a:t>25</a:t>
            </a:r>
            <a:endParaRPr lang="en-US" sz="3000" dirty="0"/>
          </a:p>
        </p:txBody>
      </p:sp>
      <p:sp>
        <p:nvSpPr>
          <p:cNvPr id="9" name="Text 7"/>
          <p:cNvSpPr txBox="1"/>
          <p:nvPr/>
        </p:nvSpPr>
        <p:spPr>
          <a:xfrm>
            <a:off x="3421228" y="2121408"/>
            <a:ext cx="2514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Years (2001–2025)</a:t>
            </a:r>
            <a:endParaRPr lang="en-US" sz="1300" dirty="0"/>
          </a:p>
        </p:txBody>
      </p:sp>
      <p:sp>
        <p:nvSpPr>
          <p:cNvPr id="10" name="Shape 8"/>
          <p:cNvSpPr/>
          <p:nvPr/>
        </p:nvSpPr>
        <p:spPr>
          <a:xfrm>
            <a:off x="6255868" y="1508760"/>
            <a:ext cx="2514600" cy="1051560"/>
          </a:xfrm>
          <a:prstGeom prst="roundRect">
            <a:avLst>
              <a:gd name="adj" fmla="val 10435"/>
            </a:avLst>
          </a:prstGeom>
          <a:solidFill>
            <a:srgbClr val="0F3320"/>
          </a:solidFill>
          <a:ln/>
        </p:spPr>
      </p:sp>
      <p:sp>
        <p:nvSpPr>
          <p:cNvPr id="11" name="Text 9"/>
          <p:cNvSpPr txBox="1"/>
          <p:nvPr/>
        </p:nvSpPr>
        <p:spPr>
          <a:xfrm>
            <a:off x="6255868" y="1536192"/>
            <a:ext cx="2514600" cy="566928"/>
          </a:xfrm>
          <a:prstGeom prst="rect">
            <a:avLst/>
          </a:prstGeom>
          <a:noFill/>
          <a:ln/>
        </p:spPr>
        <p:txBody>
          <a:bodyPr wrap="square" lIns="0" tIns="0" rIns="0" bIns="0" rtlCol="0" anchor="ctr"/>
          <a:lstStyle/>
          <a:p>
            <a:pPr algn="ctr" indent="0" marL="0">
              <a:buNone/>
            </a:pPr>
            <a:r>
              <a:rPr lang="en-US" sz="3000" b="1" dirty="0">
                <a:solidFill>
                  <a:srgbClr val="D9A441"/>
                </a:solidFill>
                <a:latin typeface="Cambria" pitchFamily="34" charset="0"/>
                <a:ea typeface="Cambria" pitchFamily="34" charset="-122"/>
                <a:cs typeface="Cambria" pitchFamily="34" charset="-120"/>
              </a:rPr>
              <a:t>73,048</a:t>
            </a:r>
            <a:endParaRPr lang="en-US" sz="3000" dirty="0"/>
          </a:p>
        </p:txBody>
      </p:sp>
      <p:sp>
        <p:nvSpPr>
          <p:cNvPr id="12" name="Text 10"/>
          <p:cNvSpPr txBox="1"/>
          <p:nvPr/>
        </p:nvSpPr>
        <p:spPr>
          <a:xfrm>
            <a:off x="6255868" y="2121408"/>
            <a:ext cx="2514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Daily Records</a:t>
            </a:r>
            <a:endParaRPr lang="en-US" sz="1300" dirty="0"/>
          </a:p>
        </p:txBody>
      </p:sp>
      <p:sp>
        <p:nvSpPr>
          <p:cNvPr id="13" name="Shape 11"/>
          <p:cNvSpPr/>
          <p:nvPr/>
        </p:nvSpPr>
        <p:spPr>
          <a:xfrm>
            <a:off x="9090508" y="1508760"/>
            <a:ext cx="2514600" cy="1051560"/>
          </a:xfrm>
          <a:prstGeom prst="roundRect">
            <a:avLst>
              <a:gd name="adj" fmla="val 10435"/>
            </a:avLst>
          </a:prstGeom>
          <a:solidFill>
            <a:srgbClr val="0F3320"/>
          </a:solidFill>
          <a:ln/>
        </p:spPr>
      </p:sp>
      <p:sp>
        <p:nvSpPr>
          <p:cNvPr id="14" name="Text 12"/>
          <p:cNvSpPr txBox="1"/>
          <p:nvPr/>
        </p:nvSpPr>
        <p:spPr>
          <a:xfrm>
            <a:off x="9090508" y="1536192"/>
            <a:ext cx="2514600" cy="566928"/>
          </a:xfrm>
          <a:prstGeom prst="rect">
            <a:avLst/>
          </a:prstGeom>
          <a:noFill/>
          <a:ln/>
        </p:spPr>
        <p:txBody>
          <a:bodyPr wrap="square" lIns="0" tIns="0" rIns="0" bIns="0" rtlCol="0" anchor="ctr"/>
          <a:lstStyle/>
          <a:p>
            <a:pPr algn="ctr" indent="0" marL="0">
              <a:buNone/>
            </a:pPr>
            <a:r>
              <a:rPr lang="en-US" sz="3000" b="1" dirty="0">
                <a:solidFill>
                  <a:srgbClr val="D9A441"/>
                </a:solidFill>
                <a:latin typeface="Cambria" pitchFamily="34" charset="0"/>
                <a:ea typeface="Cambria" pitchFamily="34" charset="-122"/>
                <a:cs typeface="Cambria" pitchFamily="34" charset="-120"/>
              </a:rPr>
              <a:t>7</a:t>
            </a:r>
            <a:endParaRPr lang="en-US" sz="3000" dirty="0"/>
          </a:p>
        </p:txBody>
      </p:sp>
      <p:sp>
        <p:nvSpPr>
          <p:cNvPr id="15" name="Text 13"/>
          <p:cNvSpPr txBox="1"/>
          <p:nvPr/>
        </p:nvSpPr>
        <p:spPr>
          <a:xfrm>
            <a:off x="9090508" y="2121408"/>
            <a:ext cx="2514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Variables</a:t>
            </a:r>
            <a:endParaRPr lang="en-US" sz="1300" dirty="0"/>
          </a:p>
        </p:txBody>
      </p:sp>
      <p:sp>
        <p:nvSpPr>
          <p:cNvPr id="16" name="Text 14"/>
          <p:cNvSpPr txBox="1"/>
          <p:nvPr/>
        </p:nvSpPr>
        <p:spPr>
          <a:xfrm>
            <a:off x="548640" y="2880360"/>
            <a:ext cx="5029200" cy="320040"/>
          </a:xfrm>
          <a:prstGeom prst="rect">
            <a:avLst/>
          </a:prstGeom>
          <a:noFill/>
          <a:ln/>
        </p:spPr>
        <p:txBody>
          <a:bodyPr wrap="square" lIns="0" tIns="0" rIns="0" bIns="0" rtlCol="0" anchor="ctr"/>
          <a:lstStyle/>
          <a:p>
            <a:pPr indent="0" marL="0">
              <a:buNone/>
            </a:pPr>
            <a:r>
              <a:rPr lang="en-US" sz="1400" b="1" spc="100" kern="0" dirty="0">
                <a:solidFill>
                  <a:srgbClr val="175C2E"/>
                </a:solidFill>
                <a:latin typeface="Calibri" pitchFamily="34" charset="0"/>
                <a:ea typeface="Calibri" pitchFamily="34" charset="-122"/>
                <a:cs typeface="Calibri" pitchFamily="34" charset="-120"/>
              </a:rPr>
              <a:t>8 STUDY LOCATIONS (TANZANIA)</a:t>
            </a:r>
            <a:endParaRPr lang="en-US" sz="1400" dirty="0"/>
          </a:p>
        </p:txBody>
      </p:sp>
      <p:sp>
        <p:nvSpPr>
          <p:cNvPr id="17" name="Shape 15"/>
          <p:cNvSpPr/>
          <p:nvPr/>
        </p:nvSpPr>
        <p:spPr>
          <a:xfrm>
            <a:off x="548640" y="3291840"/>
            <a:ext cx="365760" cy="365760"/>
          </a:xfrm>
          <a:prstGeom prst="ellipse">
            <a:avLst/>
          </a:prstGeom>
          <a:solidFill>
            <a:srgbClr val="3FA34D"/>
          </a:solidFill>
          <a:ln/>
        </p:spPr>
      </p:sp>
      <p:pic>
        <p:nvPicPr>
          <p:cNvPr id="18" name="Image 0" descr="/home/claude/hydromet_ppt/icons/marker.png">    </p:cNvPr>
          <p:cNvPicPr>
            <a:picLocks noChangeAspect="1"/>
          </p:cNvPicPr>
          <p:nvPr/>
        </p:nvPicPr>
        <p:blipFill>
          <a:blip r:embed="rId1"/>
          <a:stretch>
            <a:fillRect/>
          </a:stretch>
        </p:blipFill>
        <p:spPr>
          <a:xfrm>
            <a:off x="630936" y="3374136"/>
            <a:ext cx="201168" cy="201168"/>
          </a:xfrm>
          <a:prstGeom prst="rect">
            <a:avLst/>
          </a:prstGeom>
        </p:spPr>
      </p:pic>
      <p:sp>
        <p:nvSpPr>
          <p:cNvPr id="19" name="Text 16"/>
          <p:cNvSpPr txBox="1"/>
          <p:nvPr/>
        </p:nvSpPr>
        <p:spPr>
          <a:xfrm>
            <a:off x="1005840" y="3291840"/>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Arusha</a:t>
            </a:r>
            <a:endParaRPr lang="en-US" sz="1500" dirty="0"/>
          </a:p>
        </p:txBody>
      </p:sp>
      <p:sp>
        <p:nvSpPr>
          <p:cNvPr id="20" name="Shape 17"/>
          <p:cNvSpPr/>
          <p:nvPr/>
        </p:nvSpPr>
        <p:spPr>
          <a:xfrm>
            <a:off x="3154680" y="3291840"/>
            <a:ext cx="365760" cy="365760"/>
          </a:xfrm>
          <a:prstGeom prst="ellipse">
            <a:avLst/>
          </a:prstGeom>
          <a:solidFill>
            <a:srgbClr val="3FA34D"/>
          </a:solidFill>
          <a:ln/>
        </p:spPr>
      </p:sp>
      <p:pic>
        <p:nvPicPr>
          <p:cNvPr id="21" name="Image 1" descr="/home/claude/hydromet_ppt/icons/marker.png">    </p:cNvPr>
          <p:cNvPicPr>
            <a:picLocks noChangeAspect="1"/>
          </p:cNvPicPr>
          <p:nvPr/>
        </p:nvPicPr>
        <p:blipFill>
          <a:blip r:embed="rId2"/>
          <a:stretch>
            <a:fillRect/>
          </a:stretch>
        </p:blipFill>
        <p:spPr>
          <a:xfrm>
            <a:off x="3236976" y="3374136"/>
            <a:ext cx="201168" cy="201168"/>
          </a:xfrm>
          <a:prstGeom prst="rect">
            <a:avLst/>
          </a:prstGeom>
        </p:spPr>
      </p:pic>
      <p:sp>
        <p:nvSpPr>
          <p:cNvPr id="22" name="Text 18"/>
          <p:cNvSpPr txBox="1"/>
          <p:nvPr/>
        </p:nvSpPr>
        <p:spPr>
          <a:xfrm>
            <a:off x="3611880" y="3291840"/>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Dar es Salaam</a:t>
            </a:r>
            <a:endParaRPr lang="en-US" sz="1500" dirty="0"/>
          </a:p>
        </p:txBody>
      </p:sp>
      <p:sp>
        <p:nvSpPr>
          <p:cNvPr id="23" name="Shape 19"/>
          <p:cNvSpPr/>
          <p:nvPr/>
        </p:nvSpPr>
        <p:spPr>
          <a:xfrm>
            <a:off x="548640" y="3858768"/>
            <a:ext cx="365760" cy="365760"/>
          </a:xfrm>
          <a:prstGeom prst="ellipse">
            <a:avLst/>
          </a:prstGeom>
          <a:solidFill>
            <a:srgbClr val="3FA34D"/>
          </a:solidFill>
          <a:ln/>
        </p:spPr>
      </p:sp>
      <p:pic>
        <p:nvPicPr>
          <p:cNvPr id="24" name="Image 2" descr="/home/claude/hydromet_ppt/icons/marker.png">    </p:cNvPr>
          <p:cNvPicPr>
            <a:picLocks noChangeAspect="1"/>
          </p:cNvPicPr>
          <p:nvPr/>
        </p:nvPicPr>
        <p:blipFill>
          <a:blip r:embed="rId3"/>
          <a:stretch>
            <a:fillRect/>
          </a:stretch>
        </p:blipFill>
        <p:spPr>
          <a:xfrm>
            <a:off x="630936" y="3941064"/>
            <a:ext cx="201168" cy="201168"/>
          </a:xfrm>
          <a:prstGeom prst="rect">
            <a:avLst/>
          </a:prstGeom>
        </p:spPr>
      </p:pic>
      <p:sp>
        <p:nvSpPr>
          <p:cNvPr id="25" name="Text 20"/>
          <p:cNvSpPr txBox="1"/>
          <p:nvPr/>
        </p:nvSpPr>
        <p:spPr>
          <a:xfrm>
            <a:off x="1005840" y="3858768"/>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Dodoma</a:t>
            </a:r>
            <a:endParaRPr lang="en-US" sz="1500" dirty="0"/>
          </a:p>
        </p:txBody>
      </p:sp>
      <p:sp>
        <p:nvSpPr>
          <p:cNvPr id="26" name="Shape 21"/>
          <p:cNvSpPr/>
          <p:nvPr/>
        </p:nvSpPr>
        <p:spPr>
          <a:xfrm>
            <a:off x="3154680" y="3858768"/>
            <a:ext cx="365760" cy="365760"/>
          </a:xfrm>
          <a:prstGeom prst="ellipse">
            <a:avLst/>
          </a:prstGeom>
          <a:solidFill>
            <a:srgbClr val="3FA34D"/>
          </a:solidFill>
          <a:ln/>
        </p:spPr>
      </p:sp>
      <p:pic>
        <p:nvPicPr>
          <p:cNvPr id="27" name="Image 3" descr="/home/claude/hydromet_ppt/icons/marker.png">    </p:cNvPr>
          <p:cNvPicPr>
            <a:picLocks noChangeAspect="1"/>
          </p:cNvPicPr>
          <p:nvPr/>
        </p:nvPicPr>
        <p:blipFill>
          <a:blip r:embed="rId4"/>
          <a:stretch>
            <a:fillRect/>
          </a:stretch>
        </p:blipFill>
        <p:spPr>
          <a:xfrm>
            <a:off x="3236976" y="3941064"/>
            <a:ext cx="201168" cy="201168"/>
          </a:xfrm>
          <a:prstGeom prst="rect">
            <a:avLst/>
          </a:prstGeom>
        </p:spPr>
      </p:pic>
      <p:sp>
        <p:nvSpPr>
          <p:cNvPr id="28" name="Text 22"/>
          <p:cNvSpPr txBox="1"/>
          <p:nvPr/>
        </p:nvSpPr>
        <p:spPr>
          <a:xfrm>
            <a:off x="3611880" y="3858768"/>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Mbeya</a:t>
            </a:r>
            <a:endParaRPr lang="en-US" sz="1500" dirty="0"/>
          </a:p>
        </p:txBody>
      </p:sp>
      <p:sp>
        <p:nvSpPr>
          <p:cNvPr id="29" name="Shape 23"/>
          <p:cNvSpPr/>
          <p:nvPr/>
        </p:nvSpPr>
        <p:spPr>
          <a:xfrm>
            <a:off x="548640" y="4425696"/>
            <a:ext cx="365760" cy="365760"/>
          </a:xfrm>
          <a:prstGeom prst="ellipse">
            <a:avLst/>
          </a:prstGeom>
          <a:solidFill>
            <a:srgbClr val="3FA34D"/>
          </a:solidFill>
          <a:ln/>
        </p:spPr>
      </p:sp>
      <p:pic>
        <p:nvPicPr>
          <p:cNvPr id="30" name="Image 4" descr="/home/claude/hydromet_ppt/icons/marker.png">    </p:cNvPr>
          <p:cNvPicPr>
            <a:picLocks noChangeAspect="1"/>
          </p:cNvPicPr>
          <p:nvPr/>
        </p:nvPicPr>
        <p:blipFill>
          <a:blip r:embed="rId5"/>
          <a:stretch>
            <a:fillRect/>
          </a:stretch>
        </p:blipFill>
        <p:spPr>
          <a:xfrm>
            <a:off x="630936" y="4507992"/>
            <a:ext cx="201168" cy="201168"/>
          </a:xfrm>
          <a:prstGeom prst="rect">
            <a:avLst/>
          </a:prstGeom>
        </p:spPr>
      </p:pic>
      <p:sp>
        <p:nvSpPr>
          <p:cNvPr id="31" name="Text 24"/>
          <p:cNvSpPr txBox="1"/>
          <p:nvPr/>
        </p:nvSpPr>
        <p:spPr>
          <a:xfrm>
            <a:off x="1005840" y="4425696"/>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Morogoro</a:t>
            </a:r>
            <a:endParaRPr lang="en-US" sz="1500" dirty="0"/>
          </a:p>
        </p:txBody>
      </p:sp>
      <p:sp>
        <p:nvSpPr>
          <p:cNvPr id="32" name="Shape 25"/>
          <p:cNvSpPr/>
          <p:nvPr/>
        </p:nvSpPr>
        <p:spPr>
          <a:xfrm>
            <a:off x="3154680" y="4425696"/>
            <a:ext cx="365760" cy="365760"/>
          </a:xfrm>
          <a:prstGeom prst="ellipse">
            <a:avLst/>
          </a:prstGeom>
          <a:solidFill>
            <a:srgbClr val="3FA34D"/>
          </a:solidFill>
          <a:ln/>
        </p:spPr>
      </p:sp>
      <p:pic>
        <p:nvPicPr>
          <p:cNvPr id="33" name="Image 5" descr="/home/claude/hydromet_ppt/icons/marker.png">    </p:cNvPr>
          <p:cNvPicPr>
            <a:picLocks noChangeAspect="1"/>
          </p:cNvPicPr>
          <p:nvPr/>
        </p:nvPicPr>
        <p:blipFill>
          <a:blip r:embed="rId6"/>
          <a:stretch>
            <a:fillRect/>
          </a:stretch>
        </p:blipFill>
        <p:spPr>
          <a:xfrm>
            <a:off x="3236976" y="4507992"/>
            <a:ext cx="201168" cy="201168"/>
          </a:xfrm>
          <a:prstGeom prst="rect">
            <a:avLst/>
          </a:prstGeom>
        </p:spPr>
      </p:pic>
      <p:sp>
        <p:nvSpPr>
          <p:cNvPr id="34" name="Text 26"/>
          <p:cNvSpPr txBox="1"/>
          <p:nvPr/>
        </p:nvSpPr>
        <p:spPr>
          <a:xfrm>
            <a:off x="3611880" y="4425696"/>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Mwanza</a:t>
            </a:r>
            <a:endParaRPr lang="en-US" sz="1500" dirty="0"/>
          </a:p>
        </p:txBody>
      </p:sp>
      <p:sp>
        <p:nvSpPr>
          <p:cNvPr id="35" name="Shape 27"/>
          <p:cNvSpPr/>
          <p:nvPr/>
        </p:nvSpPr>
        <p:spPr>
          <a:xfrm>
            <a:off x="548640" y="4992624"/>
            <a:ext cx="365760" cy="365760"/>
          </a:xfrm>
          <a:prstGeom prst="ellipse">
            <a:avLst/>
          </a:prstGeom>
          <a:solidFill>
            <a:srgbClr val="3FA34D"/>
          </a:solidFill>
          <a:ln/>
        </p:spPr>
      </p:sp>
      <p:pic>
        <p:nvPicPr>
          <p:cNvPr id="36" name="Image 6" descr="/home/claude/hydromet_ppt/icons/marker.png">    </p:cNvPr>
          <p:cNvPicPr>
            <a:picLocks noChangeAspect="1"/>
          </p:cNvPicPr>
          <p:nvPr/>
        </p:nvPicPr>
        <p:blipFill>
          <a:blip r:embed="rId7"/>
          <a:stretch>
            <a:fillRect/>
          </a:stretch>
        </p:blipFill>
        <p:spPr>
          <a:xfrm>
            <a:off x="630936" y="5074920"/>
            <a:ext cx="201168" cy="201168"/>
          </a:xfrm>
          <a:prstGeom prst="rect">
            <a:avLst/>
          </a:prstGeom>
        </p:spPr>
      </p:pic>
      <p:sp>
        <p:nvSpPr>
          <p:cNvPr id="37" name="Text 28"/>
          <p:cNvSpPr txBox="1"/>
          <p:nvPr/>
        </p:nvSpPr>
        <p:spPr>
          <a:xfrm>
            <a:off x="1005840" y="4992624"/>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Songea</a:t>
            </a:r>
            <a:endParaRPr lang="en-US" sz="1500" dirty="0"/>
          </a:p>
        </p:txBody>
      </p:sp>
      <p:sp>
        <p:nvSpPr>
          <p:cNvPr id="38" name="Shape 29"/>
          <p:cNvSpPr/>
          <p:nvPr/>
        </p:nvSpPr>
        <p:spPr>
          <a:xfrm>
            <a:off x="3154680" y="4992624"/>
            <a:ext cx="365760" cy="365760"/>
          </a:xfrm>
          <a:prstGeom prst="ellipse">
            <a:avLst/>
          </a:prstGeom>
          <a:solidFill>
            <a:srgbClr val="3FA34D"/>
          </a:solidFill>
          <a:ln/>
        </p:spPr>
      </p:sp>
      <p:pic>
        <p:nvPicPr>
          <p:cNvPr id="39" name="Image 7" descr="/home/claude/hydromet_ppt/icons/marker.png">    </p:cNvPr>
          <p:cNvPicPr>
            <a:picLocks noChangeAspect="1"/>
          </p:cNvPicPr>
          <p:nvPr/>
        </p:nvPicPr>
        <p:blipFill>
          <a:blip r:embed="rId8"/>
          <a:stretch>
            <a:fillRect/>
          </a:stretch>
        </p:blipFill>
        <p:spPr>
          <a:xfrm>
            <a:off x="3236976" y="5074920"/>
            <a:ext cx="201168" cy="201168"/>
          </a:xfrm>
          <a:prstGeom prst="rect">
            <a:avLst/>
          </a:prstGeom>
        </p:spPr>
      </p:pic>
      <p:sp>
        <p:nvSpPr>
          <p:cNvPr id="40" name="Text 30"/>
          <p:cNvSpPr txBox="1"/>
          <p:nvPr/>
        </p:nvSpPr>
        <p:spPr>
          <a:xfrm>
            <a:off x="3611880" y="4992624"/>
            <a:ext cx="2057400" cy="365760"/>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Tabora</a:t>
            </a:r>
            <a:endParaRPr lang="en-US" sz="1500" dirty="0"/>
          </a:p>
        </p:txBody>
      </p:sp>
      <p:sp>
        <p:nvSpPr>
          <p:cNvPr id="41" name="Text 31"/>
          <p:cNvSpPr txBox="1"/>
          <p:nvPr/>
        </p:nvSpPr>
        <p:spPr>
          <a:xfrm>
            <a:off x="5989320" y="2880360"/>
            <a:ext cx="5486400" cy="320040"/>
          </a:xfrm>
          <a:prstGeom prst="rect">
            <a:avLst/>
          </a:prstGeom>
          <a:noFill/>
          <a:ln/>
        </p:spPr>
        <p:txBody>
          <a:bodyPr wrap="square" lIns="0" tIns="0" rIns="0" bIns="0" rtlCol="0" anchor="ctr"/>
          <a:lstStyle/>
          <a:p>
            <a:pPr indent="0" marL="0">
              <a:buNone/>
            </a:pPr>
            <a:r>
              <a:rPr lang="en-US" sz="1400" b="1" spc="100" kern="0" dirty="0">
                <a:solidFill>
                  <a:srgbClr val="175C2E"/>
                </a:solidFill>
                <a:latin typeface="Calibri" pitchFamily="34" charset="0"/>
                <a:ea typeface="Calibri" pitchFamily="34" charset="-122"/>
                <a:cs typeface="Calibri" pitchFamily="34" charset="-120"/>
              </a:rPr>
              <a:t>7 METEOROLOGICAL VARIABLES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89320" y="3291840"/>
          <a:ext cx="5669280" cy="914400"/>
        </p:xfrm>
        <a:graphic>
          <a:graphicData uri="http://schemas.openxmlformats.org/drawingml/2006/table">
            <a:tbl>
              <a:tblPr/>
              <a:tblGrid>
                <a:gridCol w="2377440"/>
                <a:gridCol w="3291840"/>
              </a:tblGrid>
              <a:tr h="40233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1F7A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1F7A3D"/>
                    </a:solidFill>
                  </a:tcPr>
                </a:tc>
              </a:tr>
              <a:tr h="402336">
                <a:tc>
                  <a:txBody>
                    <a:bodyPr/>
                    <a:lstStyle/>
                    <a:p>
                      <a:pPr indent="0" marL="0">
                        <a:buNone/>
                      </a:pPr>
                      <a:r>
                        <a:rPr lang="en-US" sz="1300" dirty="0">
                          <a:solidFill>
                            <a:srgbClr val="17241C"/>
                          </a:solidFill>
                          <a:latin typeface="Courier New" pitchFamily="34" charset="0"/>
                          <a:ea typeface="Courier New" pitchFamily="34" charset="-122"/>
                          <a:cs typeface="Courier New" pitchFamily="34" charset="-120"/>
                        </a:rPr>
                        <a:t>T2M</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indent="0" marL="0">
                        <a:buNone/>
                      </a:pPr>
                      <a:r>
                        <a:rPr lang="en-US" sz="1400" dirty="0">
                          <a:solidFill>
                            <a:srgbClr val="17241C"/>
                          </a:solidFill>
                          <a:latin typeface="Calibri" pitchFamily="34" charset="0"/>
                          <a:ea typeface="Calibri" pitchFamily="34" charset="-122"/>
                          <a:cs typeface="Calibri" pitchFamily="34" charset="-120"/>
                        </a:rPr>
                        <a:t>Mean air temp @ 2m</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r h="402336">
                <a:tc>
                  <a:txBody>
                    <a:bodyPr/>
                    <a:lstStyle/>
                    <a:p>
                      <a:pPr indent="0" marL="0">
                        <a:buNone/>
                      </a:pPr>
                      <a:r>
                        <a:rPr lang="en-US" sz="1300" dirty="0">
                          <a:solidFill>
                            <a:srgbClr val="17241C"/>
                          </a:solidFill>
                          <a:latin typeface="Courier New" pitchFamily="34" charset="0"/>
                          <a:ea typeface="Courier New" pitchFamily="34" charset="-122"/>
                          <a:cs typeface="Courier New" pitchFamily="34" charset="-120"/>
                        </a:rPr>
                        <a:t>T2M_MIN / T2M_MAX</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indent="0" marL="0">
                        <a:buNone/>
                      </a:pPr>
                      <a:r>
                        <a:rPr lang="en-US" sz="1400" dirty="0">
                          <a:solidFill>
                            <a:srgbClr val="17241C"/>
                          </a:solidFill>
                          <a:latin typeface="Calibri" pitchFamily="34" charset="0"/>
                          <a:ea typeface="Calibri" pitchFamily="34" charset="-122"/>
                          <a:cs typeface="Calibri" pitchFamily="34" charset="-120"/>
                        </a:rPr>
                        <a:t>Min / max air temp @ 2m</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r h="402336">
                <a:tc>
                  <a:txBody>
                    <a:bodyPr/>
                    <a:lstStyle/>
                    <a:p>
                      <a:pPr indent="0" marL="0">
                        <a:buNone/>
                      </a:pPr>
                      <a:r>
                        <a:rPr lang="en-US" sz="1300" dirty="0">
                          <a:solidFill>
                            <a:srgbClr val="17241C"/>
                          </a:solidFill>
                          <a:latin typeface="Courier New" pitchFamily="34" charset="0"/>
                          <a:ea typeface="Courier New" pitchFamily="34" charset="-122"/>
                          <a:cs typeface="Courier New" pitchFamily="34" charset="-120"/>
                        </a:rPr>
                        <a:t>RH2M</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indent="0" marL="0">
                        <a:buNone/>
                      </a:pPr>
                      <a:r>
                        <a:rPr lang="en-US" sz="1400" dirty="0">
                          <a:solidFill>
                            <a:srgbClr val="17241C"/>
                          </a:solidFill>
                          <a:latin typeface="Calibri" pitchFamily="34" charset="0"/>
                          <a:ea typeface="Calibri" pitchFamily="34" charset="-122"/>
                          <a:cs typeface="Calibri" pitchFamily="34" charset="-120"/>
                        </a:rPr>
                        <a:t>Relative humidity @ 2m</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r h="402336">
                <a:tc>
                  <a:txBody>
                    <a:bodyPr/>
                    <a:lstStyle/>
                    <a:p>
                      <a:pPr indent="0" marL="0">
                        <a:buNone/>
                      </a:pPr>
                      <a:r>
                        <a:rPr lang="en-US" sz="1300" dirty="0">
                          <a:solidFill>
                            <a:srgbClr val="17241C"/>
                          </a:solidFill>
                          <a:latin typeface="Courier New" pitchFamily="34" charset="0"/>
                          <a:ea typeface="Courier New" pitchFamily="34" charset="-122"/>
                          <a:cs typeface="Courier New" pitchFamily="34" charset="-120"/>
                        </a:rPr>
                        <a:t>PRECTOTCORR</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indent="0" marL="0">
                        <a:buNone/>
                      </a:pPr>
                      <a:r>
                        <a:rPr lang="en-US" sz="1400" dirty="0">
                          <a:solidFill>
                            <a:srgbClr val="17241C"/>
                          </a:solidFill>
                          <a:latin typeface="Calibri" pitchFamily="34" charset="0"/>
                          <a:ea typeface="Calibri" pitchFamily="34" charset="-122"/>
                          <a:cs typeface="Calibri" pitchFamily="34" charset="-120"/>
                        </a:rPr>
                        <a:t>Corrected precipitation</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r h="402336">
                <a:tc>
                  <a:txBody>
                    <a:bodyPr/>
                    <a:lstStyle/>
                    <a:p>
                      <a:pPr indent="0" marL="0">
                        <a:buNone/>
                      </a:pPr>
                      <a:r>
                        <a:rPr lang="en-US" sz="1300" dirty="0">
                          <a:solidFill>
                            <a:srgbClr val="17241C"/>
                          </a:solidFill>
                          <a:latin typeface="Courier New" pitchFamily="34" charset="0"/>
                          <a:ea typeface="Courier New" pitchFamily="34" charset="-122"/>
                          <a:cs typeface="Courier New" pitchFamily="34" charset="-120"/>
                        </a:rPr>
                        <a:t>WS2M</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indent="0" marL="0">
                        <a:buNone/>
                      </a:pPr>
                      <a:r>
                        <a:rPr lang="en-US" sz="1400" dirty="0">
                          <a:solidFill>
                            <a:srgbClr val="17241C"/>
                          </a:solidFill>
                          <a:latin typeface="Calibri" pitchFamily="34" charset="0"/>
                          <a:ea typeface="Calibri" pitchFamily="34" charset="-122"/>
                          <a:cs typeface="Calibri" pitchFamily="34" charset="-120"/>
                        </a:rPr>
                        <a:t>Wind speed @ 2m</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r h="402336">
                <a:tc>
                  <a:txBody>
                    <a:bodyPr/>
                    <a:lstStyle/>
                    <a:p>
                      <a:pPr indent="0" marL="0">
                        <a:buNone/>
                      </a:pPr>
                      <a:r>
                        <a:rPr lang="en-US" sz="1300" dirty="0">
                          <a:solidFill>
                            <a:srgbClr val="17241C"/>
                          </a:solidFill>
                          <a:latin typeface="Courier New" pitchFamily="34" charset="0"/>
                          <a:ea typeface="Courier New" pitchFamily="34" charset="-122"/>
                          <a:cs typeface="Courier New" pitchFamily="34" charset="-120"/>
                        </a:rPr>
                        <a:t>ALLSKY_SFC_SW_DWN</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indent="0" marL="0">
                        <a:buNone/>
                      </a:pPr>
                      <a:r>
                        <a:rPr lang="en-US" sz="1400" dirty="0">
                          <a:solidFill>
                            <a:srgbClr val="17241C"/>
                          </a:solidFill>
                          <a:latin typeface="Calibri" pitchFamily="34" charset="0"/>
                          <a:ea typeface="Calibri" pitchFamily="34" charset="-122"/>
                          <a:cs typeface="Calibri" pitchFamily="34" charset="-120"/>
                        </a:rPr>
                        <a:t>Surface shortwave solar radiation</a:t>
                      </a:r>
                      <a:endParaRPr lang="en-US" sz="1400" dirty="0">
                        <a:latin typeface="Calibri" charset="0"/>
                        <a:ea typeface="Calibri" charset="0"/>
                        <a:cs typeface="Calibri"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bl>
          </a:graphicData>
        </a:graphic>
      </p:graphicFrame>
      <p:sp>
        <p:nvSpPr>
          <p:cNvPr id="43" name="Shape 32"/>
          <p:cNvSpPr/>
          <p:nvPr/>
        </p:nvSpPr>
        <p:spPr>
          <a:xfrm>
            <a:off x="548640" y="5989320"/>
            <a:ext cx="457200" cy="457200"/>
          </a:xfrm>
          <a:prstGeom prst="ellipse">
            <a:avLst/>
          </a:prstGeom>
          <a:solidFill>
            <a:srgbClr val="D9A441"/>
          </a:solidFill>
          <a:ln/>
        </p:spPr>
      </p:sp>
      <p:pic>
        <p:nvPicPr>
          <p:cNvPr id="44" name="Image 8" descr="/home/claude/hydromet_ppt/icons/satellite.png">    </p:cNvPr>
          <p:cNvPicPr>
            <a:picLocks noChangeAspect="1"/>
          </p:cNvPicPr>
          <p:nvPr/>
        </p:nvPicPr>
        <p:blipFill>
          <a:blip r:embed="rId9"/>
          <a:stretch>
            <a:fillRect/>
          </a:stretch>
        </p:blipFill>
        <p:spPr>
          <a:xfrm>
            <a:off x="651510" y="6092190"/>
            <a:ext cx="251460" cy="251460"/>
          </a:xfrm>
          <a:prstGeom prst="rect">
            <a:avLst/>
          </a:prstGeom>
        </p:spPr>
      </p:pic>
      <p:sp>
        <p:nvSpPr>
          <p:cNvPr id="45" name="Text 33"/>
          <p:cNvSpPr txBox="1"/>
          <p:nvPr/>
        </p:nvSpPr>
        <p:spPr>
          <a:xfrm>
            <a:off x="1097280" y="5989320"/>
            <a:ext cx="7315200" cy="457200"/>
          </a:xfrm>
          <a:prstGeom prst="rect">
            <a:avLst/>
          </a:prstGeom>
          <a:noFill/>
          <a:ln/>
        </p:spPr>
        <p:txBody>
          <a:bodyPr wrap="square" lIns="0" tIns="0" rIns="0" bIns="0" rtlCol="0" anchor="ctr"/>
          <a:lstStyle/>
          <a:p>
            <a:pPr indent="0" marL="0">
              <a:buNone/>
            </a:pPr>
            <a:r>
              <a:rPr lang="en-US" sz="1450" i="1" dirty="0">
                <a:solidFill>
                  <a:srgbClr val="5C6B63"/>
                </a:solidFill>
                <a:latin typeface="Calibri" pitchFamily="34" charset="0"/>
                <a:ea typeface="Calibri" pitchFamily="34" charset="-122"/>
                <a:cs typeface="Calibri" pitchFamily="34" charset="-120"/>
              </a:rPr>
              <a:t>Source: NASA POWER — daily hydrometeorological reanalysis / model data</a:t>
            </a:r>
            <a:endParaRPr lang="en-US" sz="1450" dirty="0"/>
          </a:p>
        </p:txBody>
      </p:sp>
      <p:sp>
        <p:nvSpPr>
          <p:cNvPr id="46" name="Text 34"/>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4 / 23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SYSTEM OVERVIEW</a:t>
            </a:r>
            <a:endParaRPr lang="en-US" sz="1300" dirty="0"/>
          </a:p>
        </p:txBody>
      </p:sp>
      <p:sp>
        <p:nvSpPr>
          <p:cNvPr id="3" name="Text 1"/>
          <p:cNvSpPr txBox="1"/>
          <p:nvPr/>
        </p:nvSpPr>
        <p:spPr>
          <a:xfrm>
            <a:off x="548640" y="566928"/>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End-to-End Architecture — Weeks 1–3 Scope</a:t>
            </a:r>
            <a:endParaRPr lang="en-US" sz="3200" dirty="0"/>
          </a:p>
        </p:txBody>
      </p:sp>
      <p:sp>
        <p:nvSpPr>
          <p:cNvPr id="4" name="Shape 2"/>
          <p:cNvSpPr/>
          <p:nvPr/>
        </p:nvSpPr>
        <p:spPr>
          <a:xfrm>
            <a:off x="548640" y="1874520"/>
            <a:ext cx="1627632" cy="1371600"/>
          </a:xfrm>
          <a:prstGeom prst="roundRect">
            <a:avLst>
              <a:gd name="adj" fmla="val 6667"/>
            </a:avLst>
          </a:prstGeom>
          <a:solidFill>
            <a:srgbClr val="EAF6EC"/>
          </a:solidFill>
          <a:ln w="12700">
            <a:solidFill>
              <a:srgbClr val="CFE8D2"/>
            </a:solidFill>
            <a:prstDash val="solid"/>
          </a:ln>
        </p:spPr>
      </p:sp>
      <p:sp>
        <p:nvSpPr>
          <p:cNvPr id="5" name="Shape 3"/>
          <p:cNvSpPr/>
          <p:nvPr/>
        </p:nvSpPr>
        <p:spPr>
          <a:xfrm>
            <a:off x="1106424" y="2039112"/>
            <a:ext cx="512064" cy="512064"/>
          </a:xfrm>
          <a:prstGeom prst="ellipse">
            <a:avLst/>
          </a:prstGeom>
          <a:solidFill>
            <a:srgbClr val="1F7A3D"/>
          </a:solidFill>
          <a:ln/>
        </p:spPr>
      </p:sp>
      <p:pic>
        <p:nvPicPr>
          <p:cNvPr id="6" name="Image 0" descr="/home/claude/hydromet_ppt/icons/satellite.png">    </p:cNvPr>
          <p:cNvPicPr>
            <a:picLocks noChangeAspect="1"/>
          </p:cNvPicPr>
          <p:nvPr/>
        </p:nvPicPr>
        <p:blipFill>
          <a:blip r:embed="rId1"/>
          <a:stretch>
            <a:fillRect/>
          </a:stretch>
        </p:blipFill>
        <p:spPr>
          <a:xfrm>
            <a:off x="1221638" y="2154326"/>
            <a:ext cx="281635" cy="281635"/>
          </a:xfrm>
          <a:prstGeom prst="rect">
            <a:avLst/>
          </a:prstGeom>
        </p:spPr>
      </p:pic>
      <p:sp>
        <p:nvSpPr>
          <p:cNvPr id="7" name="Text 4"/>
          <p:cNvSpPr txBox="1"/>
          <p:nvPr/>
        </p:nvSpPr>
        <p:spPr>
          <a:xfrm>
            <a:off x="548640" y="2624328"/>
            <a:ext cx="1627632" cy="548640"/>
          </a:xfrm>
          <a:prstGeom prst="rect">
            <a:avLst/>
          </a:prstGeom>
          <a:noFill/>
          <a:ln/>
        </p:spPr>
        <p:txBody>
          <a:bodyPr wrap="square" lIns="0" tIns="0" rIns="0" bIns="0" rtlCol="0" anchor="t"/>
          <a:lstStyle/>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NASA POWER</a:t>
            </a:r>
            <a:endParaRPr lang="en-US" sz="1250" dirty="0"/>
          </a:p>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API</a:t>
            </a:r>
            <a:endParaRPr lang="en-US" sz="1250" dirty="0"/>
          </a:p>
        </p:txBody>
      </p:sp>
      <p:sp>
        <p:nvSpPr>
          <p:cNvPr id="8" name="Shape 5"/>
          <p:cNvSpPr/>
          <p:nvPr/>
        </p:nvSpPr>
        <p:spPr>
          <a:xfrm>
            <a:off x="2208159" y="2496312"/>
            <a:ext cx="201951" cy="128016"/>
          </a:xfrm>
          <a:prstGeom prst="rightArrow">
            <a:avLst/>
          </a:prstGeom>
          <a:solidFill>
            <a:srgbClr val="D9A441"/>
          </a:solidFill>
          <a:ln/>
        </p:spPr>
      </p:sp>
      <p:sp>
        <p:nvSpPr>
          <p:cNvPr id="9" name="Shape 6"/>
          <p:cNvSpPr/>
          <p:nvPr/>
        </p:nvSpPr>
        <p:spPr>
          <a:xfrm>
            <a:off x="2441997" y="1874520"/>
            <a:ext cx="1627632" cy="1371600"/>
          </a:xfrm>
          <a:prstGeom prst="roundRect">
            <a:avLst>
              <a:gd name="adj" fmla="val 6667"/>
            </a:avLst>
          </a:prstGeom>
          <a:solidFill>
            <a:srgbClr val="EAF6EC"/>
          </a:solidFill>
          <a:ln w="12700">
            <a:solidFill>
              <a:srgbClr val="CFE8D2"/>
            </a:solidFill>
            <a:prstDash val="solid"/>
          </a:ln>
        </p:spPr>
      </p:sp>
      <p:sp>
        <p:nvSpPr>
          <p:cNvPr id="10" name="Shape 7"/>
          <p:cNvSpPr/>
          <p:nvPr/>
        </p:nvSpPr>
        <p:spPr>
          <a:xfrm>
            <a:off x="2999781" y="2039112"/>
            <a:ext cx="512064" cy="512064"/>
          </a:xfrm>
          <a:prstGeom prst="ellipse">
            <a:avLst/>
          </a:prstGeom>
          <a:solidFill>
            <a:srgbClr val="1F7A3D"/>
          </a:solidFill>
          <a:ln/>
        </p:spPr>
      </p:sp>
      <p:pic>
        <p:nvPicPr>
          <p:cNvPr id="11" name="Image 1" descr="/home/claude/hydromet_ppt/icons/layers.png">    </p:cNvPr>
          <p:cNvPicPr>
            <a:picLocks noChangeAspect="1"/>
          </p:cNvPicPr>
          <p:nvPr/>
        </p:nvPicPr>
        <p:blipFill>
          <a:blip r:embed="rId2"/>
          <a:stretch>
            <a:fillRect/>
          </a:stretch>
        </p:blipFill>
        <p:spPr>
          <a:xfrm>
            <a:off x="3114995" y="2154326"/>
            <a:ext cx="281635" cy="281635"/>
          </a:xfrm>
          <a:prstGeom prst="rect">
            <a:avLst/>
          </a:prstGeom>
        </p:spPr>
      </p:pic>
      <p:sp>
        <p:nvSpPr>
          <p:cNvPr id="12" name="Text 8"/>
          <p:cNvSpPr txBox="1"/>
          <p:nvPr/>
        </p:nvSpPr>
        <p:spPr>
          <a:xfrm>
            <a:off x="2441997" y="2624328"/>
            <a:ext cx="1627632" cy="548640"/>
          </a:xfrm>
          <a:prstGeom prst="rect">
            <a:avLst/>
          </a:prstGeom>
          <a:noFill/>
          <a:ln/>
        </p:spPr>
        <p:txBody>
          <a:bodyPr wrap="square" lIns="0" tIns="0" rIns="0" bIns="0" rtlCol="0" anchor="t"/>
          <a:lstStyle/>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Raw</a:t>
            </a:r>
            <a:endParaRPr lang="en-US" sz="1250" dirty="0"/>
          </a:p>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JSON</a:t>
            </a:r>
            <a:endParaRPr lang="en-US" sz="1250" dirty="0"/>
          </a:p>
        </p:txBody>
      </p:sp>
      <p:sp>
        <p:nvSpPr>
          <p:cNvPr id="13" name="Shape 9"/>
          <p:cNvSpPr/>
          <p:nvPr/>
        </p:nvSpPr>
        <p:spPr>
          <a:xfrm>
            <a:off x="4101516" y="2496312"/>
            <a:ext cx="201951" cy="128016"/>
          </a:xfrm>
          <a:prstGeom prst="rightArrow">
            <a:avLst/>
          </a:prstGeom>
          <a:solidFill>
            <a:srgbClr val="D9A441"/>
          </a:solidFill>
          <a:ln/>
        </p:spPr>
      </p:sp>
      <p:sp>
        <p:nvSpPr>
          <p:cNvPr id="14" name="Shape 10"/>
          <p:cNvSpPr/>
          <p:nvPr/>
        </p:nvSpPr>
        <p:spPr>
          <a:xfrm>
            <a:off x="4335353" y="1874520"/>
            <a:ext cx="1627632" cy="1371600"/>
          </a:xfrm>
          <a:prstGeom prst="roundRect">
            <a:avLst>
              <a:gd name="adj" fmla="val 6667"/>
            </a:avLst>
          </a:prstGeom>
          <a:solidFill>
            <a:srgbClr val="EAF6EC"/>
          </a:solidFill>
          <a:ln w="12700">
            <a:solidFill>
              <a:srgbClr val="CFE8D2"/>
            </a:solidFill>
            <a:prstDash val="solid"/>
          </a:ln>
        </p:spPr>
      </p:sp>
      <p:sp>
        <p:nvSpPr>
          <p:cNvPr id="15" name="Shape 11"/>
          <p:cNvSpPr/>
          <p:nvPr/>
        </p:nvSpPr>
        <p:spPr>
          <a:xfrm>
            <a:off x="4893137" y="2039112"/>
            <a:ext cx="512064" cy="512064"/>
          </a:xfrm>
          <a:prstGeom prst="ellipse">
            <a:avLst/>
          </a:prstGeom>
          <a:solidFill>
            <a:srgbClr val="1F7A3D"/>
          </a:solidFill>
          <a:ln/>
        </p:spPr>
      </p:sp>
      <p:pic>
        <p:nvPicPr>
          <p:cNvPr id="16" name="Image 2" descr="/home/claude/hydromet_ppt/icons/check.png">    </p:cNvPr>
          <p:cNvPicPr>
            <a:picLocks noChangeAspect="1"/>
          </p:cNvPicPr>
          <p:nvPr/>
        </p:nvPicPr>
        <p:blipFill>
          <a:blip r:embed="rId3"/>
          <a:stretch>
            <a:fillRect/>
          </a:stretch>
        </p:blipFill>
        <p:spPr>
          <a:xfrm>
            <a:off x="5008352" y="2154326"/>
            <a:ext cx="281635" cy="281635"/>
          </a:xfrm>
          <a:prstGeom prst="rect">
            <a:avLst/>
          </a:prstGeom>
        </p:spPr>
      </p:pic>
      <p:sp>
        <p:nvSpPr>
          <p:cNvPr id="17" name="Text 12"/>
          <p:cNvSpPr txBox="1"/>
          <p:nvPr/>
        </p:nvSpPr>
        <p:spPr>
          <a:xfrm>
            <a:off x="4335353" y="2624328"/>
            <a:ext cx="1627632" cy="548640"/>
          </a:xfrm>
          <a:prstGeom prst="rect">
            <a:avLst/>
          </a:prstGeom>
          <a:noFill/>
          <a:ln/>
        </p:spPr>
        <p:txBody>
          <a:bodyPr wrap="square" lIns="0" tIns="0" rIns="0" bIns="0" rtlCol="0" anchor="t"/>
          <a:lstStyle/>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Validation</a:t>
            </a:r>
            <a:endParaRPr lang="en-US" sz="1250" dirty="0"/>
          </a:p>
        </p:txBody>
      </p:sp>
      <p:sp>
        <p:nvSpPr>
          <p:cNvPr id="18" name="Shape 13"/>
          <p:cNvSpPr/>
          <p:nvPr/>
        </p:nvSpPr>
        <p:spPr>
          <a:xfrm>
            <a:off x="5994872" y="2496312"/>
            <a:ext cx="201951" cy="128016"/>
          </a:xfrm>
          <a:prstGeom prst="rightArrow">
            <a:avLst/>
          </a:prstGeom>
          <a:solidFill>
            <a:srgbClr val="D9A441"/>
          </a:solidFill>
          <a:ln/>
        </p:spPr>
      </p:sp>
      <p:sp>
        <p:nvSpPr>
          <p:cNvPr id="19" name="Shape 14"/>
          <p:cNvSpPr/>
          <p:nvPr/>
        </p:nvSpPr>
        <p:spPr>
          <a:xfrm>
            <a:off x="6228710" y="1874520"/>
            <a:ext cx="1627632" cy="1371600"/>
          </a:xfrm>
          <a:prstGeom prst="roundRect">
            <a:avLst>
              <a:gd name="adj" fmla="val 6667"/>
            </a:avLst>
          </a:prstGeom>
          <a:solidFill>
            <a:srgbClr val="EAF6EC"/>
          </a:solidFill>
          <a:ln w="12700">
            <a:solidFill>
              <a:srgbClr val="CFE8D2"/>
            </a:solidFill>
            <a:prstDash val="solid"/>
          </a:ln>
        </p:spPr>
      </p:sp>
      <p:sp>
        <p:nvSpPr>
          <p:cNvPr id="20" name="Shape 15"/>
          <p:cNvSpPr/>
          <p:nvPr/>
        </p:nvSpPr>
        <p:spPr>
          <a:xfrm>
            <a:off x="6786494" y="2039112"/>
            <a:ext cx="512064" cy="512064"/>
          </a:xfrm>
          <a:prstGeom prst="ellipse">
            <a:avLst/>
          </a:prstGeom>
          <a:solidFill>
            <a:srgbClr val="1F7A3D"/>
          </a:solidFill>
          <a:ln/>
        </p:spPr>
      </p:sp>
      <p:pic>
        <p:nvPicPr>
          <p:cNvPr id="21" name="Image 3" descr="/home/claude/hydromet_ppt/icons/random.png">    </p:cNvPr>
          <p:cNvPicPr>
            <a:picLocks noChangeAspect="1"/>
          </p:cNvPicPr>
          <p:nvPr/>
        </p:nvPicPr>
        <p:blipFill>
          <a:blip r:embed="rId4"/>
          <a:stretch>
            <a:fillRect/>
          </a:stretch>
        </p:blipFill>
        <p:spPr>
          <a:xfrm>
            <a:off x="6901708" y="2154326"/>
            <a:ext cx="281635" cy="281635"/>
          </a:xfrm>
          <a:prstGeom prst="rect">
            <a:avLst/>
          </a:prstGeom>
        </p:spPr>
      </p:pic>
      <p:sp>
        <p:nvSpPr>
          <p:cNvPr id="22" name="Text 16"/>
          <p:cNvSpPr txBox="1"/>
          <p:nvPr/>
        </p:nvSpPr>
        <p:spPr>
          <a:xfrm>
            <a:off x="6228710" y="2624328"/>
            <a:ext cx="1627632" cy="548640"/>
          </a:xfrm>
          <a:prstGeom prst="rect">
            <a:avLst/>
          </a:prstGeom>
          <a:noFill/>
          <a:ln/>
        </p:spPr>
        <p:txBody>
          <a:bodyPr wrap="square" lIns="0" tIns="0" rIns="0" bIns="0" rtlCol="0" anchor="t"/>
          <a:lstStyle/>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Transform-</a:t>
            </a:r>
            <a:endParaRPr lang="en-US" sz="1250" dirty="0"/>
          </a:p>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ation</a:t>
            </a:r>
            <a:endParaRPr lang="en-US" sz="1250" dirty="0"/>
          </a:p>
        </p:txBody>
      </p:sp>
      <p:sp>
        <p:nvSpPr>
          <p:cNvPr id="23" name="Shape 17"/>
          <p:cNvSpPr/>
          <p:nvPr/>
        </p:nvSpPr>
        <p:spPr>
          <a:xfrm>
            <a:off x="7888229" y="2496312"/>
            <a:ext cx="201951" cy="128016"/>
          </a:xfrm>
          <a:prstGeom prst="rightArrow">
            <a:avLst/>
          </a:prstGeom>
          <a:solidFill>
            <a:srgbClr val="D9A441"/>
          </a:solidFill>
          <a:ln/>
        </p:spPr>
      </p:sp>
      <p:sp>
        <p:nvSpPr>
          <p:cNvPr id="24" name="Shape 18"/>
          <p:cNvSpPr/>
          <p:nvPr/>
        </p:nvSpPr>
        <p:spPr>
          <a:xfrm>
            <a:off x="8122067" y="1874520"/>
            <a:ext cx="1627632" cy="1371600"/>
          </a:xfrm>
          <a:prstGeom prst="roundRect">
            <a:avLst>
              <a:gd name="adj" fmla="val 6667"/>
            </a:avLst>
          </a:prstGeom>
          <a:solidFill>
            <a:srgbClr val="EAF6EC"/>
          </a:solidFill>
          <a:ln w="12700">
            <a:solidFill>
              <a:srgbClr val="CFE8D2"/>
            </a:solidFill>
            <a:prstDash val="solid"/>
          </a:ln>
        </p:spPr>
      </p:sp>
      <p:sp>
        <p:nvSpPr>
          <p:cNvPr id="25" name="Shape 19"/>
          <p:cNvSpPr/>
          <p:nvPr/>
        </p:nvSpPr>
        <p:spPr>
          <a:xfrm>
            <a:off x="8679851" y="2039112"/>
            <a:ext cx="512064" cy="512064"/>
          </a:xfrm>
          <a:prstGeom prst="ellipse">
            <a:avLst/>
          </a:prstGeom>
          <a:solidFill>
            <a:srgbClr val="1F7A3D"/>
          </a:solidFill>
          <a:ln/>
        </p:spPr>
      </p:sp>
      <p:pic>
        <p:nvPicPr>
          <p:cNvPr id="26" name="Image 4" descr="/home/claude/hydromet_ppt/icons/table.png">    </p:cNvPr>
          <p:cNvPicPr>
            <a:picLocks noChangeAspect="1"/>
          </p:cNvPicPr>
          <p:nvPr/>
        </p:nvPicPr>
        <p:blipFill>
          <a:blip r:embed="rId5"/>
          <a:stretch>
            <a:fillRect/>
          </a:stretch>
        </p:blipFill>
        <p:spPr>
          <a:xfrm>
            <a:off x="8795065" y="2154326"/>
            <a:ext cx="281635" cy="281635"/>
          </a:xfrm>
          <a:prstGeom prst="rect">
            <a:avLst/>
          </a:prstGeom>
        </p:spPr>
      </p:pic>
      <p:sp>
        <p:nvSpPr>
          <p:cNvPr id="27" name="Text 20"/>
          <p:cNvSpPr txBox="1"/>
          <p:nvPr/>
        </p:nvSpPr>
        <p:spPr>
          <a:xfrm>
            <a:off x="8122067" y="2624328"/>
            <a:ext cx="1627632" cy="548640"/>
          </a:xfrm>
          <a:prstGeom prst="rect">
            <a:avLst/>
          </a:prstGeom>
          <a:noFill/>
          <a:ln/>
        </p:spPr>
        <p:txBody>
          <a:bodyPr wrap="square" lIns="0" tIns="0" rIns="0" bIns="0" rtlCol="0" anchor="t"/>
          <a:lstStyle/>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Interim</a:t>
            </a:r>
            <a:endParaRPr lang="en-US" sz="1250" dirty="0"/>
          </a:p>
          <a:p>
            <a:pPr algn="ctr" indent="0" marL="0">
              <a:lnSpc>
                <a:spcPct val="100000"/>
              </a:lnSpc>
              <a:buNone/>
            </a:pPr>
            <a:r>
              <a:rPr lang="en-US" sz="1250" b="1" dirty="0">
                <a:solidFill>
                  <a:srgbClr val="17241C"/>
                </a:solidFill>
                <a:latin typeface="Calibri" pitchFamily="34" charset="0"/>
                <a:ea typeface="Calibri" pitchFamily="34" charset="-122"/>
                <a:cs typeface="Calibri" pitchFamily="34" charset="-120"/>
              </a:rPr>
              <a:t>CSV</a:t>
            </a:r>
            <a:endParaRPr lang="en-US" sz="1250" dirty="0"/>
          </a:p>
        </p:txBody>
      </p:sp>
      <p:sp>
        <p:nvSpPr>
          <p:cNvPr id="28" name="Shape 21"/>
          <p:cNvSpPr/>
          <p:nvPr/>
        </p:nvSpPr>
        <p:spPr>
          <a:xfrm>
            <a:off x="9781586" y="2496312"/>
            <a:ext cx="201951" cy="128016"/>
          </a:xfrm>
          <a:prstGeom prst="rightArrow">
            <a:avLst/>
          </a:prstGeom>
          <a:solidFill>
            <a:srgbClr val="D9A441"/>
          </a:solidFill>
          <a:ln/>
        </p:spPr>
      </p:sp>
      <p:sp>
        <p:nvSpPr>
          <p:cNvPr id="29" name="Shape 22"/>
          <p:cNvSpPr/>
          <p:nvPr/>
        </p:nvSpPr>
        <p:spPr>
          <a:xfrm>
            <a:off x="10015423" y="1874520"/>
            <a:ext cx="1627632" cy="1371600"/>
          </a:xfrm>
          <a:prstGeom prst="roundRect">
            <a:avLst>
              <a:gd name="adj" fmla="val 6667"/>
            </a:avLst>
          </a:prstGeom>
          <a:solidFill>
            <a:srgbClr val="0F3320"/>
          </a:solidFill>
          <a:ln w="19050">
            <a:solidFill>
              <a:srgbClr val="D9A441"/>
            </a:solidFill>
            <a:prstDash val="solid"/>
          </a:ln>
        </p:spPr>
      </p:sp>
      <p:sp>
        <p:nvSpPr>
          <p:cNvPr id="30" name="Shape 23"/>
          <p:cNvSpPr/>
          <p:nvPr/>
        </p:nvSpPr>
        <p:spPr>
          <a:xfrm>
            <a:off x="10573207" y="2039112"/>
            <a:ext cx="512064" cy="512064"/>
          </a:xfrm>
          <a:prstGeom prst="ellipse">
            <a:avLst/>
          </a:prstGeom>
          <a:solidFill>
            <a:srgbClr val="D9A441"/>
          </a:solidFill>
          <a:ln/>
        </p:spPr>
      </p:sp>
      <p:pic>
        <p:nvPicPr>
          <p:cNvPr id="31" name="Image 5" descr="/home/claude/hydromet_ppt/icons/database.png">    </p:cNvPr>
          <p:cNvPicPr>
            <a:picLocks noChangeAspect="1"/>
          </p:cNvPicPr>
          <p:nvPr/>
        </p:nvPicPr>
        <p:blipFill>
          <a:blip r:embed="rId6"/>
          <a:stretch>
            <a:fillRect/>
          </a:stretch>
        </p:blipFill>
        <p:spPr>
          <a:xfrm>
            <a:off x="10688422" y="2154326"/>
            <a:ext cx="281635" cy="281635"/>
          </a:xfrm>
          <a:prstGeom prst="rect">
            <a:avLst/>
          </a:prstGeom>
        </p:spPr>
      </p:pic>
      <p:sp>
        <p:nvSpPr>
          <p:cNvPr id="32" name="Text 24"/>
          <p:cNvSpPr txBox="1"/>
          <p:nvPr/>
        </p:nvSpPr>
        <p:spPr>
          <a:xfrm>
            <a:off x="10015423" y="2624328"/>
            <a:ext cx="1627632" cy="54864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Analytical DB</a:t>
            </a:r>
            <a:endParaRPr lang="en-US" sz="1250" dirty="0"/>
          </a:p>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(Star Schema)</a:t>
            </a:r>
            <a:endParaRPr lang="en-US" sz="1250" dirty="0"/>
          </a:p>
        </p:txBody>
      </p:sp>
      <p:sp>
        <p:nvSpPr>
          <p:cNvPr id="33" name="Shape 25"/>
          <p:cNvSpPr/>
          <p:nvPr/>
        </p:nvSpPr>
        <p:spPr>
          <a:xfrm>
            <a:off x="426568" y="3977640"/>
            <a:ext cx="3566160" cy="1737360"/>
          </a:xfrm>
          <a:prstGeom prst="roundRect">
            <a:avLst>
              <a:gd name="adj" fmla="val 6316"/>
            </a:avLst>
          </a:prstGeom>
          <a:solidFill>
            <a:srgbClr val="FFFFFF"/>
          </a:solidFill>
          <a:ln w="19050">
            <a:solidFill>
              <a:srgbClr val="3FA34D"/>
            </a:solidFill>
            <a:prstDash val="solid"/>
          </a:ln>
          <a:effectLst>
            <a:outerShdw sx="100000" sy="100000" kx="0" ky="0" algn="bl" rotWithShape="0" blurRad="76200" dist="25400" dir="5400000">
              <a:srgbClr val="1F2A22">
                <a:alpha val="18000"/>
              </a:srgbClr>
            </a:outerShdw>
          </a:effectLst>
        </p:spPr>
      </p:sp>
      <p:sp>
        <p:nvSpPr>
          <p:cNvPr id="34" name="Shape 26"/>
          <p:cNvSpPr/>
          <p:nvPr/>
        </p:nvSpPr>
        <p:spPr>
          <a:xfrm>
            <a:off x="655168" y="4206240"/>
            <a:ext cx="1051560" cy="365760"/>
          </a:xfrm>
          <a:prstGeom prst="roundRect">
            <a:avLst>
              <a:gd name="adj" fmla="val 50000"/>
            </a:avLst>
          </a:prstGeom>
          <a:solidFill>
            <a:srgbClr val="3FA34D"/>
          </a:solidFill>
          <a:ln/>
        </p:spPr>
      </p:sp>
      <p:sp>
        <p:nvSpPr>
          <p:cNvPr id="35" name="Text 27"/>
          <p:cNvSpPr txBox="1"/>
          <p:nvPr/>
        </p:nvSpPr>
        <p:spPr>
          <a:xfrm>
            <a:off x="655168" y="4206240"/>
            <a:ext cx="10515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WEEK 1</a:t>
            </a:r>
            <a:endParaRPr lang="en-US" sz="1300" dirty="0"/>
          </a:p>
        </p:txBody>
      </p:sp>
      <p:sp>
        <p:nvSpPr>
          <p:cNvPr id="36" name="Text 28"/>
          <p:cNvSpPr txBox="1"/>
          <p:nvPr/>
        </p:nvSpPr>
        <p:spPr>
          <a:xfrm>
            <a:off x="655168" y="4663440"/>
            <a:ext cx="3108960" cy="411480"/>
          </a:xfrm>
          <a:prstGeom prst="rect">
            <a:avLst/>
          </a:prstGeom>
          <a:noFill/>
          <a:ln/>
        </p:spPr>
        <p:txBody>
          <a:bodyPr wrap="square" lIns="0" tIns="0" rIns="0" bIns="0" rtlCol="0" anchor="ctr"/>
          <a:lstStyle/>
          <a:p>
            <a:pPr indent="0" marL="0">
              <a:buNone/>
            </a:pPr>
            <a:r>
              <a:rPr lang="en-US" sz="1900" b="1" dirty="0">
                <a:solidFill>
                  <a:srgbClr val="0F3320"/>
                </a:solidFill>
                <a:latin typeface="Cambria" pitchFamily="34" charset="0"/>
                <a:ea typeface="Cambria" pitchFamily="34" charset="-122"/>
                <a:cs typeface="Cambria" pitchFamily="34" charset="-120"/>
              </a:rPr>
              <a:t>Understand</a:t>
            </a:r>
            <a:endParaRPr lang="en-US" sz="1900" dirty="0"/>
          </a:p>
        </p:txBody>
      </p:sp>
      <p:sp>
        <p:nvSpPr>
          <p:cNvPr id="37" name="Text 29"/>
          <p:cNvSpPr txBox="1"/>
          <p:nvPr/>
        </p:nvSpPr>
        <p:spPr>
          <a:xfrm>
            <a:off x="655168" y="5120640"/>
            <a:ext cx="3108960" cy="502920"/>
          </a:xfrm>
          <a:prstGeom prst="rect">
            <a:avLst/>
          </a:prstGeom>
          <a:noFill/>
          <a:ln/>
        </p:spPr>
        <p:txBody>
          <a:bodyPr wrap="square" lIns="0" tIns="0" rIns="0" bIns="0" rtlCol="0" anchor="ctr"/>
          <a:lstStyle/>
          <a:p>
            <a:pPr indent="0" marL="0">
              <a:lnSpc>
                <a:spcPct val="105000"/>
              </a:lnSpc>
              <a:buNone/>
            </a:pPr>
            <a:r>
              <a:rPr lang="en-US" sz="1450" dirty="0">
                <a:solidFill>
                  <a:srgbClr val="5C6B63"/>
                </a:solidFill>
                <a:latin typeface="Calibri" pitchFamily="34" charset="0"/>
                <a:ea typeface="Calibri" pitchFamily="34" charset="-122"/>
                <a:cs typeface="Calibri" pitchFamily="34" charset="-120"/>
              </a:rPr>
              <a:t>Profiling the raw feed</a:t>
            </a:r>
            <a:endParaRPr lang="en-US" sz="1450" dirty="0"/>
          </a:p>
        </p:txBody>
      </p:sp>
      <p:sp>
        <p:nvSpPr>
          <p:cNvPr id="38" name="Shape 30"/>
          <p:cNvSpPr/>
          <p:nvPr/>
        </p:nvSpPr>
        <p:spPr>
          <a:xfrm>
            <a:off x="4029304" y="4805172"/>
            <a:ext cx="246888" cy="82296"/>
          </a:xfrm>
          <a:prstGeom prst="rightArrow">
            <a:avLst/>
          </a:prstGeom>
          <a:solidFill>
            <a:srgbClr val="D9A441"/>
          </a:solidFill>
          <a:ln/>
        </p:spPr>
      </p:sp>
      <p:sp>
        <p:nvSpPr>
          <p:cNvPr id="39" name="Shape 31"/>
          <p:cNvSpPr/>
          <p:nvPr/>
        </p:nvSpPr>
        <p:spPr>
          <a:xfrm>
            <a:off x="4312768" y="3977640"/>
            <a:ext cx="3566160" cy="1737360"/>
          </a:xfrm>
          <a:prstGeom prst="roundRect">
            <a:avLst>
              <a:gd name="adj" fmla="val 6316"/>
            </a:avLst>
          </a:prstGeom>
          <a:solidFill>
            <a:srgbClr val="FFFFFF"/>
          </a:solidFill>
          <a:ln w="19050">
            <a:solidFill>
              <a:srgbClr val="1F7A3D"/>
            </a:solidFill>
            <a:prstDash val="solid"/>
          </a:ln>
          <a:effectLst>
            <a:outerShdw sx="100000" sy="100000" kx="0" ky="0" algn="bl" rotWithShape="0" blurRad="76200" dist="25400" dir="5400000">
              <a:srgbClr val="1F2A22">
                <a:alpha val="18000"/>
              </a:srgbClr>
            </a:outerShdw>
          </a:effectLst>
        </p:spPr>
      </p:sp>
      <p:sp>
        <p:nvSpPr>
          <p:cNvPr id="40" name="Shape 32"/>
          <p:cNvSpPr/>
          <p:nvPr/>
        </p:nvSpPr>
        <p:spPr>
          <a:xfrm>
            <a:off x="4541368" y="4206240"/>
            <a:ext cx="1051560" cy="365760"/>
          </a:xfrm>
          <a:prstGeom prst="roundRect">
            <a:avLst>
              <a:gd name="adj" fmla="val 50000"/>
            </a:avLst>
          </a:prstGeom>
          <a:solidFill>
            <a:srgbClr val="1F7A3D"/>
          </a:solidFill>
          <a:ln/>
        </p:spPr>
      </p:sp>
      <p:sp>
        <p:nvSpPr>
          <p:cNvPr id="41" name="Text 33"/>
          <p:cNvSpPr txBox="1"/>
          <p:nvPr/>
        </p:nvSpPr>
        <p:spPr>
          <a:xfrm>
            <a:off x="4541368" y="4206240"/>
            <a:ext cx="10515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WEEK 2</a:t>
            </a:r>
            <a:endParaRPr lang="en-US" sz="1300" dirty="0"/>
          </a:p>
        </p:txBody>
      </p:sp>
      <p:sp>
        <p:nvSpPr>
          <p:cNvPr id="42" name="Text 34"/>
          <p:cNvSpPr txBox="1"/>
          <p:nvPr/>
        </p:nvSpPr>
        <p:spPr>
          <a:xfrm>
            <a:off x="4541368" y="4663440"/>
            <a:ext cx="3108960" cy="411480"/>
          </a:xfrm>
          <a:prstGeom prst="rect">
            <a:avLst/>
          </a:prstGeom>
          <a:noFill/>
          <a:ln/>
        </p:spPr>
        <p:txBody>
          <a:bodyPr wrap="square" lIns="0" tIns="0" rIns="0" bIns="0" rtlCol="0" anchor="ctr"/>
          <a:lstStyle/>
          <a:p>
            <a:pPr indent="0" marL="0">
              <a:buNone/>
            </a:pPr>
            <a:r>
              <a:rPr lang="en-US" sz="1900" b="1" dirty="0">
                <a:solidFill>
                  <a:srgbClr val="0F3320"/>
                </a:solidFill>
                <a:latin typeface="Cambria" pitchFamily="34" charset="0"/>
                <a:ea typeface="Cambria" pitchFamily="34" charset="-122"/>
                <a:cs typeface="Cambria" pitchFamily="34" charset="-120"/>
              </a:rPr>
              <a:t>Design</a:t>
            </a:r>
            <a:endParaRPr lang="en-US" sz="1900" dirty="0"/>
          </a:p>
        </p:txBody>
      </p:sp>
      <p:sp>
        <p:nvSpPr>
          <p:cNvPr id="43" name="Text 35"/>
          <p:cNvSpPr txBox="1"/>
          <p:nvPr/>
        </p:nvSpPr>
        <p:spPr>
          <a:xfrm>
            <a:off x="4541368" y="5120640"/>
            <a:ext cx="3108960" cy="502920"/>
          </a:xfrm>
          <a:prstGeom prst="rect">
            <a:avLst/>
          </a:prstGeom>
          <a:noFill/>
          <a:ln/>
        </p:spPr>
        <p:txBody>
          <a:bodyPr wrap="square" lIns="0" tIns="0" rIns="0" bIns="0" rtlCol="0" anchor="ctr"/>
          <a:lstStyle/>
          <a:p>
            <a:pPr indent="0" marL="0">
              <a:lnSpc>
                <a:spcPct val="105000"/>
              </a:lnSpc>
              <a:buNone/>
            </a:pPr>
            <a:r>
              <a:rPr lang="en-US" sz="1450" dirty="0">
                <a:solidFill>
                  <a:srgbClr val="5C6B63"/>
                </a:solidFill>
                <a:latin typeface="Calibri" pitchFamily="34" charset="0"/>
                <a:ea typeface="Calibri" pitchFamily="34" charset="-122"/>
                <a:cs typeface="Calibri" pitchFamily="34" charset="-120"/>
              </a:rPr>
              <a:t>Star-schema analytical model</a:t>
            </a:r>
            <a:endParaRPr lang="en-US" sz="1450" dirty="0"/>
          </a:p>
        </p:txBody>
      </p:sp>
      <p:sp>
        <p:nvSpPr>
          <p:cNvPr id="44" name="Shape 36"/>
          <p:cNvSpPr/>
          <p:nvPr/>
        </p:nvSpPr>
        <p:spPr>
          <a:xfrm>
            <a:off x="7915504" y="4805172"/>
            <a:ext cx="246888" cy="82296"/>
          </a:xfrm>
          <a:prstGeom prst="rightArrow">
            <a:avLst/>
          </a:prstGeom>
          <a:solidFill>
            <a:srgbClr val="D9A441"/>
          </a:solidFill>
          <a:ln/>
        </p:spPr>
      </p:sp>
      <p:sp>
        <p:nvSpPr>
          <p:cNvPr id="45" name="Shape 37"/>
          <p:cNvSpPr/>
          <p:nvPr/>
        </p:nvSpPr>
        <p:spPr>
          <a:xfrm>
            <a:off x="8198968" y="3977640"/>
            <a:ext cx="3566160" cy="1737360"/>
          </a:xfrm>
          <a:prstGeom prst="roundRect">
            <a:avLst>
              <a:gd name="adj" fmla="val 6316"/>
            </a:avLst>
          </a:prstGeom>
          <a:solidFill>
            <a:srgbClr val="FFFFFF"/>
          </a:solidFill>
          <a:ln w="19050">
            <a:solidFill>
              <a:srgbClr val="175C2E"/>
            </a:solidFill>
            <a:prstDash val="solid"/>
          </a:ln>
          <a:effectLst>
            <a:outerShdw sx="100000" sy="100000" kx="0" ky="0" algn="bl" rotWithShape="0" blurRad="76200" dist="25400" dir="5400000">
              <a:srgbClr val="1F2A22">
                <a:alpha val="18000"/>
              </a:srgbClr>
            </a:outerShdw>
          </a:effectLst>
        </p:spPr>
      </p:sp>
      <p:sp>
        <p:nvSpPr>
          <p:cNvPr id="46" name="Shape 38"/>
          <p:cNvSpPr/>
          <p:nvPr/>
        </p:nvSpPr>
        <p:spPr>
          <a:xfrm>
            <a:off x="8427568" y="4206240"/>
            <a:ext cx="1051560" cy="365760"/>
          </a:xfrm>
          <a:prstGeom prst="roundRect">
            <a:avLst>
              <a:gd name="adj" fmla="val 50000"/>
            </a:avLst>
          </a:prstGeom>
          <a:solidFill>
            <a:srgbClr val="175C2E"/>
          </a:solidFill>
          <a:ln/>
        </p:spPr>
      </p:sp>
      <p:sp>
        <p:nvSpPr>
          <p:cNvPr id="47" name="Text 39"/>
          <p:cNvSpPr txBox="1"/>
          <p:nvPr/>
        </p:nvSpPr>
        <p:spPr>
          <a:xfrm>
            <a:off x="8427568" y="4206240"/>
            <a:ext cx="10515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WEEK 3</a:t>
            </a:r>
            <a:endParaRPr lang="en-US" sz="1300" dirty="0"/>
          </a:p>
        </p:txBody>
      </p:sp>
      <p:sp>
        <p:nvSpPr>
          <p:cNvPr id="48" name="Text 40"/>
          <p:cNvSpPr txBox="1"/>
          <p:nvPr/>
        </p:nvSpPr>
        <p:spPr>
          <a:xfrm>
            <a:off x="8427568" y="4663440"/>
            <a:ext cx="3108960" cy="411480"/>
          </a:xfrm>
          <a:prstGeom prst="rect">
            <a:avLst/>
          </a:prstGeom>
          <a:noFill/>
          <a:ln/>
        </p:spPr>
        <p:txBody>
          <a:bodyPr wrap="square" lIns="0" tIns="0" rIns="0" bIns="0" rtlCol="0" anchor="ctr"/>
          <a:lstStyle/>
          <a:p>
            <a:pPr indent="0" marL="0">
              <a:buNone/>
            </a:pPr>
            <a:r>
              <a:rPr lang="en-US" sz="1900" b="1" dirty="0">
                <a:solidFill>
                  <a:srgbClr val="0F3320"/>
                </a:solidFill>
                <a:latin typeface="Cambria" pitchFamily="34" charset="0"/>
                <a:ea typeface="Cambria" pitchFamily="34" charset="-122"/>
                <a:cs typeface="Cambria" pitchFamily="34" charset="-120"/>
              </a:rPr>
              <a:t>Engineer</a:t>
            </a:r>
            <a:endParaRPr lang="en-US" sz="1900" dirty="0"/>
          </a:p>
        </p:txBody>
      </p:sp>
      <p:sp>
        <p:nvSpPr>
          <p:cNvPr id="49" name="Text 41"/>
          <p:cNvSpPr txBox="1"/>
          <p:nvPr/>
        </p:nvSpPr>
        <p:spPr>
          <a:xfrm>
            <a:off x="8427568" y="5120640"/>
            <a:ext cx="3108960" cy="502920"/>
          </a:xfrm>
          <a:prstGeom prst="rect">
            <a:avLst/>
          </a:prstGeom>
          <a:noFill/>
          <a:ln/>
        </p:spPr>
        <p:txBody>
          <a:bodyPr wrap="square" lIns="0" tIns="0" rIns="0" bIns="0" rtlCol="0" anchor="ctr"/>
          <a:lstStyle/>
          <a:p>
            <a:pPr indent="0" marL="0">
              <a:lnSpc>
                <a:spcPct val="105000"/>
              </a:lnSpc>
              <a:buNone/>
            </a:pPr>
            <a:r>
              <a:rPr lang="en-US" sz="1450" dirty="0">
                <a:solidFill>
                  <a:srgbClr val="5C6B63"/>
                </a:solidFill>
                <a:latin typeface="Calibri" pitchFamily="34" charset="0"/>
                <a:ea typeface="Calibri" pitchFamily="34" charset="-122"/>
                <a:cs typeface="Calibri" pitchFamily="34" charset="-120"/>
              </a:rPr>
              <a:t>Reliable, idempotent ingestion</a:t>
            </a:r>
            <a:endParaRPr lang="en-US" sz="1450" dirty="0"/>
          </a:p>
        </p:txBody>
      </p:sp>
      <p:sp>
        <p:nvSpPr>
          <p:cNvPr id="50" name="Text 42"/>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5 / 23</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1</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PROBLEM FRAMING &amp; PROFILING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Initial Data Profiling</a:t>
            </a:r>
            <a:endParaRPr lang="en-US" sz="3200" dirty="0"/>
          </a:p>
        </p:txBody>
      </p:sp>
      <p:sp>
        <p:nvSpPr>
          <p:cNvPr id="6" name="Shape 4"/>
          <p:cNvSpPr/>
          <p:nvPr/>
        </p:nvSpPr>
        <p:spPr>
          <a:xfrm>
            <a:off x="548640" y="1691640"/>
            <a:ext cx="6035040" cy="411480"/>
          </a:xfrm>
          <a:prstGeom prst="roundRect">
            <a:avLst>
              <a:gd name="adj" fmla="val 50000"/>
            </a:avLst>
          </a:prstGeom>
          <a:solidFill>
            <a:srgbClr val="D9F0DC"/>
          </a:solidFill>
          <a:ln/>
        </p:spPr>
      </p:sp>
      <p:sp>
        <p:nvSpPr>
          <p:cNvPr id="7" name="Text 5"/>
          <p:cNvSpPr txBox="1"/>
          <p:nvPr/>
        </p:nvSpPr>
        <p:spPr>
          <a:xfrm>
            <a:off x="594360" y="1691640"/>
            <a:ext cx="5943600" cy="411480"/>
          </a:xfrm>
          <a:prstGeom prst="rect">
            <a:avLst/>
          </a:prstGeom>
          <a:noFill/>
          <a:ln/>
        </p:spPr>
        <p:txBody>
          <a:bodyPr wrap="square" lIns="0" tIns="0" rIns="0" bIns="0" rtlCol="0" anchor="ctr"/>
          <a:lstStyle/>
          <a:p>
            <a:pPr algn="ctr" indent="0" marL="0">
              <a:buNone/>
            </a:pPr>
            <a:r>
              <a:rPr lang="en-US" sz="1350" b="1" dirty="0">
                <a:solidFill>
                  <a:srgbClr val="175C2E"/>
                </a:solidFill>
                <a:latin typeface="Calibri" pitchFamily="34" charset="0"/>
                <a:ea typeface="Calibri" pitchFamily="34" charset="-122"/>
                <a:cs typeface="Calibri" pitchFamily="34" charset="-120"/>
              </a:rPr>
              <a:t>notebooks/01_initial_data_profiling.ipynb</a:t>
            </a:r>
            <a:endParaRPr lang="en-US" sz="1350" dirty="0"/>
          </a:p>
        </p:txBody>
      </p:sp>
      <p:sp>
        <p:nvSpPr>
          <p:cNvPr id="8" name="Text 6"/>
          <p:cNvSpPr txBox="1"/>
          <p:nvPr/>
        </p:nvSpPr>
        <p:spPr>
          <a:xfrm>
            <a:off x="548640" y="2212848"/>
            <a:ext cx="7315200" cy="365760"/>
          </a:xfrm>
          <a:prstGeom prst="rect">
            <a:avLst/>
          </a:prstGeom>
          <a:noFill/>
          <a:ln/>
        </p:spPr>
        <p:txBody>
          <a:bodyPr wrap="square" lIns="0" tIns="0" rIns="0" bIns="0" rtlCol="0" anchor="ctr"/>
          <a:lstStyle/>
          <a:p>
            <a:pPr indent="0" marL="0">
              <a:buNone/>
            </a:pPr>
            <a:r>
              <a:rPr lang="en-US" sz="1600" i="1" dirty="0">
                <a:solidFill>
                  <a:srgbClr val="5C6B63"/>
                </a:solidFill>
                <a:latin typeface="Calibri" pitchFamily="34" charset="0"/>
                <a:ea typeface="Calibri" pitchFamily="34" charset="-122"/>
                <a:cs typeface="Calibri" pitchFamily="34" charset="-120"/>
              </a:rPr>
              <a:t>Goal: understand the dataset before designing anything.</a:t>
            </a:r>
            <a:endParaRPr lang="en-US" sz="1600" dirty="0"/>
          </a:p>
        </p:txBody>
      </p:sp>
      <p:sp>
        <p:nvSpPr>
          <p:cNvPr id="9" name="Shape 7"/>
          <p:cNvSpPr/>
          <p:nvPr/>
        </p:nvSpPr>
        <p:spPr>
          <a:xfrm>
            <a:off x="548640" y="2788920"/>
            <a:ext cx="365760" cy="365760"/>
          </a:xfrm>
          <a:prstGeom prst="ellipse">
            <a:avLst/>
          </a:prstGeom>
          <a:solidFill>
            <a:srgbClr val="3FA34D"/>
          </a:solidFill>
          <a:ln/>
        </p:spPr>
      </p:sp>
      <p:pic>
        <p:nvPicPr>
          <p:cNvPr id="10" name="Image 0" descr="/home/claude/hydromet_ppt/icons/check.png">    </p:cNvPr>
          <p:cNvPicPr>
            <a:picLocks noChangeAspect="1"/>
          </p:cNvPicPr>
          <p:nvPr/>
        </p:nvPicPr>
        <p:blipFill>
          <a:blip r:embed="rId1"/>
          <a:stretch>
            <a:fillRect/>
          </a:stretch>
        </p:blipFill>
        <p:spPr>
          <a:xfrm>
            <a:off x="630936" y="2871216"/>
            <a:ext cx="201168" cy="201168"/>
          </a:xfrm>
          <a:prstGeom prst="rect">
            <a:avLst/>
          </a:prstGeom>
        </p:spPr>
      </p:pic>
      <p:sp>
        <p:nvSpPr>
          <p:cNvPr id="11" name="Text 8"/>
          <p:cNvSpPr txBox="1"/>
          <p:nvPr/>
        </p:nvSpPr>
        <p:spPr>
          <a:xfrm>
            <a:off x="1024128" y="2770632"/>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Dataset dimensions &amp; schema / data types</a:t>
            </a:r>
            <a:endParaRPr lang="en-US" sz="1500" dirty="0"/>
          </a:p>
        </p:txBody>
      </p:sp>
      <p:sp>
        <p:nvSpPr>
          <p:cNvPr id="12" name="Shape 9"/>
          <p:cNvSpPr/>
          <p:nvPr/>
        </p:nvSpPr>
        <p:spPr>
          <a:xfrm>
            <a:off x="6035040" y="2788920"/>
            <a:ext cx="365760" cy="365760"/>
          </a:xfrm>
          <a:prstGeom prst="ellipse">
            <a:avLst/>
          </a:prstGeom>
          <a:solidFill>
            <a:srgbClr val="3FA34D"/>
          </a:solidFill>
          <a:ln/>
        </p:spPr>
      </p:sp>
      <p:pic>
        <p:nvPicPr>
          <p:cNvPr id="13" name="Image 1" descr="/home/claude/hydromet_ppt/icons/check.png">    </p:cNvPr>
          <p:cNvPicPr>
            <a:picLocks noChangeAspect="1"/>
          </p:cNvPicPr>
          <p:nvPr/>
        </p:nvPicPr>
        <p:blipFill>
          <a:blip r:embed="rId2"/>
          <a:stretch>
            <a:fillRect/>
          </a:stretch>
        </p:blipFill>
        <p:spPr>
          <a:xfrm>
            <a:off x="6117336" y="2871216"/>
            <a:ext cx="201168" cy="201168"/>
          </a:xfrm>
          <a:prstGeom prst="rect">
            <a:avLst/>
          </a:prstGeom>
        </p:spPr>
      </p:pic>
      <p:sp>
        <p:nvSpPr>
          <p:cNvPr id="14" name="Text 10"/>
          <p:cNvSpPr txBox="1"/>
          <p:nvPr/>
        </p:nvSpPr>
        <p:spPr>
          <a:xfrm>
            <a:off x="6510528" y="2770632"/>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Temporal coverage (date range, gaps)</a:t>
            </a:r>
            <a:endParaRPr lang="en-US" sz="1500" dirty="0"/>
          </a:p>
        </p:txBody>
      </p:sp>
      <p:sp>
        <p:nvSpPr>
          <p:cNvPr id="15" name="Shape 11"/>
          <p:cNvSpPr/>
          <p:nvPr/>
        </p:nvSpPr>
        <p:spPr>
          <a:xfrm>
            <a:off x="548640" y="3355848"/>
            <a:ext cx="365760" cy="365760"/>
          </a:xfrm>
          <a:prstGeom prst="ellipse">
            <a:avLst/>
          </a:prstGeom>
          <a:solidFill>
            <a:srgbClr val="3FA34D"/>
          </a:solidFill>
          <a:ln/>
        </p:spPr>
      </p:sp>
      <p:pic>
        <p:nvPicPr>
          <p:cNvPr id="16" name="Image 2" descr="/home/claude/hydromet_ppt/icons/check.png">    </p:cNvPr>
          <p:cNvPicPr>
            <a:picLocks noChangeAspect="1"/>
          </p:cNvPicPr>
          <p:nvPr/>
        </p:nvPicPr>
        <p:blipFill>
          <a:blip r:embed="rId3"/>
          <a:stretch>
            <a:fillRect/>
          </a:stretch>
        </p:blipFill>
        <p:spPr>
          <a:xfrm>
            <a:off x="630936" y="3438144"/>
            <a:ext cx="201168" cy="201168"/>
          </a:xfrm>
          <a:prstGeom prst="rect">
            <a:avLst/>
          </a:prstGeom>
        </p:spPr>
      </p:pic>
      <p:sp>
        <p:nvSpPr>
          <p:cNvPr id="17" name="Text 12"/>
          <p:cNvSpPr txBox="1"/>
          <p:nvPr/>
        </p:nvSpPr>
        <p:spPr>
          <a:xfrm>
            <a:off x="1024128" y="3337560"/>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Spatial coverage (8 locations)</a:t>
            </a:r>
            <a:endParaRPr lang="en-US" sz="1500" dirty="0"/>
          </a:p>
        </p:txBody>
      </p:sp>
      <p:sp>
        <p:nvSpPr>
          <p:cNvPr id="18" name="Shape 13"/>
          <p:cNvSpPr/>
          <p:nvPr/>
        </p:nvSpPr>
        <p:spPr>
          <a:xfrm>
            <a:off x="6035040" y="3355848"/>
            <a:ext cx="365760" cy="365760"/>
          </a:xfrm>
          <a:prstGeom prst="ellipse">
            <a:avLst/>
          </a:prstGeom>
          <a:solidFill>
            <a:srgbClr val="3FA34D"/>
          </a:solidFill>
          <a:ln/>
        </p:spPr>
      </p:sp>
      <p:pic>
        <p:nvPicPr>
          <p:cNvPr id="19" name="Image 3" descr="/home/claude/hydromet_ppt/icons/check.png">    </p:cNvPr>
          <p:cNvPicPr>
            <a:picLocks noChangeAspect="1"/>
          </p:cNvPicPr>
          <p:nvPr/>
        </p:nvPicPr>
        <p:blipFill>
          <a:blip r:embed="rId4"/>
          <a:stretch>
            <a:fillRect/>
          </a:stretch>
        </p:blipFill>
        <p:spPr>
          <a:xfrm>
            <a:off x="6117336" y="3438144"/>
            <a:ext cx="201168" cy="201168"/>
          </a:xfrm>
          <a:prstGeom prst="rect">
            <a:avLst/>
          </a:prstGeom>
        </p:spPr>
      </p:pic>
      <p:sp>
        <p:nvSpPr>
          <p:cNvPr id="20" name="Text 14"/>
          <p:cNvSpPr txBox="1"/>
          <p:nvPr/>
        </p:nvSpPr>
        <p:spPr>
          <a:xfrm>
            <a:off x="6510528" y="3337560"/>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Descriptive statistics</a:t>
            </a:r>
            <a:endParaRPr lang="en-US" sz="1500" dirty="0"/>
          </a:p>
        </p:txBody>
      </p:sp>
      <p:sp>
        <p:nvSpPr>
          <p:cNvPr id="21" name="Shape 15"/>
          <p:cNvSpPr/>
          <p:nvPr/>
        </p:nvSpPr>
        <p:spPr>
          <a:xfrm>
            <a:off x="548640" y="3922776"/>
            <a:ext cx="365760" cy="365760"/>
          </a:xfrm>
          <a:prstGeom prst="ellipse">
            <a:avLst/>
          </a:prstGeom>
          <a:solidFill>
            <a:srgbClr val="3FA34D"/>
          </a:solidFill>
          <a:ln/>
        </p:spPr>
      </p:sp>
      <p:pic>
        <p:nvPicPr>
          <p:cNvPr id="22" name="Image 4" descr="/home/claude/hydromet_ppt/icons/check.png">    </p:cNvPr>
          <p:cNvPicPr>
            <a:picLocks noChangeAspect="1"/>
          </p:cNvPicPr>
          <p:nvPr/>
        </p:nvPicPr>
        <p:blipFill>
          <a:blip r:embed="rId5"/>
          <a:stretch>
            <a:fillRect/>
          </a:stretch>
        </p:blipFill>
        <p:spPr>
          <a:xfrm>
            <a:off x="630936" y="4005072"/>
            <a:ext cx="201168" cy="201168"/>
          </a:xfrm>
          <a:prstGeom prst="rect">
            <a:avLst/>
          </a:prstGeom>
        </p:spPr>
      </p:pic>
      <p:sp>
        <p:nvSpPr>
          <p:cNvPr id="23" name="Text 16"/>
          <p:cNvSpPr txBox="1"/>
          <p:nvPr/>
        </p:nvSpPr>
        <p:spPr>
          <a:xfrm>
            <a:off x="1024128" y="3904488"/>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Ordinary missing values &amp; fill/sentinel values</a:t>
            </a:r>
            <a:endParaRPr lang="en-US" sz="1500" dirty="0"/>
          </a:p>
        </p:txBody>
      </p:sp>
      <p:sp>
        <p:nvSpPr>
          <p:cNvPr id="24" name="Shape 17"/>
          <p:cNvSpPr/>
          <p:nvPr/>
        </p:nvSpPr>
        <p:spPr>
          <a:xfrm>
            <a:off x="6035040" y="3922776"/>
            <a:ext cx="365760" cy="365760"/>
          </a:xfrm>
          <a:prstGeom prst="ellipse">
            <a:avLst/>
          </a:prstGeom>
          <a:solidFill>
            <a:srgbClr val="3FA34D"/>
          </a:solidFill>
          <a:ln/>
        </p:spPr>
      </p:sp>
      <p:pic>
        <p:nvPicPr>
          <p:cNvPr id="25" name="Image 5" descr="/home/claude/hydromet_ppt/icons/check.png">    </p:cNvPr>
          <p:cNvPicPr>
            <a:picLocks noChangeAspect="1"/>
          </p:cNvPicPr>
          <p:nvPr/>
        </p:nvPicPr>
        <p:blipFill>
          <a:blip r:embed="rId6"/>
          <a:stretch>
            <a:fillRect/>
          </a:stretch>
        </p:blipFill>
        <p:spPr>
          <a:xfrm>
            <a:off x="6117336" y="4005072"/>
            <a:ext cx="201168" cy="201168"/>
          </a:xfrm>
          <a:prstGeom prst="rect">
            <a:avLst/>
          </a:prstGeom>
        </p:spPr>
      </p:pic>
      <p:sp>
        <p:nvSpPr>
          <p:cNvPr id="26" name="Text 18"/>
          <p:cNvSpPr txBox="1"/>
          <p:nvPr/>
        </p:nvSpPr>
        <p:spPr>
          <a:xfrm>
            <a:off x="6510528" y="3904488"/>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Exact duplicates &amp; duplicate location-date keys</a:t>
            </a:r>
            <a:endParaRPr lang="en-US" sz="1500" dirty="0"/>
          </a:p>
        </p:txBody>
      </p:sp>
      <p:sp>
        <p:nvSpPr>
          <p:cNvPr id="27" name="Shape 19"/>
          <p:cNvSpPr/>
          <p:nvPr/>
        </p:nvSpPr>
        <p:spPr>
          <a:xfrm>
            <a:off x="548640" y="4489704"/>
            <a:ext cx="365760" cy="365760"/>
          </a:xfrm>
          <a:prstGeom prst="ellipse">
            <a:avLst/>
          </a:prstGeom>
          <a:solidFill>
            <a:srgbClr val="3FA34D"/>
          </a:solidFill>
          <a:ln/>
        </p:spPr>
      </p:sp>
      <p:pic>
        <p:nvPicPr>
          <p:cNvPr id="28" name="Image 6" descr="/home/claude/hydromet_ppt/icons/check.png">    </p:cNvPr>
          <p:cNvPicPr>
            <a:picLocks noChangeAspect="1"/>
          </p:cNvPicPr>
          <p:nvPr/>
        </p:nvPicPr>
        <p:blipFill>
          <a:blip r:embed="rId7"/>
          <a:stretch>
            <a:fillRect/>
          </a:stretch>
        </p:blipFill>
        <p:spPr>
          <a:xfrm>
            <a:off x="630936" y="4572000"/>
            <a:ext cx="201168" cy="201168"/>
          </a:xfrm>
          <a:prstGeom prst="rect">
            <a:avLst/>
          </a:prstGeom>
        </p:spPr>
      </p:pic>
      <p:sp>
        <p:nvSpPr>
          <p:cNvPr id="29" name="Text 20"/>
          <p:cNvSpPr txBox="1"/>
          <p:nvPr/>
        </p:nvSpPr>
        <p:spPr>
          <a:xfrm>
            <a:off x="1024128" y="4471416"/>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Missing dates</a:t>
            </a:r>
            <a:endParaRPr lang="en-US" sz="1500" dirty="0"/>
          </a:p>
        </p:txBody>
      </p:sp>
      <p:sp>
        <p:nvSpPr>
          <p:cNvPr id="30" name="Shape 21"/>
          <p:cNvSpPr/>
          <p:nvPr/>
        </p:nvSpPr>
        <p:spPr>
          <a:xfrm>
            <a:off x="6035040" y="4489704"/>
            <a:ext cx="365760" cy="365760"/>
          </a:xfrm>
          <a:prstGeom prst="ellipse">
            <a:avLst/>
          </a:prstGeom>
          <a:solidFill>
            <a:srgbClr val="3FA34D"/>
          </a:solidFill>
          <a:ln/>
        </p:spPr>
      </p:sp>
      <p:pic>
        <p:nvPicPr>
          <p:cNvPr id="31" name="Image 7" descr="/home/claude/hydromet_ppt/icons/check.png">    </p:cNvPr>
          <p:cNvPicPr>
            <a:picLocks noChangeAspect="1"/>
          </p:cNvPicPr>
          <p:nvPr/>
        </p:nvPicPr>
        <p:blipFill>
          <a:blip r:embed="rId8"/>
          <a:stretch>
            <a:fillRect/>
          </a:stretch>
        </p:blipFill>
        <p:spPr>
          <a:xfrm>
            <a:off x="6117336" y="4572000"/>
            <a:ext cx="201168" cy="201168"/>
          </a:xfrm>
          <a:prstGeom prst="rect">
            <a:avLst/>
          </a:prstGeom>
        </p:spPr>
      </p:pic>
      <p:sp>
        <p:nvSpPr>
          <p:cNvPr id="32" name="Text 22"/>
          <p:cNvSpPr txBox="1"/>
          <p:nvPr/>
        </p:nvSpPr>
        <p:spPr>
          <a:xfrm>
            <a:off x="6510528" y="4471416"/>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Temperature consistency (min ≤ mean ≤ max)</a:t>
            </a:r>
            <a:endParaRPr lang="en-US" sz="1500" dirty="0"/>
          </a:p>
        </p:txBody>
      </p:sp>
      <p:sp>
        <p:nvSpPr>
          <p:cNvPr id="33" name="Shape 23"/>
          <p:cNvSpPr/>
          <p:nvPr/>
        </p:nvSpPr>
        <p:spPr>
          <a:xfrm>
            <a:off x="548640" y="5056632"/>
            <a:ext cx="365760" cy="365760"/>
          </a:xfrm>
          <a:prstGeom prst="ellipse">
            <a:avLst/>
          </a:prstGeom>
          <a:solidFill>
            <a:srgbClr val="3FA34D"/>
          </a:solidFill>
          <a:ln/>
        </p:spPr>
      </p:sp>
      <p:pic>
        <p:nvPicPr>
          <p:cNvPr id="34" name="Image 8" descr="/home/claude/hydromet_ppt/icons/check.png">    </p:cNvPr>
          <p:cNvPicPr>
            <a:picLocks noChangeAspect="1"/>
          </p:cNvPicPr>
          <p:nvPr/>
        </p:nvPicPr>
        <p:blipFill>
          <a:blip r:embed="rId9"/>
          <a:stretch>
            <a:fillRect/>
          </a:stretch>
        </p:blipFill>
        <p:spPr>
          <a:xfrm>
            <a:off x="630936" y="5138928"/>
            <a:ext cx="201168" cy="201168"/>
          </a:xfrm>
          <a:prstGeom prst="rect">
            <a:avLst/>
          </a:prstGeom>
        </p:spPr>
      </p:pic>
      <p:sp>
        <p:nvSpPr>
          <p:cNvPr id="35" name="Text 24"/>
          <p:cNvSpPr txBox="1"/>
          <p:nvPr/>
        </p:nvSpPr>
        <p:spPr>
          <a:xfrm>
            <a:off x="1024128" y="5038344"/>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Physical / domain validity (RH, wind, precip, coords)</a:t>
            </a:r>
            <a:endParaRPr lang="en-US" sz="1500" dirty="0"/>
          </a:p>
        </p:txBody>
      </p:sp>
      <p:sp>
        <p:nvSpPr>
          <p:cNvPr id="36" name="Shape 25"/>
          <p:cNvSpPr/>
          <p:nvPr/>
        </p:nvSpPr>
        <p:spPr>
          <a:xfrm>
            <a:off x="6035040" y="5056632"/>
            <a:ext cx="365760" cy="365760"/>
          </a:xfrm>
          <a:prstGeom prst="ellipse">
            <a:avLst/>
          </a:prstGeom>
          <a:solidFill>
            <a:srgbClr val="3FA34D"/>
          </a:solidFill>
          <a:ln/>
        </p:spPr>
      </p:sp>
      <p:pic>
        <p:nvPicPr>
          <p:cNvPr id="37" name="Image 9" descr="/home/claude/hydromet_ppt/icons/check.png">    </p:cNvPr>
          <p:cNvPicPr>
            <a:picLocks noChangeAspect="1"/>
          </p:cNvPicPr>
          <p:nvPr/>
        </p:nvPicPr>
        <p:blipFill>
          <a:blip r:embed="rId10"/>
          <a:stretch>
            <a:fillRect/>
          </a:stretch>
        </p:blipFill>
        <p:spPr>
          <a:xfrm>
            <a:off x="6117336" y="5138928"/>
            <a:ext cx="201168" cy="201168"/>
          </a:xfrm>
          <a:prstGeom prst="rect">
            <a:avLst/>
          </a:prstGeom>
        </p:spPr>
      </p:pic>
      <p:sp>
        <p:nvSpPr>
          <p:cNvPr id="38" name="Text 26"/>
          <p:cNvSpPr txBox="1"/>
          <p:nvPr/>
        </p:nvSpPr>
        <p:spPr>
          <a:xfrm>
            <a:off x="6510528" y="5038344"/>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Completeness by location and by year</a:t>
            </a:r>
            <a:endParaRPr lang="en-US" sz="1500" dirty="0"/>
          </a:p>
        </p:txBody>
      </p:sp>
      <p:sp>
        <p:nvSpPr>
          <p:cNvPr id="39" name="Shape 27"/>
          <p:cNvSpPr/>
          <p:nvPr/>
        </p:nvSpPr>
        <p:spPr>
          <a:xfrm>
            <a:off x="548640" y="5623560"/>
            <a:ext cx="365760" cy="365760"/>
          </a:xfrm>
          <a:prstGeom prst="ellipse">
            <a:avLst/>
          </a:prstGeom>
          <a:solidFill>
            <a:srgbClr val="3FA34D"/>
          </a:solidFill>
          <a:ln/>
        </p:spPr>
      </p:sp>
      <p:pic>
        <p:nvPicPr>
          <p:cNvPr id="40" name="Image 10" descr="/home/claude/hydromet_ppt/icons/check.png">    </p:cNvPr>
          <p:cNvPicPr>
            <a:picLocks noChangeAspect="1"/>
          </p:cNvPicPr>
          <p:nvPr/>
        </p:nvPicPr>
        <p:blipFill>
          <a:blip r:embed="rId11"/>
          <a:stretch>
            <a:fillRect/>
          </a:stretch>
        </p:blipFill>
        <p:spPr>
          <a:xfrm>
            <a:off x="630936" y="5705856"/>
            <a:ext cx="201168" cy="201168"/>
          </a:xfrm>
          <a:prstGeom prst="rect">
            <a:avLst/>
          </a:prstGeom>
        </p:spPr>
      </p:pic>
      <p:sp>
        <p:nvSpPr>
          <p:cNvPr id="41" name="Text 28"/>
          <p:cNvSpPr txBox="1"/>
          <p:nvPr/>
        </p:nvSpPr>
        <p:spPr>
          <a:xfrm>
            <a:off x="1024128" y="5605272"/>
            <a:ext cx="4736592" cy="457200"/>
          </a:xfrm>
          <a:prstGeom prst="rect">
            <a:avLst/>
          </a:prstGeom>
          <a:noFill/>
          <a:ln/>
        </p:spPr>
        <p:txBody>
          <a:bodyPr wrap="square" lIns="0" tIns="0" rIns="0" bIns="0" rtlCol="0" anchor="ctr"/>
          <a:lstStyle/>
          <a:p>
            <a:pPr indent="0" marL="0">
              <a:lnSpc>
                <a:spcPct val="100000"/>
              </a:lnSpc>
              <a:buNone/>
            </a:pPr>
            <a:r>
              <a:rPr lang="en-US" sz="1500" dirty="0">
                <a:solidFill>
                  <a:srgbClr val="17241C"/>
                </a:solidFill>
                <a:latin typeface="Calibri" pitchFamily="34" charset="0"/>
                <a:ea typeface="Calibri" pitchFamily="34" charset="-122"/>
                <a:cs typeface="Calibri" pitchFamily="34" charset="-120"/>
              </a:rPr>
              <a:t>Distributions &amp; statistical outliers</a:t>
            </a:r>
            <a:endParaRPr lang="en-US" sz="1500" dirty="0"/>
          </a:p>
        </p:txBody>
      </p:sp>
      <p:sp>
        <p:nvSpPr>
          <p:cNvPr id="42" name="Shape 29"/>
          <p:cNvSpPr/>
          <p:nvPr/>
        </p:nvSpPr>
        <p:spPr>
          <a:xfrm>
            <a:off x="548640" y="6263640"/>
            <a:ext cx="11094415" cy="0"/>
          </a:xfrm>
          <a:prstGeom prst="roundRect">
            <a:avLst/>
          </a:prstGeom>
          <a:noFill/>
          <a:ln/>
        </p:spPr>
      </p:sp>
      <p:sp>
        <p:nvSpPr>
          <p:cNvPr id="43" name="Text 30"/>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6 / 23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3320"/>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1</a:t>
            </a:r>
            <a:endParaRPr lang="en-US" sz="1400" dirty="0"/>
          </a:p>
        </p:txBody>
      </p:sp>
      <p:sp>
        <p:nvSpPr>
          <p:cNvPr id="4" name="Text 2"/>
          <p:cNvSpPr txBox="1"/>
          <p:nvPr/>
        </p:nvSpPr>
        <p:spPr>
          <a:xfrm>
            <a:off x="1874520" y="429768"/>
            <a:ext cx="3657600" cy="320040"/>
          </a:xfrm>
          <a:prstGeom prst="rect">
            <a:avLst/>
          </a:prstGeom>
          <a:noFill/>
          <a:ln/>
        </p:spPr>
        <p:txBody>
          <a:bodyPr wrap="square" lIns="0" tIns="0" rIns="0" bIns="0" rtlCol="0" anchor="ctr"/>
          <a:lstStyle/>
          <a:p>
            <a:pPr indent="0" marL="0">
              <a:buNone/>
            </a:pPr>
            <a:r>
              <a:rPr lang="en-US" sz="1300" b="1" spc="200" kern="0" dirty="0">
                <a:solidFill>
                  <a:srgbClr val="D9F0DC"/>
                </a:solidFill>
                <a:latin typeface="Calibri" pitchFamily="34" charset="0"/>
                <a:ea typeface="Calibri" pitchFamily="34" charset="-122"/>
                <a:cs typeface="Calibri" pitchFamily="34" charset="-120"/>
              </a:rPr>
              <a:t>KEY FINDING</a:t>
            </a:r>
            <a:endParaRPr lang="en-US" sz="1300" dirty="0"/>
          </a:p>
        </p:txBody>
      </p:sp>
      <p:sp>
        <p:nvSpPr>
          <p:cNvPr id="5" name="Text 3"/>
          <p:cNvSpPr txBox="1"/>
          <p:nvPr/>
        </p:nvSpPr>
        <p:spPr>
          <a:xfrm>
            <a:off x="548640" y="868680"/>
            <a:ext cx="106070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Data Were Structurally Clean</a:t>
            </a:r>
            <a:endParaRPr lang="en-US" sz="3200" dirty="0"/>
          </a:p>
        </p:txBody>
      </p:sp>
      <p:sp>
        <p:nvSpPr>
          <p:cNvPr id="6" name="Shape 4"/>
          <p:cNvSpPr/>
          <p:nvPr/>
        </p:nvSpPr>
        <p:spPr>
          <a:xfrm>
            <a:off x="495148" y="1874520"/>
            <a:ext cx="2130552" cy="1417320"/>
          </a:xfrm>
          <a:prstGeom prst="roundRect">
            <a:avLst>
              <a:gd name="adj" fmla="val 6452"/>
            </a:avLst>
          </a:prstGeom>
          <a:solidFill>
            <a:srgbClr val="17402A"/>
          </a:solidFill>
          <a:ln w="12700">
            <a:solidFill>
              <a:srgbClr val="2C5A3D"/>
            </a:solidFill>
            <a:prstDash val="solid"/>
          </a:ln>
        </p:spPr>
      </p:sp>
      <p:sp>
        <p:nvSpPr>
          <p:cNvPr id="7" name="Text 5"/>
          <p:cNvSpPr txBox="1"/>
          <p:nvPr/>
        </p:nvSpPr>
        <p:spPr>
          <a:xfrm>
            <a:off x="495148" y="198424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8" name="Text 6"/>
          <p:cNvSpPr txBox="1"/>
          <p:nvPr/>
        </p:nvSpPr>
        <p:spPr>
          <a:xfrm>
            <a:off x="586588" y="265176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Invalid dates</a:t>
            </a:r>
            <a:endParaRPr lang="en-US" sz="1150" dirty="0"/>
          </a:p>
        </p:txBody>
      </p:sp>
      <p:sp>
        <p:nvSpPr>
          <p:cNvPr id="9" name="Shape 7"/>
          <p:cNvSpPr/>
          <p:nvPr/>
        </p:nvSpPr>
        <p:spPr>
          <a:xfrm>
            <a:off x="2762860" y="1874520"/>
            <a:ext cx="2130552" cy="1417320"/>
          </a:xfrm>
          <a:prstGeom prst="roundRect">
            <a:avLst>
              <a:gd name="adj" fmla="val 6452"/>
            </a:avLst>
          </a:prstGeom>
          <a:solidFill>
            <a:srgbClr val="17402A"/>
          </a:solidFill>
          <a:ln w="12700">
            <a:solidFill>
              <a:srgbClr val="2C5A3D"/>
            </a:solidFill>
            <a:prstDash val="solid"/>
          </a:ln>
        </p:spPr>
      </p:sp>
      <p:sp>
        <p:nvSpPr>
          <p:cNvPr id="10" name="Text 8"/>
          <p:cNvSpPr txBox="1"/>
          <p:nvPr/>
        </p:nvSpPr>
        <p:spPr>
          <a:xfrm>
            <a:off x="2762860" y="198424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11" name="Text 9"/>
          <p:cNvSpPr txBox="1"/>
          <p:nvPr/>
        </p:nvSpPr>
        <p:spPr>
          <a:xfrm>
            <a:off x="2854300" y="265176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Exact duplicates</a:t>
            </a:r>
            <a:endParaRPr lang="en-US" sz="1150" dirty="0"/>
          </a:p>
        </p:txBody>
      </p:sp>
      <p:sp>
        <p:nvSpPr>
          <p:cNvPr id="12" name="Shape 10"/>
          <p:cNvSpPr/>
          <p:nvPr/>
        </p:nvSpPr>
        <p:spPr>
          <a:xfrm>
            <a:off x="5030572" y="1874520"/>
            <a:ext cx="2130552" cy="1417320"/>
          </a:xfrm>
          <a:prstGeom prst="roundRect">
            <a:avLst>
              <a:gd name="adj" fmla="val 6452"/>
            </a:avLst>
          </a:prstGeom>
          <a:solidFill>
            <a:srgbClr val="17402A"/>
          </a:solidFill>
          <a:ln w="12700">
            <a:solidFill>
              <a:srgbClr val="2C5A3D"/>
            </a:solidFill>
            <a:prstDash val="solid"/>
          </a:ln>
        </p:spPr>
      </p:sp>
      <p:sp>
        <p:nvSpPr>
          <p:cNvPr id="13" name="Text 11"/>
          <p:cNvSpPr txBox="1"/>
          <p:nvPr/>
        </p:nvSpPr>
        <p:spPr>
          <a:xfrm>
            <a:off x="5030572" y="198424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14" name="Text 12"/>
          <p:cNvSpPr txBox="1"/>
          <p:nvPr/>
        </p:nvSpPr>
        <p:spPr>
          <a:xfrm>
            <a:off x="5122012" y="265176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Duplicate location-date rows</a:t>
            </a:r>
            <a:endParaRPr lang="en-US" sz="1150" dirty="0"/>
          </a:p>
        </p:txBody>
      </p:sp>
      <p:sp>
        <p:nvSpPr>
          <p:cNvPr id="15" name="Shape 13"/>
          <p:cNvSpPr/>
          <p:nvPr/>
        </p:nvSpPr>
        <p:spPr>
          <a:xfrm>
            <a:off x="7298284" y="1874520"/>
            <a:ext cx="2130552" cy="1417320"/>
          </a:xfrm>
          <a:prstGeom prst="roundRect">
            <a:avLst>
              <a:gd name="adj" fmla="val 6452"/>
            </a:avLst>
          </a:prstGeom>
          <a:solidFill>
            <a:srgbClr val="17402A"/>
          </a:solidFill>
          <a:ln w="12700">
            <a:solidFill>
              <a:srgbClr val="2C5A3D"/>
            </a:solidFill>
            <a:prstDash val="solid"/>
          </a:ln>
        </p:spPr>
      </p:sp>
      <p:sp>
        <p:nvSpPr>
          <p:cNvPr id="16" name="Text 14"/>
          <p:cNvSpPr txBox="1"/>
          <p:nvPr/>
        </p:nvSpPr>
        <p:spPr>
          <a:xfrm>
            <a:off x="7298284" y="198424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17" name="Text 15"/>
          <p:cNvSpPr txBox="1"/>
          <p:nvPr/>
        </p:nvSpPr>
        <p:spPr>
          <a:xfrm>
            <a:off x="7389724" y="265176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Missing meteorological values</a:t>
            </a:r>
            <a:endParaRPr lang="en-US" sz="1150" dirty="0"/>
          </a:p>
        </p:txBody>
      </p:sp>
      <p:sp>
        <p:nvSpPr>
          <p:cNvPr id="18" name="Shape 16"/>
          <p:cNvSpPr/>
          <p:nvPr/>
        </p:nvSpPr>
        <p:spPr>
          <a:xfrm>
            <a:off x="9565996" y="1874520"/>
            <a:ext cx="2130552" cy="1417320"/>
          </a:xfrm>
          <a:prstGeom prst="roundRect">
            <a:avLst>
              <a:gd name="adj" fmla="val 6452"/>
            </a:avLst>
          </a:prstGeom>
          <a:solidFill>
            <a:srgbClr val="17402A"/>
          </a:solidFill>
          <a:ln w="12700">
            <a:solidFill>
              <a:srgbClr val="2C5A3D"/>
            </a:solidFill>
            <a:prstDash val="solid"/>
          </a:ln>
        </p:spPr>
      </p:sp>
      <p:sp>
        <p:nvSpPr>
          <p:cNvPr id="19" name="Text 17"/>
          <p:cNvSpPr txBox="1"/>
          <p:nvPr/>
        </p:nvSpPr>
        <p:spPr>
          <a:xfrm>
            <a:off x="9565996" y="198424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20" name="Text 18"/>
          <p:cNvSpPr txBox="1"/>
          <p:nvPr/>
        </p:nvSpPr>
        <p:spPr>
          <a:xfrm>
            <a:off x="9657436" y="265176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Missing daily dates</a:t>
            </a:r>
            <a:endParaRPr lang="en-US" sz="1150" dirty="0"/>
          </a:p>
        </p:txBody>
      </p:sp>
      <p:sp>
        <p:nvSpPr>
          <p:cNvPr id="21" name="Shape 19"/>
          <p:cNvSpPr/>
          <p:nvPr/>
        </p:nvSpPr>
        <p:spPr>
          <a:xfrm>
            <a:off x="495148" y="3520440"/>
            <a:ext cx="2130552" cy="1417320"/>
          </a:xfrm>
          <a:prstGeom prst="roundRect">
            <a:avLst>
              <a:gd name="adj" fmla="val 6452"/>
            </a:avLst>
          </a:prstGeom>
          <a:solidFill>
            <a:srgbClr val="17402A"/>
          </a:solidFill>
          <a:ln w="12700">
            <a:solidFill>
              <a:srgbClr val="2C5A3D"/>
            </a:solidFill>
            <a:prstDash val="solid"/>
          </a:ln>
        </p:spPr>
      </p:sp>
      <p:sp>
        <p:nvSpPr>
          <p:cNvPr id="22" name="Text 20"/>
          <p:cNvSpPr txBox="1"/>
          <p:nvPr/>
        </p:nvSpPr>
        <p:spPr>
          <a:xfrm>
            <a:off x="495148" y="363016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23" name="Text 21"/>
          <p:cNvSpPr txBox="1"/>
          <p:nvPr/>
        </p:nvSpPr>
        <p:spPr>
          <a:xfrm>
            <a:off x="586588" y="429768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Temperature-order violations</a:t>
            </a:r>
            <a:endParaRPr lang="en-US" sz="1150" dirty="0"/>
          </a:p>
        </p:txBody>
      </p:sp>
      <p:sp>
        <p:nvSpPr>
          <p:cNvPr id="24" name="Shape 22"/>
          <p:cNvSpPr/>
          <p:nvPr/>
        </p:nvSpPr>
        <p:spPr>
          <a:xfrm>
            <a:off x="2762860" y="3520440"/>
            <a:ext cx="2130552" cy="1417320"/>
          </a:xfrm>
          <a:prstGeom prst="roundRect">
            <a:avLst>
              <a:gd name="adj" fmla="val 6452"/>
            </a:avLst>
          </a:prstGeom>
          <a:solidFill>
            <a:srgbClr val="17402A"/>
          </a:solidFill>
          <a:ln w="12700">
            <a:solidFill>
              <a:srgbClr val="2C5A3D"/>
            </a:solidFill>
            <a:prstDash val="solid"/>
          </a:ln>
        </p:spPr>
      </p:sp>
      <p:sp>
        <p:nvSpPr>
          <p:cNvPr id="25" name="Text 23"/>
          <p:cNvSpPr txBox="1"/>
          <p:nvPr/>
        </p:nvSpPr>
        <p:spPr>
          <a:xfrm>
            <a:off x="2762860" y="363016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26" name="Text 24"/>
          <p:cNvSpPr txBox="1"/>
          <p:nvPr/>
        </p:nvSpPr>
        <p:spPr>
          <a:xfrm>
            <a:off x="2854300" y="429768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Invalid relative humidity</a:t>
            </a:r>
            <a:endParaRPr lang="en-US" sz="1150" dirty="0"/>
          </a:p>
        </p:txBody>
      </p:sp>
      <p:sp>
        <p:nvSpPr>
          <p:cNvPr id="27" name="Shape 25"/>
          <p:cNvSpPr/>
          <p:nvPr/>
        </p:nvSpPr>
        <p:spPr>
          <a:xfrm>
            <a:off x="5030572" y="3520440"/>
            <a:ext cx="2130552" cy="1417320"/>
          </a:xfrm>
          <a:prstGeom prst="roundRect">
            <a:avLst>
              <a:gd name="adj" fmla="val 6452"/>
            </a:avLst>
          </a:prstGeom>
          <a:solidFill>
            <a:srgbClr val="17402A"/>
          </a:solidFill>
          <a:ln w="12700">
            <a:solidFill>
              <a:srgbClr val="2C5A3D"/>
            </a:solidFill>
            <a:prstDash val="solid"/>
          </a:ln>
        </p:spPr>
      </p:sp>
      <p:sp>
        <p:nvSpPr>
          <p:cNvPr id="28" name="Text 26"/>
          <p:cNvSpPr txBox="1"/>
          <p:nvPr/>
        </p:nvSpPr>
        <p:spPr>
          <a:xfrm>
            <a:off x="5030572" y="363016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29" name="Text 27"/>
          <p:cNvSpPr txBox="1"/>
          <p:nvPr/>
        </p:nvSpPr>
        <p:spPr>
          <a:xfrm>
            <a:off x="5122012" y="429768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Negative precipitation</a:t>
            </a:r>
            <a:endParaRPr lang="en-US" sz="1150" dirty="0"/>
          </a:p>
        </p:txBody>
      </p:sp>
      <p:sp>
        <p:nvSpPr>
          <p:cNvPr id="30" name="Shape 28"/>
          <p:cNvSpPr/>
          <p:nvPr/>
        </p:nvSpPr>
        <p:spPr>
          <a:xfrm>
            <a:off x="7298284" y="3520440"/>
            <a:ext cx="2130552" cy="1417320"/>
          </a:xfrm>
          <a:prstGeom prst="roundRect">
            <a:avLst>
              <a:gd name="adj" fmla="val 6452"/>
            </a:avLst>
          </a:prstGeom>
          <a:solidFill>
            <a:srgbClr val="17402A"/>
          </a:solidFill>
          <a:ln w="12700">
            <a:solidFill>
              <a:srgbClr val="2C5A3D"/>
            </a:solidFill>
            <a:prstDash val="solid"/>
          </a:ln>
        </p:spPr>
      </p:sp>
      <p:sp>
        <p:nvSpPr>
          <p:cNvPr id="31" name="Text 29"/>
          <p:cNvSpPr txBox="1"/>
          <p:nvPr/>
        </p:nvSpPr>
        <p:spPr>
          <a:xfrm>
            <a:off x="7298284" y="363016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32" name="Text 30"/>
          <p:cNvSpPr txBox="1"/>
          <p:nvPr/>
        </p:nvSpPr>
        <p:spPr>
          <a:xfrm>
            <a:off x="7389724" y="429768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Negative wind speed / solar radiation</a:t>
            </a:r>
            <a:endParaRPr lang="en-US" sz="1150" dirty="0"/>
          </a:p>
        </p:txBody>
      </p:sp>
      <p:sp>
        <p:nvSpPr>
          <p:cNvPr id="33" name="Shape 31"/>
          <p:cNvSpPr/>
          <p:nvPr/>
        </p:nvSpPr>
        <p:spPr>
          <a:xfrm>
            <a:off x="9565996" y="3520440"/>
            <a:ext cx="2130552" cy="1417320"/>
          </a:xfrm>
          <a:prstGeom prst="roundRect">
            <a:avLst>
              <a:gd name="adj" fmla="val 6452"/>
            </a:avLst>
          </a:prstGeom>
          <a:solidFill>
            <a:srgbClr val="17402A"/>
          </a:solidFill>
          <a:ln w="12700">
            <a:solidFill>
              <a:srgbClr val="2C5A3D"/>
            </a:solidFill>
            <a:prstDash val="solid"/>
          </a:ln>
        </p:spPr>
      </p:sp>
      <p:sp>
        <p:nvSpPr>
          <p:cNvPr id="34" name="Text 32"/>
          <p:cNvSpPr txBox="1"/>
          <p:nvPr/>
        </p:nvSpPr>
        <p:spPr>
          <a:xfrm>
            <a:off x="9565996" y="3630168"/>
            <a:ext cx="2130552" cy="594360"/>
          </a:xfrm>
          <a:prstGeom prst="rect">
            <a:avLst/>
          </a:prstGeom>
          <a:noFill/>
          <a:ln/>
        </p:spPr>
        <p:txBody>
          <a:bodyPr wrap="square" lIns="0" tIns="0" rIns="0" bIns="0" rtlCol="0" anchor="ctr"/>
          <a:lstStyle/>
          <a:p>
            <a:pPr algn="ctr" indent="0" marL="0">
              <a:buNone/>
            </a:pPr>
            <a:r>
              <a:rPr lang="en-US" sz="3400" b="1" dirty="0">
                <a:solidFill>
                  <a:srgbClr val="D9A441"/>
                </a:solidFill>
                <a:latin typeface="Cambria" pitchFamily="34" charset="0"/>
                <a:ea typeface="Cambria" pitchFamily="34" charset="-122"/>
                <a:cs typeface="Cambria" pitchFamily="34" charset="-120"/>
              </a:rPr>
              <a:t>0</a:t>
            </a:r>
            <a:endParaRPr lang="en-US" sz="3400" dirty="0"/>
          </a:p>
        </p:txBody>
      </p:sp>
      <p:sp>
        <p:nvSpPr>
          <p:cNvPr id="35" name="Text 33"/>
          <p:cNvSpPr txBox="1"/>
          <p:nvPr/>
        </p:nvSpPr>
        <p:spPr>
          <a:xfrm>
            <a:off x="9657436" y="4297680"/>
            <a:ext cx="1947672" cy="566928"/>
          </a:xfrm>
          <a:prstGeom prst="rect">
            <a:avLst/>
          </a:prstGeom>
          <a:noFill/>
          <a:ln/>
        </p:spPr>
        <p:txBody>
          <a:bodyPr wrap="square" lIns="0" tIns="0" rIns="0" bIns="0" rtlCol="0" anchor="t"/>
          <a:lstStyle/>
          <a:p>
            <a:pPr algn="ctr" indent="0" marL="0">
              <a:lnSpc>
                <a:spcPct val="100000"/>
              </a:lnSpc>
              <a:buNone/>
            </a:pPr>
            <a:r>
              <a:rPr lang="en-US" sz="1150" dirty="0">
                <a:solidFill>
                  <a:srgbClr val="D9F0DC"/>
                </a:solidFill>
                <a:latin typeface="Calibri" pitchFamily="34" charset="0"/>
                <a:ea typeface="Calibri" pitchFamily="34" charset="-122"/>
                <a:cs typeface="Calibri" pitchFamily="34" charset="-120"/>
              </a:rPr>
              <a:t>Invalid coordinates</a:t>
            </a:r>
            <a:endParaRPr lang="en-US" sz="1150" dirty="0"/>
          </a:p>
        </p:txBody>
      </p:sp>
      <p:sp>
        <p:nvSpPr>
          <p:cNvPr id="36" name="Shape 34"/>
          <p:cNvSpPr/>
          <p:nvPr/>
        </p:nvSpPr>
        <p:spPr>
          <a:xfrm>
            <a:off x="1280160" y="5806440"/>
            <a:ext cx="9631375" cy="685800"/>
          </a:xfrm>
          <a:prstGeom prst="roundRect">
            <a:avLst>
              <a:gd name="adj" fmla="val 16000"/>
            </a:avLst>
          </a:prstGeom>
          <a:solidFill>
            <a:srgbClr val="D9A441"/>
          </a:solidFill>
          <a:ln/>
        </p:spPr>
      </p:sp>
      <p:sp>
        <p:nvSpPr>
          <p:cNvPr id="37" name="Text 35"/>
          <p:cNvSpPr txBox="1"/>
          <p:nvPr/>
        </p:nvSpPr>
        <p:spPr>
          <a:xfrm>
            <a:off x="1463040" y="5806440"/>
            <a:ext cx="9265615" cy="685800"/>
          </a:xfrm>
          <a:prstGeom prst="rect">
            <a:avLst/>
          </a:prstGeom>
          <a:noFill/>
          <a:ln/>
        </p:spPr>
        <p:txBody>
          <a:bodyPr wrap="square" lIns="0" tIns="0" rIns="0" bIns="0" rtlCol="0" anchor="ctr"/>
          <a:lstStyle/>
          <a:p>
            <a:pPr algn="ctr" indent="0" marL="0">
              <a:buNone/>
            </a:pPr>
            <a:r>
              <a:rPr lang="en-US" sz="1600" b="1" dirty="0">
                <a:solidFill>
                  <a:srgbClr val="0F3320"/>
                </a:solidFill>
                <a:latin typeface="Calibri" pitchFamily="34" charset="0"/>
                <a:ea typeface="Calibri" pitchFamily="34" charset="-122"/>
                <a:cs typeface="Calibri" pitchFamily="34" charset="-120"/>
              </a:rPr>
              <a:t>Structurally clean ≠ analytically simple  →  deeper profiling was needed to find the real engineering problems.</a:t>
            </a:r>
            <a:endParaRPr lang="en-US" sz="1600" dirty="0"/>
          </a:p>
        </p:txBody>
      </p:sp>
      <p:sp>
        <p:nvSpPr>
          <p:cNvPr id="38" name="Text 36"/>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7 / 23</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1</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PROBLEM FRAMING &amp; PROFILING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Advanced Profiling — Looking Deeper</a:t>
            </a:r>
            <a:endParaRPr lang="en-US" sz="3200" dirty="0"/>
          </a:p>
        </p:txBody>
      </p:sp>
      <p:sp>
        <p:nvSpPr>
          <p:cNvPr id="6" name="Shape 4"/>
          <p:cNvSpPr/>
          <p:nvPr/>
        </p:nvSpPr>
        <p:spPr>
          <a:xfrm>
            <a:off x="548640" y="1645920"/>
            <a:ext cx="5852160" cy="411480"/>
          </a:xfrm>
          <a:prstGeom prst="roundRect">
            <a:avLst>
              <a:gd name="adj" fmla="val 50000"/>
            </a:avLst>
          </a:prstGeom>
          <a:solidFill>
            <a:srgbClr val="D9F0DC"/>
          </a:solidFill>
          <a:ln/>
        </p:spPr>
      </p:sp>
      <p:sp>
        <p:nvSpPr>
          <p:cNvPr id="7" name="Text 5"/>
          <p:cNvSpPr txBox="1"/>
          <p:nvPr/>
        </p:nvSpPr>
        <p:spPr>
          <a:xfrm>
            <a:off x="594360" y="1645920"/>
            <a:ext cx="5760720" cy="411480"/>
          </a:xfrm>
          <a:prstGeom prst="rect">
            <a:avLst/>
          </a:prstGeom>
          <a:noFill/>
          <a:ln/>
        </p:spPr>
        <p:txBody>
          <a:bodyPr wrap="square" lIns="0" tIns="0" rIns="0" bIns="0" rtlCol="0" anchor="ctr"/>
          <a:lstStyle/>
          <a:p>
            <a:pPr algn="ctr" indent="0" marL="0">
              <a:buNone/>
            </a:pPr>
            <a:r>
              <a:rPr lang="en-US" sz="1350" b="1" dirty="0">
                <a:solidFill>
                  <a:srgbClr val="175C2E"/>
                </a:solidFill>
                <a:latin typeface="Calibri" pitchFamily="34" charset="0"/>
                <a:ea typeface="Calibri" pitchFamily="34" charset="-122"/>
                <a:cs typeface="Calibri" pitchFamily="34" charset="-120"/>
              </a:rPr>
              <a:t>notebooks/02_advanced_data_profiling.ipynb</a:t>
            </a:r>
            <a:endParaRPr lang="en-US" sz="1350" dirty="0"/>
          </a:p>
        </p:txBody>
      </p:sp>
      <p:sp>
        <p:nvSpPr>
          <p:cNvPr id="8" name="Shape 6"/>
          <p:cNvSpPr/>
          <p:nvPr/>
        </p:nvSpPr>
        <p:spPr>
          <a:xfrm>
            <a:off x="700888" y="2286000"/>
            <a:ext cx="5257800" cy="1874520"/>
          </a:xfrm>
          <a:prstGeom prst="roundRect">
            <a:avLst>
              <a:gd name="adj" fmla="val 5854"/>
            </a:avLst>
          </a:prstGeom>
          <a:solidFill>
            <a:srgbClr val="EAF6EC"/>
          </a:solidFill>
          <a:ln w="12700">
            <a:solidFill>
              <a:srgbClr val="CFE8D2"/>
            </a:solidFill>
            <a:prstDash val="solid"/>
          </a:ln>
        </p:spPr>
      </p:sp>
      <p:sp>
        <p:nvSpPr>
          <p:cNvPr id="9" name="Shape 7"/>
          <p:cNvSpPr/>
          <p:nvPr/>
        </p:nvSpPr>
        <p:spPr>
          <a:xfrm>
            <a:off x="929488" y="2514600"/>
            <a:ext cx="457200" cy="457200"/>
          </a:xfrm>
          <a:prstGeom prst="ellipse">
            <a:avLst/>
          </a:prstGeom>
          <a:solidFill>
            <a:srgbClr val="1F7A3D"/>
          </a:solidFill>
          <a:ln/>
        </p:spPr>
      </p:sp>
      <p:pic>
        <p:nvPicPr>
          <p:cNvPr id="10" name="Image 0" descr="/home/claude/hydromet_ppt/icons/marker.png">    </p:cNvPr>
          <p:cNvPicPr>
            <a:picLocks noChangeAspect="1"/>
          </p:cNvPicPr>
          <p:nvPr/>
        </p:nvPicPr>
        <p:blipFill>
          <a:blip r:embed="rId1"/>
          <a:stretch>
            <a:fillRect/>
          </a:stretch>
        </p:blipFill>
        <p:spPr>
          <a:xfrm>
            <a:off x="1032358" y="2617470"/>
            <a:ext cx="251460" cy="251460"/>
          </a:xfrm>
          <a:prstGeom prst="rect">
            <a:avLst/>
          </a:prstGeom>
        </p:spPr>
      </p:pic>
      <p:sp>
        <p:nvSpPr>
          <p:cNvPr id="11" name="Text 8"/>
          <p:cNvSpPr txBox="1"/>
          <p:nvPr/>
        </p:nvSpPr>
        <p:spPr>
          <a:xfrm>
            <a:off x="1523848" y="2514600"/>
            <a:ext cx="4251960" cy="457200"/>
          </a:xfrm>
          <a:prstGeom prst="rect">
            <a:avLst/>
          </a:prstGeom>
          <a:noFill/>
          <a:ln/>
        </p:spPr>
        <p:txBody>
          <a:bodyPr wrap="square" lIns="0" tIns="0" rIns="0" bIns="0" rtlCol="0" anchor="ctr"/>
          <a:lstStyle/>
          <a:p>
            <a:pPr indent="0" marL="0">
              <a:buNone/>
            </a:pPr>
            <a:r>
              <a:rPr lang="en-US" sz="1700" b="1" dirty="0">
                <a:solidFill>
                  <a:srgbClr val="0F3320"/>
                </a:solidFill>
                <a:latin typeface="Cambria" pitchFamily="34" charset="0"/>
                <a:ea typeface="Cambria" pitchFamily="34" charset="-122"/>
                <a:cs typeface="Cambria" pitchFamily="34" charset="-120"/>
              </a:rPr>
              <a:t>Spatial &amp; Coverage</a:t>
            </a:r>
            <a:endParaRPr lang="en-US" sz="1700" dirty="0"/>
          </a:p>
        </p:txBody>
      </p:sp>
      <p:sp>
        <p:nvSpPr>
          <p:cNvPr id="12" name="Text 9"/>
          <p:cNvSpPr txBox="1"/>
          <p:nvPr/>
        </p:nvSpPr>
        <p:spPr>
          <a:xfrm>
            <a:off x="975208" y="3108960"/>
            <a:ext cx="4709160" cy="914400"/>
          </a:xfrm>
          <a:prstGeom prst="rect">
            <a:avLst/>
          </a:prstGeom>
          <a:noFill/>
          <a:ln/>
        </p:spPr>
        <p:txBody>
          <a:bodyPr wrap="square" lIns="0" tIns="0" rIns="0" bIns="0" rtlCol="0" anchor="ctr"/>
          <a:lstStyle/>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Spatial representativeness</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Geographic coverage</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Coverage vs. intended use</a:t>
            </a:r>
            <a:endParaRPr lang="en-US" sz="1400" dirty="0"/>
          </a:p>
        </p:txBody>
      </p:sp>
      <p:sp>
        <p:nvSpPr>
          <p:cNvPr id="13" name="Shape 10"/>
          <p:cNvSpPr/>
          <p:nvPr/>
        </p:nvSpPr>
        <p:spPr>
          <a:xfrm>
            <a:off x="6233008" y="2286000"/>
            <a:ext cx="5257800" cy="1874520"/>
          </a:xfrm>
          <a:prstGeom prst="roundRect">
            <a:avLst>
              <a:gd name="adj" fmla="val 5854"/>
            </a:avLst>
          </a:prstGeom>
          <a:solidFill>
            <a:srgbClr val="EAF6EC"/>
          </a:solidFill>
          <a:ln w="12700">
            <a:solidFill>
              <a:srgbClr val="CFE8D2"/>
            </a:solidFill>
            <a:prstDash val="solid"/>
          </a:ln>
        </p:spPr>
      </p:sp>
      <p:sp>
        <p:nvSpPr>
          <p:cNvPr id="14" name="Shape 11"/>
          <p:cNvSpPr/>
          <p:nvPr/>
        </p:nvSpPr>
        <p:spPr>
          <a:xfrm>
            <a:off x="6461608" y="2514600"/>
            <a:ext cx="457200" cy="457200"/>
          </a:xfrm>
          <a:prstGeom prst="ellipse">
            <a:avLst/>
          </a:prstGeom>
          <a:solidFill>
            <a:srgbClr val="1F7A3D"/>
          </a:solidFill>
          <a:ln/>
        </p:spPr>
      </p:sp>
      <p:pic>
        <p:nvPicPr>
          <p:cNvPr id="15" name="Image 1" descr="/home/claude/hydromet_ppt/icons/diagram.png">    </p:cNvPr>
          <p:cNvPicPr>
            <a:picLocks noChangeAspect="1"/>
          </p:cNvPicPr>
          <p:nvPr/>
        </p:nvPicPr>
        <p:blipFill>
          <a:blip r:embed="rId2"/>
          <a:stretch>
            <a:fillRect/>
          </a:stretch>
        </p:blipFill>
        <p:spPr>
          <a:xfrm>
            <a:off x="6564478" y="2617470"/>
            <a:ext cx="251460" cy="251460"/>
          </a:xfrm>
          <a:prstGeom prst="rect">
            <a:avLst/>
          </a:prstGeom>
        </p:spPr>
      </p:pic>
      <p:sp>
        <p:nvSpPr>
          <p:cNvPr id="16" name="Text 12"/>
          <p:cNvSpPr txBox="1"/>
          <p:nvPr/>
        </p:nvSpPr>
        <p:spPr>
          <a:xfrm>
            <a:off x="7055968" y="2514600"/>
            <a:ext cx="4251960" cy="457200"/>
          </a:xfrm>
          <a:prstGeom prst="rect">
            <a:avLst/>
          </a:prstGeom>
          <a:noFill/>
          <a:ln/>
        </p:spPr>
        <p:txBody>
          <a:bodyPr wrap="square" lIns="0" tIns="0" rIns="0" bIns="0" rtlCol="0" anchor="ctr"/>
          <a:lstStyle/>
          <a:p>
            <a:pPr indent="0" marL="0">
              <a:buNone/>
            </a:pPr>
            <a:r>
              <a:rPr lang="en-US" sz="1700" b="1" dirty="0">
                <a:solidFill>
                  <a:srgbClr val="0F3320"/>
                </a:solidFill>
                <a:latin typeface="Cambria" pitchFamily="34" charset="0"/>
                <a:ea typeface="Cambria" pitchFamily="34" charset="-122"/>
                <a:cs typeface="Cambria" pitchFamily="34" charset="-120"/>
              </a:rPr>
              <a:t>Statistical</a:t>
            </a:r>
            <a:endParaRPr lang="en-US" sz="1700" dirty="0"/>
          </a:p>
        </p:txBody>
      </p:sp>
      <p:sp>
        <p:nvSpPr>
          <p:cNvPr id="17" name="Text 13"/>
          <p:cNvSpPr txBox="1"/>
          <p:nvPr/>
        </p:nvSpPr>
        <p:spPr>
          <a:xfrm>
            <a:off x="6507328" y="3108960"/>
            <a:ext cx="4709160" cy="914400"/>
          </a:xfrm>
          <a:prstGeom prst="rect">
            <a:avLst/>
          </a:prstGeom>
          <a:noFill/>
          <a:ln/>
        </p:spPr>
        <p:txBody>
          <a:bodyPr wrap="square" lIns="0" tIns="0" rIns="0" bIns="0" rtlCol="0" anchor="ctr"/>
          <a:lstStyle/>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Percentiles &amp; IQR outliers</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Extreme precipitation / temperature</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Daily change patterns</a:t>
            </a:r>
            <a:endParaRPr lang="en-US" sz="1400" dirty="0"/>
          </a:p>
        </p:txBody>
      </p:sp>
      <p:sp>
        <p:nvSpPr>
          <p:cNvPr id="18" name="Shape 14"/>
          <p:cNvSpPr/>
          <p:nvPr/>
        </p:nvSpPr>
        <p:spPr>
          <a:xfrm>
            <a:off x="700888" y="4416552"/>
            <a:ext cx="5257800" cy="1874520"/>
          </a:xfrm>
          <a:prstGeom prst="roundRect">
            <a:avLst>
              <a:gd name="adj" fmla="val 5854"/>
            </a:avLst>
          </a:prstGeom>
          <a:solidFill>
            <a:srgbClr val="EAF6EC"/>
          </a:solidFill>
          <a:ln w="12700">
            <a:solidFill>
              <a:srgbClr val="CFE8D2"/>
            </a:solidFill>
            <a:prstDash val="solid"/>
          </a:ln>
        </p:spPr>
      </p:sp>
      <p:sp>
        <p:nvSpPr>
          <p:cNvPr id="19" name="Shape 15"/>
          <p:cNvSpPr/>
          <p:nvPr/>
        </p:nvSpPr>
        <p:spPr>
          <a:xfrm>
            <a:off x="929488" y="4645152"/>
            <a:ext cx="457200" cy="457200"/>
          </a:xfrm>
          <a:prstGeom prst="ellipse">
            <a:avLst/>
          </a:prstGeom>
          <a:solidFill>
            <a:srgbClr val="1F7A3D"/>
          </a:solidFill>
          <a:ln/>
        </p:spPr>
      </p:sp>
      <p:pic>
        <p:nvPicPr>
          <p:cNvPr id="20" name="Image 2" descr="/home/claude/hydromet_ppt/icons/calendar.png">    </p:cNvPr>
          <p:cNvPicPr>
            <a:picLocks noChangeAspect="1"/>
          </p:cNvPicPr>
          <p:nvPr/>
        </p:nvPicPr>
        <p:blipFill>
          <a:blip r:embed="rId3"/>
          <a:stretch>
            <a:fillRect/>
          </a:stretch>
        </p:blipFill>
        <p:spPr>
          <a:xfrm>
            <a:off x="1032358" y="4748022"/>
            <a:ext cx="251460" cy="251460"/>
          </a:xfrm>
          <a:prstGeom prst="rect">
            <a:avLst/>
          </a:prstGeom>
        </p:spPr>
      </p:pic>
      <p:sp>
        <p:nvSpPr>
          <p:cNvPr id="21" name="Text 16"/>
          <p:cNvSpPr txBox="1"/>
          <p:nvPr/>
        </p:nvSpPr>
        <p:spPr>
          <a:xfrm>
            <a:off x="1523848" y="4645152"/>
            <a:ext cx="4251960" cy="457200"/>
          </a:xfrm>
          <a:prstGeom prst="rect">
            <a:avLst/>
          </a:prstGeom>
          <a:noFill/>
          <a:ln/>
        </p:spPr>
        <p:txBody>
          <a:bodyPr wrap="square" lIns="0" tIns="0" rIns="0" bIns="0" rtlCol="0" anchor="ctr"/>
          <a:lstStyle/>
          <a:p>
            <a:pPr indent="0" marL="0">
              <a:buNone/>
            </a:pPr>
            <a:r>
              <a:rPr lang="en-US" sz="1700" b="1" dirty="0">
                <a:solidFill>
                  <a:srgbClr val="0F3320"/>
                </a:solidFill>
                <a:latin typeface="Cambria" pitchFamily="34" charset="0"/>
                <a:ea typeface="Cambria" pitchFamily="34" charset="-122"/>
                <a:cs typeface="Cambria" pitchFamily="34" charset="-120"/>
              </a:rPr>
              <a:t>Temporal Patterns</a:t>
            </a:r>
            <a:endParaRPr lang="en-US" sz="1700" dirty="0"/>
          </a:p>
        </p:txBody>
      </p:sp>
      <p:sp>
        <p:nvSpPr>
          <p:cNvPr id="22" name="Text 17"/>
          <p:cNvSpPr txBox="1"/>
          <p:nvPr/>
        </p:nvSpPr>
        <p:spPr>
          <a:xfrm>
            <a:off x="975208" y="5239512"/>
            <a:ext cx="4709160" cy="914400"/>
          </a:xfrm>
          <a:prstGeom prst="rect">
            <a:avLst/>
          </a:prstGeom>
          <a:noFill/>
          <a:ln/>
        </p:spPr>
        <p:txBody>
          <a:bodyPr wrap="square" lIns="0" tIns="0" rIns="0" bIns="0" rtlCol="0" anchor="ctr"/>
          <a:lstStyle/>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Monthly climatology</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Rainfall seasonality</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Repeated / stale sequences</a:t>
            </a:r>
            <a:endParaRPr lang="en-US" sz="1400" dirty="0"/>
          </a:p>
        </p:txBody>
      </p:sp>
      <p:sp>
        <p:nvSpPr>
          <p:cNvPr id="23" name="Shape 18"/>
          <p:cNvSpPr/>
          <p:nvPr/>
        </p:nvSpPr>
        <p:spPr>
          <a:xfrm>
            <a:off x="6233008" y="4416552"/>
            <a:ext cx="5257800" cy="1874520"/>
          </a:xfrm>
          <a:prstGeom prst="roundRect">
            <a:avLst>
              <a:gd name="adj" fmla="val 5854"/>
            </a:avLst>
          </a:prstGeom>
          <a:solidFill>
            <a:srgbClr val="EAF6EC"/>
          </a:solidFill>
          <a:ln w="12700">
            <a:solidFill>
              <a:srgbClr val="CFE8D2"/>
            </a:solidFill>
            <a:prstDash val="solid"/>
          </a:ln>
        </p:spPr>
      </p:sp>
      <p:sp>
        <p:nvSpPr>
          <p:cNvPr id="24" name="Shape 19"/>
          <p:cNvSpPr/>
          <p:nvPr/>
        </p:nvSpPr>
        <p:spPr>
          <a:xfrm>
            <a:off x="6461608" y="4645152"/>
            <a:ext cx="457200" cy="457200"/>
          </a:xfrm>
          <a:prstGeom prst="ellipse">
            <a:avLst/>
          </a:prstGeom>
          <a:solidFill>
            <a:srgbClr val="1F7A3D"/>
          </a:solidFill>
          <a:ln/>
        </p:spPr>
      </p:sp>
      <p:pic>
        <p:nvPicPr>
          <p:cNvPr id="25" name="Image 3" descr="/home/claude/hydromet_ppt/icons/link.png">    </p:cNvPr>
          <p:cNvPicPr>
            <a:picLocks noChangeAspect="1"/>
          </p:cNvPicPr>
          <p:nvPr/>
        </p:nvPicPr>
        <p:blipFill>
          <a:blip r:embed="rId4"/>
          <a:stretch>
            <a:fillRect/>
          </a:stretch>
        </p:blipFill>
        <p:spPr>
          <a:xfrm>
            <a:off x="6564478" y="4748022"/>
            <a:ext cx="251460" cy="251460"/>
          </a:xfrm>
          <a:prstGeom prst="rect">
            <a:avLst/>
          </a:prstGeom>
        </p:spPr>
      </p:pic>
      <p:sp>
        <p:nvSpPr>
          <p:cNvPr id="26" name="Text 20"/>
          <p:cNvSpPr txBox="1"/>
          <p:nvPr/>
        </p:nvSpPr>
        <p:spPr>
          <a:xfrm>
            <a:off x="7055968" y="4645152"/>
            <a:ext cx="4251960" cy="457200"/>
          </a:xfrm>
          <a:prstGeom prst="rect">
            <a:avLst/>
          </a:prstGeom>
          <a:noFill/>
          <a:ln/>
        </p:spPr>
        <p:txBody>
          <a:bodyPr wrap="square" lIns="0" tIns="0" rIns="0" bIns="0" rtlCol="0" anchor="ctr"/>
          <a:lstStyle/>
          <a:p>
            <a:pPr indent="0" marL="0">
              <a:buNone/>
            </a:pPr>
            <a:r>
              <a:rPr lang="en-US" sz="1700" b="1" dirty="0">
                <a:solidFill>
                  <a:srgbClr val="0F3320"/>
                </a:solidFill>
                <a:latin typeface="Cambria" pitchFamily="34" charset="0"/>
                <a:ea typeface="Cambria" pitchFamily="34" charset="-122"/>
                <a:cs typeface="Cambria" pitchFamily="34" charset="-120"/>
              </a:rPr>
              <a:t>Cross-Cutting Checks</a:t>
            </a:r>
            <a:endParaRPr lang="en-US" sz="1700" dirty="0"/>
          </a:p>
        </p:txBody>
      </p:sp>
      <p:sp>
        <p:nvSpPr>
          <p:cNvPr id="27" name="Text 21"/>
          <p:cNvSpPr txBox="1"/>
          <p:nvPr/>
        </p:nvSpPr>
        <p:spPr>
          <a:xfrm>
            <a:off x="6507328" y="5239512"/>
            <a:ext cx="4709160" cy="914400"/>
          </a:xfrm>
          <a:prstGeom prst="rect">
            <a:avLst/>
          </a:prstGeom>
          <a:noFill/>
          <a:ln/>
        </p:spPr>
        <p:txBody>
          <a:bodyPr wrap="square" lIns="0" tIns="0" rIns="0" bIns="0" rtlCol="0" anchor="ctr"/>
          <a:lstStyle/>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Inter-location variability</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Correlations between variables</a:t>
            </a:r>
            <a:endParaRPr lang="en-US" sz="1400" dirty="0"/>
          </a:p>
          <a:p>
            <a:pPr marL="177800" indent="-177800">
              <a:lnSpc>
                <a:spcPct val="115000"/>
              </a:lnSpc>
              <a:buSzPct val="100000"/>
              <a:buChar char="✦"/>
            </a:pPr>
            <a:r>
              <a:rPr lang="en-US" sz="1400" dirty="0">
                <a:solidFill>
                  <a:srgbClr val="17241C"/>
                </a:solidFill>
                <a:latin typeface="Calibri" pitchFamily="34" charset="0"/>
                <a:ea typeface="Calibri" pitchFamily="34" charset="-122"/>
                <a:cs typeface="Calibri" pitchFamily="34" charset="-120"/>
              </a:rPr>
              <a:t>Source diversity &amp; lineage</a:t>
            </a:r>
            <a:endParaRPr lang="en-US" sz="1400" dirty="0"/>
          </a:p>
        </p:txBody>
      </p:sp>
      <p:sp>
        <p:nvSpPr>
          <p:cNvPr id="28" name="Text 22"/>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8 / 23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1</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PROBLEM FRAMING &amp; PROFILING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Three Engineering Problems Identified</a:t>
            </a:r>
            <a:endParaRPr lang="en-US" sz="3200" dirty="0"/>
          </a:p>
        </p:txBody>
      </p:sp>
      <p:sp>
        <p:nvSpPr>
          <p:cNvPr id="6" name="Shape 4"/>
          <p:cNvSpPr/>
          <p:nvPr/>
        </p:nvSpPr>
        <p:spPr>
          <a:xfrm>
            <a:off x="449428" y="1828800"/>
            <a:ext cx="3611880" cy="4160520"/>
          </a:xfrm>
          <a:prstGeom prst="roundRect">
            <a:avLst>
              <a:gd name="adj" fmla="val 3544"/>
            </a:avLst>
          </a:prstGeom>
          <a:solidFill>
            <a:srgbClr val="FFFFFF"/>
          </a:solidFill>
          <a:ln w="12700">
            <a:solidFill>
              <a:srgbClr val="CFE8D2"/>
            </a:solidFill>
            <a:prstDash val="solid"/>
          </a:ln>
          <a:effectLst>
            <a:outerShdw sx="100000" sy="100000" kx="0" ky="0" algn="bl" rotWithShape="0" blurRad="76200" dist="25400" dir="5400000">
              <a:srgbClr val="1F2A22">
                <a:alpha val="18000"/>
              </a:srgbClr>
            </a:outerShdw>
          </a:effectLst>
        </p:spPr>
      </p:sp>
      <p:sp>
        <p:nvSpPr>
          <p:cNvPr id="7" name="Shape 5"/>
          <p:cNvSpPr/>
          <p:nvPr/>
        </p:nvSpPr>
        <p:spPr>
          <a:xfrm>
            <a:off x="1981048" y="1554480"/>
            <a:ext cx="548640" cy="548640"/>
          </a:xfrm>
          <a:prstGeom prst="ellipse">
            <a:avLst/>
          </a:prstGeom>
          <a:solidFill>
            <a:srgbClr val="D9A441"/>
          </a:solidFill>
          <a:ln w="25400">
            <a:solidFill>
              <a:srgbClr val="FFFFFF"/>
            </a:solidFill>
            <a:prstDash val="solid"/>
          </a:ln>
        </p:spPr>
      </p:sp>
      <p:sp>
        <p:nvSpPr>
          <p:cNvPr id="8" name="Text 6"/>
          <p:cNvSpPr txBox="1"/>
          <p:nvPr/>
        </p:nvSpPr>
        <p:spPr>
          <a:xfrm>
            <a:off x="1981048" y="1554480"/>
            <a:ext cx="548640" cy="548640"/>
          </a:xfrm>
          <a:prstGeom prst="rect">
            <a:avLst/>
          </a:prstGeom>
          <a:noFill/>
          <a:ln/>
        </p:spPr>
        <p:txBody>
          <a:bodyPr wrap="square" lIns="0" tIns="0" rIns="0" bIns="0" rtlCol="0" anchor="ctr"/>
          <a:lstStyle/>
          <a:p>
            <a:pPr algn="ctr" indent="0" marL="0">
              <a:buNone/>
            </a:pPr>
            <a:r>
              <a:rPr lang="en-US" sz="2200" b="1" dirty="0">
                <a:solidFill>
                  <a:srgbClr val="0F3320"/>
                </a:solidFill>
                <a:latin typeface="Cambria" pitchFamily="34" charset="0"/>
                <a:ea typeface="Cambria" pitchFamily="34" charset="-122"/>
                <a:cs typeface="Cambria" pitchFamily="34" charset="-120"/>
              </a:rPr>
              <a:t>1</a:t>
            </a:r>
            <a:endParaRPr lang="en-US" sz="2200" dirty="0"/>
          </a:p>
        </p:txBody>
      </p:sp>
      <p:sp>
        <p:nvSpPr>
          <p:cNvPr id="9" name="Shape 7"/>
          <p:cNvSpPr/>
          <p:nvPr/>
        </p:nvSpPr>
        <p:spPr>
          <a:xfrm>
            <a:off x="1843888" y="2240280"/>
            <a:ext cx="822960" cy="822960"/>
          </a:xfrm>
          <a:prstGeom prst="ellipse">
            <a:avLst/>
          </a:prstGeom>
          <a:solidFill>
            <a:srgbClr val="D9F0DC"/>
          </a:solidFill>
          <a:ln/>
        </p:spPr>
      </p:sp>
      <p:pic>
        <p:nvPicPr>
          <p:cNvPr id="10" name="Image 0" descr="/home/claude/hydromet_ppt/icons/marker.png">    </p:cNvPr>
          <p:cNvPicPr>
            <a:picLocks noChangeAspect="1"/>
          </p:cNvPicPr>
          <p:nvPr/>
        </p:nvPicPr>
        <p:blipFill>
          <a:blip r:embed="rId1"/>
          <a:stretch>
            <a:fillRect/>
          </a:stretch>
        </p:blipFill>
        <p:spPr>
          <a:xfrm>
            <a:off x="2049628" y="2446020"/>
            <a:ext cx="411480" cy="411480"/>
          </a:xfrm>
          <a:prstGeom prst="rect">
            <a:avLst/>
          </a:prstGeom>
        </p:spPr>
      </p:pic>
      <p:sp>
        <p:nvSpPr>
          <p:cNvPr id="11" name="Text 8"/>
          <p:cNvSpPr txBox="1"/>
          <p:nvPr/>
        </p:nvSpPr>
        <p:spPr>
          <a:xfrm>
            <a:off x="632308" y="3246120"/>
            <a:ext cx="3246120" cy="685800"/>
          </a:xfrm>
          <a:prstGeom prst="rect">
            <a:avLst/>
          </a:prstGeom>
          <a:noFill/>
          <a:ln/>
        </p:spPr>
        <p:txBody>
          <a:bodyPr wrap="square" lIns="0" tIns="0" rIns="0" bIns="0" rtlCol="0" anchor="ctr"/>
          <a:lstStyle/>
          <a:p>
            <a:pPr algn="ctr" indent="0" marL="0">
              <a:lnSpc>
                <a:spcPct val="105000"/>
              </a:lnSpc>
              <a:buNone/>
            </a:pPr>
            <a:r>
              <a:rPr lang="en-US" sz="1800" b="1" dirty="0">
                <a:solidFill>
                  <a:srgbClr val="0F3320"/>
                </a:solidFill>
                <a:latin typeface="Cambria" pitchFamily="34" charset="0"/>
                <a:ea typeface="Cambria" pitchFamily="34" charset="-122"/>
                <a:cs typeface="Cambria" pitchFamily="34" charset="-120"/>
              </a:rPr>
              <a:t>Limited Spatial</a:t>
            </a:r>
            <a:endParaRPr lang="en-US" sz="1800" dirty="0"/>
          </a:p>
          <a:p>
            <a:pPr algn="ctr" indent="0" marL="0">
              <a:lnSpc>
                <a:spcPct val="105000"/>
              </a:lnSpc>
              <a:buNone/>
            </a:pPr>
            <a:r>
              <a:rPr lang="en-US" sz="1800" b="1" dirty="0">
                <a:solidFill>
                  <a:srgbClr val="0F3320"/>
                </a:solidFill>
                <a:latin typeface="Cambria" pitchFamily="34" charset="0"/>
                <a:ea typeface="Cambria" pitchFamily="34" charset="-122"/>
                <a:cs typeface="Cambria" pitchFamily="34" charset="-120"/>
              </a:rPr>
              <a:t>Representation</a:t>
            </a:r>
            <a:endParaRPr lang="en-US" sz="1800" dirty="0"/>
          </a:p>
        </p:txBody>
      </p:sp>
      <p:sp>
        <p:nvSpPr>
          <p:cNvPr id="12" name="Text 9"/>
          <p:cNvSpPr txBox="1"/>
          <p:nvPr/>
        </p:nvSpPr>
        <p:spPr>
          <a:xfrm>
            <a:off x="723748" y="3977640"/>
            <a:ext cx="3063240" cy="1051560"/>
          </a:xfrm>
          <a:prstGeom prst="rect">
            <a:avLst/>
          </a:prstGeom>
          <a:noFill/>
          <a:ln/>
        </p:spPr>
        <p:txBody>
          <a:bodyPr wrap="square" lIns="0" tIns="0" rIns="0" bIns="0" rtlCol="0" anchor="ctr"/>
          <a:lstStyle/>
          <a:p>
            <a:pPr algn="ctr" indent="0" marL="0">
              <a:lnSpc>
                <a:spcPct val="110000"/>
              </a:lnSpc>
              <a:buNone/>
            </a:pPr>
            <a:r>
              <a:rPr lang="en-US" sz="1450" dirty="0">
                <a:solidFill>
                  <a:srgbClr val="17241C"/>
                </a:solidFill>
                <a:latin typeface="Calibri" pitchFamily="34" charset="0"/>
                <a:ea typeface="Calibri" pitchFamily="34" charset="-122"/>
                <a:cs typeface="Calibri" pitchFamily="34" charset="-120"/>
              </a:rPr>
              <a:t>≈25 years of continuous daily data, but only 8 point locations.</a:t>
            </a:r>
            <a:endParaRPr lang="en-US" sz="1450" dirty="0"/>
          </a:p>
        </p:txBody>
      </p:sp>
      <p:sp>
        <p:nvSpPr>
          <p:cNvPr id="13" name="Shape 10"/>
          <p:cNvSpPr/>
          <p:nvPr/>
        </p:nvSpPr>
        <p:spPr>
          <a:xfrm>
            <a:off x="723748" y="5074920"/>
            <a:ext cx="3063240" cy="777240"/>
          </a:xfrm>
          <a:prstGeom prst="roundRect">
            <a:avLst>
              <a:gd name="adj" fmla="val 11765"/>
            </a:avLst>
          </a:prstGeom>
          <a:solidFill>
            <a:srgbClr val="EAF6EC"/>
          </a:solidFill>
          <a:ln/>
        </p:spPr>
      </p:sp>
      <p:sp>
        <p:nvSpPr>
          <p:cNvPr id="14" name="Text 11"/>
          <p:cNvSpPr txBox="1"/>
          <p:nvPr/>
        </p:nvSpPr>
        <p:spPr>
          <a:xfrm>
            <a:off x="815188" y="5120640"/>
            <a:ext cx="2880360" cy="685800"/>
          </a:xfrm>
          <a:prstGeom prst="rect">
            <a:avLst/>
          </a:prstGeom>
          <a:noFill/>
          <a:ln/>
        </p:spPr>
        <p:txBody>
          <a:bodyPr wrap="square" lIns="0" tIns="0" rIns="0" bIns="0" rtlCol="0" anchor="ctr"/>
          <a:lstStyle/>
          <a:p>
            <a:pPr algn="ctr" indent="0" marL="0">
              <a:lnSpc>
                <a:spcPct val="105000"/>
              </a:lnSpc>
              <a:buNone/>
            </a:pPr>
            <a:r>
              <a:rPr lang="en-US" sz="1250" b="1" dirty="0">
                <a:solidFill>
                  <a:srgbClr val="175C2E"/>
                </a:solidFill>
                <a:latin typeface="Calibri" pitchFamily="34" charset="0"/>
                <a:ea typeface="Calibri" pitchFamily="34" charset="-122"/>
                <a:cs typeface="Calibri" pitchFamily="34" charset="-120"/>
              </a:rPr>
              <a:t>Temporal: excellent</a:t>
            </a:r>
            <a:endParaRPr lang="en-US" sz="1250" dirty="0"/>
          </a:p>
          <a:p>
            <a:pPr algn="ctr" indent="0" marL="0">
              <a:lnSpc>
                <a:spcPct val="105000"/>
              </a:lnSpc>
              <a:buNone/>
            </a:pPr>
            <a:r>
              <a:rPr lang="en-US" sz="1250" b="1" dirty="0">
                <a:solidFill>
                  <a:srgbClr val="175C2E"/>
                </a:solidFill>
                <a:latin typeface="Calibri" pitchFamily="34" charset="0"/>
                <a:ea typeface="Calibri" pitchFamily="34" charset="-122"/>
                <a:cs typeface="Calibri" pitchFamily="34" charset="-120"/>
              </a:rPr>
              <a:t>Spatial: limited</a:t>
            </a:r>
            <a:endParaRPr lang="en-US" sz="1250" dirty="0"/>
          </a:p>
        </p:txBody>
      </p:sp>
      <p:sp>
        <p:nvSpPr>
          <p:cNvPr id="15" name="Shape 12"/>
          <p:cNvSpPr/>
          <p:nvPr/>
        </p:nvSpPr>
        <p:spPr>
          <a:xfrm>
            <a:off x="4289908" y="1828800"/>
            <a:ext cx="3611880" cy="4160520"/>
          </a:xfrm>
          <a:prstGeom prst="roundRect">
            <a:avLst>
              <a:gd name="adj" fmla="val 3544"/>
            </a:avLst>
          </a:prstGeom>
          <a:solidFill>
            <a:srgbClr val="FFFFFF"/>
          </a:solidFill>
          <a:ln w="12700">
            <a:solidFill>
              <a:srgbClr val="CFE8D2"/>
            </a:solidFill>
            <a:prstDash val="solid"/>
          </a:ln>
          <a:effectLst>
            <a:outerShdw sx="100000" sy="100000" kx="0" ky="0" algn="bl" rotWithShape="0" blurRad="76200" dist="25400" dir="5400000">
              <a:srgbClr val="1F2A22">
                <a:alpha val="18000"/>
              </a:srgbClr>
            </a:outerShdw>
          </a:effectLst>
        </p:spPr>
      </p:sp>
      <p:sp>
        <p:nvSpPr>
          <p:cNvPr id="16" name="Shape 13"/>
          <p:cNvSpPr/>
          <p:nvPr/>
        </p:nvSpPr>
        <p:spPr>
          <a:xfrm>
            <a:off x="5821528" y="1554480"/>
            <a:ext cx="548640" cy="548640"/>
          </a:xfrm>
          <a:prstGeom prst="ellipse">
            <a:avLst/>
          </a:prstGeom>
          <a:solidFill>
            <a:srgbClr val="D9A441"/>
          </a:solidFill>
          <a:ln w="25400">
            <a:solidFill>
              <a:srgbClr val="FFFFFF"/>
            </a:solidFill>
            <a:prstDash val="solid"/>
          </a:ln>
        </p:spPr>
      </p:sp>
      <p:sp>
        <p:nvSpPr>
          <p:cNvPr id="17" name="Text 14"/>
          <p:cNvSpPr txBox="1"/>
          <p:nvPr/>
        </p:nvSpPr>
        <p:spPr>
          <a:xfrm>
            <a:off x="5821528" y="1554480"/>
            <a:ext cx="548640" cy="548640"/>
          </a:xfrm>
          <a:prstGeom prst="rect">
            <a:avLst/>
          </a:prstGeom>
          <a:noFill/>
          <a:ln/>
        </p:spPr>
        <p:txBody>
          <a:bodyPr wrap="square" lIns="0" tIns="0" rIns="0" bIns="0" rtlCol="0" anchor="ctr"/>
          <a:lstStyle/>
          <a:p>
            <a:pPr algn="ctr" indent="0" marL="0">
              <a:buNone/>
            </a:pPr>
            <a:r>
              <a:rPr lang="en-US" sz="2200" b="1" dirty="0">
                <a:solidFill>
                  <a:srgbClr val="0F3320"/>
                </a:solidFill>
                <a:latin typeface="Cambria" pitchFamily="34" charset="0"/>
                <a:ea typeface="Cambria" pitchFamily="34" charset="-122"/>
                <a:cs typeface="Cambria" pitchFamily="34" charset="-120"/>
              </a:rPr>
              <a:t>2</a:t>
            </a:r>
            <a:endParaRPr lang="en-US" sz="2200" dirty="0"/>
          </a:p>
        </p:txBody>
      </p:sp>
      <p:sp>
        <p:nvSpPr>
          <p:cNvPr id="18" name="Shape 15"/>
          <p:cNvSpPr/>
          <p:nvPr/>
        </p:nvSpPr>
        <p:spPr>
          <a:xfrm>
            <a:off x="5684368" y="2240280"/>
            <a:ext cx="822960" cy="822960"/>
          </a:xfrm>
          <a:prstGeom prst="ellipse">
            <a:avLst/>
          </a:prstGeom>
          <a:solidFill>
            <a:srgbClr val="D9F0DC"/>
          </a:solidFill>
          <a:ln/>
        </p:spPr>
      </p:sp>
      <p:pic>
        <p:nvPicPr>
          <p:cNvPr id="19" name="Image 1" descr="/home/claude/hydromet_ppt/icons/link.png">    </p:cNvPr>
          <p:cNvPicPr>
            <a:picLocks noChangeAspect="1"/>
          </p:cNvPicPr>
          <p:nvPr/>
        </p:nvPicPr>
        <p:blipFill>
          <a:blip r:embed="rId2"/>
          <a:stretch>
            <a:fillRect/>
          </a:stretch>
        </p:blipFill>
        <p:spPr>
          <a:xfrm>
            <a:off x="5890108" y="2446020"/>
            <a:ext cx="411480" cy="411480"/>
          </a:xfrm>
          <a:prstGeom prst="rect">
            <a:avLst/>
          </a:prstGeom>
        </p:spPr>
      </p:pic>
      <p:sp>
        <p:nvSpPr>
          <p:cNvPr id="20" name="Text 16"/>
          <p:cNvSpPr txBox="1"/>
          <p:nvPr/>
        </p:nvSpPr>
        <p:spPr>
          <a:xfrm>
            <a:off x="4472788" y="3246120"/>
            <a:ext cx="3246120" cy="685800"/>
          </a:xfrm>
          <a:prstGeom prst="rect">
            <a:avLst/>
          </a:prstGeom>
          <a:noFill/>
          <a:ln/>
        </p:spPr>
        <p:txBody>
          <a:bodyPr wrap="square" lIns="0" tIns="0" rIns="0" bIns="0" rtlCol="0" anchor="ctr"/>
          <a:lstStyle/>
          <a:p>
            <a:pPr algn="ctr" indent="0" marL="0">
              <a:lnSpc>
                <a:spcPct val="105000"/>
              </a:lnSpc>
              <a:buNone/>
            </a:pPr>
            <a:r>
              <a:rPr lang="en-US" sz="1800" b="1" dirty="0">
                <a:solidFill>
                  <a:srgbClr val="0F3320"/>
                </a:solidFill>
                <a:latin typeface="Cambria" pitchFamily="34" charset="0"/>
                <a:ea typeface="Cambria" pitchFamily="34" charset="-122"/>
                <a:cs typeface="Cambria" pitchFamily="34" charset="-120"/>
              </a:rPr>
              <a:t>Single-Source</a:t>
            </a:r>
            <a:endParaRPr lang="en-US" sz="1800" dirty="0"/>
          </a:p>
          <a:p>
            <a:pPr algn="ctr" indent="0" marL="0">
              <a:lnSpc>
                <a:spcPct val="105000"/>
              </a:lnSpc>
              <a:buNone/>
            </a:pPr>
            <a:r>
              <a:rPr lang="en-US" sz="1800" b="1" dirty="0">
                <a:solidFill>
                  <a:srgbClr val="0F3320"/>
                </a:solidFill>
                <a:latin typeface="Cambria" pitchFamily="34" charset="0"/>
                <a:ea typeface="Cambria" pitchFamily="34" charset="-122"/>
                <a:cs typeface="Cambria" pitchFamily="34" charset="-120"/>
              </a:rPr>
              <a:t>Dependency</a:t>
            </a:r>
            <a:endParaRPr lang="en-US" sz="1800" dirty="0"/>
          </a:p>
        </p:txBody>
      </p:sp>
      <p:sp>
        <p:nvSpPr>
          <p:cNvPr id="21" name="Text 17"/>
          <p:cNvSpPr txBox="1"/>
          <p:nvPr/>
        </p:nvSpPr>
        <p:spPr>
          <a:xfrm>
            <a:off x="4564228" y="3977640"/>
            <a:ext cx="3063240" cy="1051560"/>
          </a:xfrm>
          <a:prstGeom prst="rect">
            <a:avLst/>
          </a:prstGeom>
          <a:noFill/>
          <a:ln/>
        </p:spPr>
        <p:txBody>
          <a:bodyPr wrap="square" lIns="0" tIns="0" rIns="0" bIns="0" rtlCol="0" anchor="ctr"/>
          <a:lstStyle/>
          <a:p>
            <a:pPr algn="ctr" indent="0" marL="0">
              <a:lnSpc>
                <a:spcPct val="110000"/>
              </a:lnSpc>
              <a:buNone/>
            </a:pPr>
            <a:r>
              <a:rPr lang="en-US" sz="1450" dirty="0">
                <a:solidFill>
                  <a:srgbClr val="17241C"/>
                </a:solidFill>
                <a:latin typeface="Calibri" pitchFamily="34" charset="0"/>
                <a:ea typeface="Calibri" pitchFamily="34" charset="-122"/>
                <a:cs typeface="Calibri" pitchFamily="34" charset="-120"/>
              </a:rPr>
              <a:t>Only NASA POWER is used — no independent source for cross-validation.</a:t>
            </a:r>
            <a:endParaRPr lang="en-US" sz="1450" dirty="0"/>
          </a:p>
        </p:txBody>
      </p:sp>
      <p:sp>
        <p:nvSpPr>
          <p:cNvPr id="22" name="Shape 18"/>
          <p:cNvSpPr/>
          <p:nvPr/>
        </p:nvSpPr>
        <p:spPr>
          <a:xfrm>
            <a:off x="4564228" y="5074920"/>
            <a:ext cx="3063240" cy="777240"/>
          </a:xfrm>
          <a:prstGeom prst="roundRect">
            <a:avLst>
              <a:gd name="adj" fmla="val 11765"/>
            </a:avLst>
          </a:prstGeom>
          <a:solidFill>
            <a:srgbClr val="EAF6EC"/>
          </a:solidFill>
          <a:ln/>
        </p:spPr>
      </p:sp>
      <p:sp>
        <p:nvSpPr>
          <p:cNvPr id="23" name="Text 19"/>
          <p:cNvSpPr txBox="1"/>
          <p:nvPr/>
        </p:nvSpPr>
        <p:spPr>
          <a:xfrm>
            <a:off x="4655668" y="5120640"/>
            <a:ext cx="2880360" cy="685800"/>
          </a:xfrm>
          <a:prstGeom prst="rect">
            <a:avLst/>
          </a:prstGeom>
          <a:noFill/>
          <a:ln/>
        </p:spPr>
        <p:txBody>
          <a:bodyPr wrap="square" lIns="0" tIns="0" rIns="0" bIns="0" rtlCol="0" anchor="ctr"/>
          <a:lstStyle/>
          <a:p>
            <a:pPr algn="ctr" indent="0" marL="0">
              <a:lnSpc>
                <a:spcPct val="105000"/>
              </a:lnSpc>
              <a:buNone/>
            </a:pPr>
            <a:r>
              <a:rPr lang="en-US" sz="1250" b="1" dirty="0">
                <a:solidFill>
                  <a:srgbClr val="175C2E"/>
                </a:solidFill>
                <a:latin typeface="Calibri" pitchFamily="34" charset="0"/>
                <a:ea typeface="Calibri" pitchFamily="34" charset="-122"/>
                <a:cs typeface="Calibri" pitchFamily="34" charset="-120"/>
              </a:rPr>
              <a:t>Future: + CHIRPS</a:t>
            </a:r>
            <a:endParaRPr lang="en-US" sz="1250" dirty="0"/>
          </a:p>
          <a:p>
            <a:pPr algn="ctr" indent="0" marL="0">
              <a:lnSpc>
                <a:spcPct val="105000"/>
              </a:lnSpc>
              <a:buNone/>
            </a:pPr>
            <a:r>
              <a:rPr lang="en-US" sz="1250" b="1" dirty="0">
                <a:solidFill>
                  <a:srgbClr val="175C2E"/>
                </a:solidFill>
                <a:latin typeface="Calibri" pitchFamily="34" charset="0"/>
                <a:ea typeface="Calibri" pitchFamily="34" charset="-122"/>
                <a:cs typeface="Calibri" pitchFamily="34" charset="-120"/>
              </a:rPr>
              <a:t>+ ERA5-Land</a:t>
            </a:r>
            <a:endParaRPr lang="en-US" sz="1250" dirty="0"/>
          </a:p>
          <a:p>
            <a:pPr algn="ctr" indent="0" marL="0">
              <a:lnSpc>
                <a:spcPct val="105000"/>
              </a:lnSpc>
              <a:buNone/>
            </a:pPr>
            <a:r>
              <a:rPr lang="en-US" sz="1250" b="1" dirty="0">
                <a:solidFill>
                  <a:srgbClr val="175C2E"/>
                </a:solidFill>
                <a:latin typeface="Calibri" pitchFamily="34" charset="0"/>
                <a:ea typeface="Calibri" pitchFamily="34" charset="-122"/>
                <a:cs typeface="Calibri" pitchFamily="34" charset="-120"/>
              </a:rPr>
              <a:t>+ Stations</a:t>
            </a:r>
            <a:endParaRPr lang="en-US" sz="1250" dirty="0"/>
          </a:p>
        </p:txBody>
      </p:sp>
      <p:sp>
        <p:nvSpPr>
          <p:cNvPr id="24" name="Shape 20"/>
          <p:cNvSpPr/>
          <p:nvPr/>
        </p:nvSpPr>
        <p:spPr>
          <a:xfrm>
            <a:off x="8130388" y="1828800"/>
            <a:ext cx="3611880" cy="4160520"/>
          </a:xfrm>
          <a:prstGeom prst="roundRect">
            <a:avLst>
              <a:gd name="adj" fmla="val 3544"/>
            </a:avLst>
          </a:prstGeom>
          <a:solidFill>
            <a:srgbClr val="FFFFFF"/>
          </a:solidFill>
          <a:ln w="12700">
            <a:solidFill>
              <a:srgbClr val="CFE8D2"/>
            </a:solidFill>
            <a:prstDash val="solid"/>
          </a:ln>
          <a:effectLst>
            <a:outerShdw sx="100000" sy="100000" kx="0" ky="0" algn="bl" rotWithShape="0" blurRad="76200" dist="25400" dir="5400000">
              <a:srgbClr val="1F2A22">
                <a:alpha val="18000"/>
              </a:srgbClr>
            </a:outerShdw>
          </a:effectLst>
        </p:spPr>
      </p:sp>
      <p:sp>
        <p:nvSpPr>
          <p:cNvPr id="25" name="Shape 21"/>
          <p:cNvSpPr/>
          <p:nvPr/>
        </p:nvSpPr>
        <p:spPr>
          <a:xfrm>
            <a:off x="9662008" y="1554480"/>
            <a:ext cx="548640" cy="548640"/>
          </a:xfrm>
          <a:prstGeom prst="ellipse">
            <a:avLst/>
          </a:prstGeom>
          <a:solidFill>
            <a:srgbClr val="D9A441"/>
          </a:solidFill>
          <a:ln w="25400">
            <a:solidFill>
              <a:srgbClr val="FFFFFF"/>
            </a:solidFill>
            <a:prstDash val="solid"/>
          </a:ln>
        </p:spPr>
      </p:sp>
      <p:sp>
        <p:nvSpPr>
          <p:cNvPr id="26" name="Text 22"/>
          <p:cNvSpPr txBox="1"/>
          <p:nvPr/>
        </p:nvSpPr>
        <p:spPr>
          <a:xfrm>
            <a:off x="9662008" y="1554480"/>
            <a:ext cx="548640" cy="548640"/>
          </a:xfrm>
          <a:prstGeom prst="rect">
            <a:avLst/>
          </a:prstGeom>
          <a:noFill/>
          <a:ln/>
        </p:spPr>
        <p:txBody>
          <a:bodyPr wrap="square" lIns="0" tIns="0" rIns="0" bIns="0" rtlCol="0" anchor="ctr"/>
          <a:lstStyle/>
          <a:p>
            <a:pPr algn="ctr" indent="0" marL="0">
              <a:buNone/>
            </a:pPr>
            <a:r>
              <a:rPr lang="en-US" sz="2200" b="1" dirty="0">
                <a:solidFill>
                  <a:srgbClr val="0F3320"/>
                </a:solidFill>
                <a:latin typeface="Cambria" pitchFamily="34" charset="0"/>
                <a:ea typeface="Cambria" pitchFamily="34" charset="-122"/>
                <a:cs typeface="Cambria" pitchFamily="34" charset="-120"/>
              </a:rPr>
              <a:t>3</a:t>
            </a:r>
            <a:endParaRPr lang="en-US" sz="2200" dirty="0"/>
          </a:p>
        </p:txBody>
      </p:sp>
      <p:sp>
        <p:nvSpPr>
          <p:cNvPr id="27" name="Shape 23"/>
          <p:cNvSpPr/>
          <p:nvPr/>
        </p:nvSpPr>
        <p:spPr>
          <a:xfrm>
            <a:off x="9524848" y="2240280"/>
            <a:ext cx="822960" cy="822960"/>
          </a:xfrm>
          <a:prstGeom prst="ellipse">
            <a:avLst/>
          </a:prstGeom>
          <a:solidFill>
            <a:srgbClr val="D9F0DC"/>
          </a:solidFill>
          <a:ln/>
        </p:spPr>
      </p:sp>
      <p:pic>
        <p:nvPicPr>
          <p:cNvPr id="28" name="Image 2" descr="/home/claude/hydromet_ppt/icons/balance.png">    </p:cNvPr>
          <p:cNvPicPr>
            <a:picLocks noChangeAspect="1"/>
          </p:cNvPicPr>
          <p:nvPr/>
        </p:nvPicPr>
        <p:blipFill>
          <a:blip r:embed="rId3"/>
          <a:stretch>
            <a:fillRect/>
          </a:stretch>
        </p:blipFill>
        <p:spPr>
          <a:xfrm>
            <a:off x="9730588" y="2446020"/>
            <a:ext cx="411480" cy="411480"/>
          </a:xfrm>
          <a:prstGeom prst="rect">
            <a:avLst/>
          </a:prstGeom>
        </p:spPr>
      </p:pic>
      <p:sp>
        <p:nvSpPr>
          <p:cNvPr id="29" name="Text 24"/>
          <p:cNvSpPr txBox="1"/>
          <p:nvPr/>
        </p:nvSpPr>
        <p:spPr>
          <a:xfrm>
            <a:off x="8313268" y="3246120"/>
            <a:ext cx="3246120" cy="685800"/>
          </a:xfrm>
          <a:prstGeom prst="rect">
            <a:avLst/>
          </a:prstGeom>
          <a:noFill/>
          <a:ln/>
        </p:spPr>
        <p:txBody>
          <a:bodyPr wrap="square" lIns="0" tIns="0" rIns="0" bIns="0" rtlCol="0" anchor="ctr"/>
          <a:lstStyle/>
          <a:p>
            <a:pPr algn="ctr" indent="0" marL="0">
              <a:lnSpc>
                <a:spcPct val="105000"/>
              </a:lnSpc>
              <a:buNone/>
            </a:pPr>
            <a:r>
              <a:rPr lang="en-US" sz="1800" b="1" dirty="0">
                <a:solidFill>
                  <a:srgbClr val="0F3320"/>
                </a:solidFill>
                <a:latin typeface="Cambria" pitchFamily="34" charset="0"/>
                <a:ea typeface="Cambria" pitchFamily="34" charset="-122"/>
                <a:cs typeface="Cambria" pitchFamily="34" charset="-120"/>
              </a:rPr>
              <a:t>Extremes Need</a:t>
            </a:r>
            <a:endParaRPr lang="en-US" sz="1800" dirty="0"/>
          </a:p>
          <a:p>
            <a:pPr algn="ctr" indent="0" marL="0">
              <a:lnSpc>
                <a:spcPct val="105000"/>
              </a:lnSpc>
              <a:buNone/>
            </a:pPr>
            <a:r>
              <a:rPr lang="en-US" sz="1800" b="1" dirty="0">
                <a:solidFill>
                  <a:srgbClr val="0F3320"/>
                </a:solidFill>
                <a:latin typeface="Cambria" pitchFamily="34" charset="0"/>
                <a:ea typeface="Cambria" pitchFamily="34" charset="-122"/>
                <a:cs typeface="Cambria" pitchFamily="34" charset="-120"/>
              </a:rPr>
              <a:t>Domain-Aware QA</a:t>
            </a:r>
            <a:endParaRPr lang="en-US" sz="1800" dirty="0"/>
          </a:p>
        </p:txBody>
      </p:sp>
      <p:sp>
        <p:nvSpPr>
          <p:cNvPr id="30" name="Text 25"/>
          <p:cNvSpPr txBox="1"/>
          <p:nvPr/>
        </p:nvSpPr>
        <p:spPr>
          <a:xfrm>
            <a:off x="8404708" y="3977640"/>
            <a:ext cx="3063240" cy="1051560"/>
          </a:xfrm>
          <a:prstGeom prst="rect">
            <a:avLst/>
          </a:prstGeom>
          <a:noFill/>
          <a:ln/>
        </p:spPr>
        <p:txBody>
          <a:bodyPr wrap="square" lIns="0" tIns="0" rIns="0" bIns="0" rtlCol="0" anchor="ctr"/>
          <a:lstStyle/>
          <a:p>
            <a:pPr algn="ctr" indent="0" marL="0">
              <a:lnSpc>
                <a:spcPct val="110000"/>
              </a:lnSpc>
              <a:buNone/>
            </a:pPr>
            <a:r>
              <a:rPr lang="en-US" sz="1450" dirty="0">
                <a:solidFill>
                  <a:srgbClr val="17241C"/>
                </a:solidFill>
                <a:latin typeface="Calibri" pitchFamily="34" charset="0"/>
                <a:ea typeface="Calibri" pitchFamily="34" charset="-122"/>
                <a:cs typeface="Calibri" pitchFamily="34" charset="-120"/>
              </a:rPr>
              <a:t>≈8,350 precipitation values statistically flagged — not automatically errors.</a:t>
            </a:r>
            <a:endParaRPr lang="en-US" sz="1450" dirty="0"/>
          </a:p>
        </p:txBody>
      </p:sp>
      <p:sp>
        <p:nvSpPr>
          <p:cNvPr id="31" name="Shape 26"/>
          <p:cNvSpPr/>
          <p:nvPr/>
        </p:nvSpPr>
        <p:spPr>
          <a:xfrm>
            <a:off x="8404708" y="5074920"/>
            <a:ext cx="3063240" cy="777240"/>
          </a:xfrm>
          <a:prstGeom prst="roundRect">
            <a:avLst>
              <a:gd name="adj" fmla="val 11765"/>
            </a:avLst>
          </a:prstGeom>
          <a:solidFill>
            <a:srgbClr val="EAF6EC"/>
          </a:solidFill>
          <a:ln/>
        </p:spPr>
      </p:sp>
      <p:sp>
        <p:nvSpPr>
          <p:cNvPr id="32" name="Text 27"/>
          <p:cNvSpPr txBox="1"/>
          <p:nvPr/>
        </p:nvSpPr>
        <p:spPr>
          <a:xfrm>
            <a:off x="8496148" y="5120640"/>
            <a:ext cx="2880360" cy="685800"/>
          </a:xfrm>
          <a:prstGeom prst="rect">
            <a:avLst/>
          </a:prstGeom>
          <a:noFill/>
          <a:ln/>
        </p:spPr>
        <p:txBody>
          <a:bodyPr wrap="square" lIns="0" tIns="0" rIns="0" bIns="0" rtlCol="0" anchor="ctr"/>
          <a:lstStyle/>
          <a:p>
            <a:pPr algn="ctr" indent="0" marL="0">
              <a:lnSpc>
                <a:spcPct val="105000"/>
              </a:lnSpc>
              <a:buNone/>
            </a:pPr>
            <a:r>
              <a:rPr lang="en-US" sz="1250" b="1" dirty="0">
                <a:solidFill>
                  <a:srgbClr val="175C2E"/>
                </a:solidFill>
                <a:latin typeface="Calibri" pitchFamily="34" charset="0"/>
                <a:ea typeface="Calibri" pitchFamily="34" charset="-122"/>
                <a:cs typeface="Calibri" pitchFamily="34" charset="-120"/>
              </a:rPr>
              <a:t>≈ 11.43% of</a:t>
            </a:r>
            <a:endParaRPr lang="en-US" sz="1250" dirty="0"/>
          </a:p>
          <a:p>
            <a:pPr algn="ctr" indent="0" marL="0">
              <a:lnSpc>
                <a:spcPct val="105000"/>
              </a:lnSpc>
              <a:buNone/>
            </a:pPr>
            <a:r>
              <a:rPr lang="en-US" sz="1250" b="1" dirty="0">
                <a:solidFill>
                  <a:srgbClr val="175C2E"/>
                </a:solidFill>
                <a:latin typeface="Calibri" pitchFamily="34" charset="0"/>
                <a:ea typeface="Calibri" pitchFamily="34" charset="-122"/>
                <a:cs typeface="Calibri" pitchFamily="34" charset="-120"/>
              </a:rPr>
              <a:t>precipitation records</a:t>
            </a:r>
            <a:endParaRPr lang="en-US" sz="1250" dirty="0"/>
          </a:p>
        </p:txBody>
      </p:sp>
      <p:sp>
        <p:nvSpPr>
          <p:cNvPr id="33" name="Text 28"/>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9 / 23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1</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FROM FINDINGS TO REQUIREMENTS</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The Week 1 Journey, in One Picture</a:t>
            </a:r>
            <a:endParaRPr lang="en-US" sz="3200" dirty="0"/>
          </a:p>
        </p:txBody>
      </p:sp>
      <p:sp>
        <p:nvSpPr>
          <p:cNvPr id="6" name="Shape 4"/>
          <p:cNvSpPr/>
          <p:nvPr/>
        </p:nvSpPr>
        <p:spPr>
          <a:xfrm>
            <a:off x="1340968" y="1691640"/>
            <a:ext cx="7863840" cy="603504"/>
          </a:xfrm>
          <a:prstGeom prst="roundRect">
            <a:avLst>
              <a:gd name="adj" fmla="val 15152"/>
            </a:avLst>
          </a:prstGeom>
          <a:solidFill>
            <a:srgbClr val="EAF6EC"/>
          </a:solidFill>
          <a:ln w="12700">
            <a:solidFill>
              <a:srgbClr val="CFE8D2"/>
            </a:solidFill>
            <a:prstDash val="solid"/>
          </a:ln>
        </p:spPr>
      </p:sp>
      <p:sp>
        <p:nvSpPr>
          <p:cNvPr id="7" name="Shape 5"/>
          <p:cNvSpPr/>
          <p:nvPr/>
        </p:nvSpPr>
        <p:spPr>
          <a:xfrm>
            <a:off x="1468984" y="1764792"/>
            <a:ext cx="457200" cy="457200"/>
          </a:xfrm>
          <a:prstGeom prst="ellipse">
            <a:avLst/>
          </a:prstGeom>
          <a:solidFill>
            <a:srgbClr val="1F7A3D"/>
          </a:solidFill>
          <a:ln/>
        </p:spPr>
      </p:sp>
      <p:pic>
        <p:nvPicPr>
          <p:cNvPr id="8" name="Image 0" descr="/home/claude/hydromet_ppt/icons/satellite.png">    </p:cNvPr>
          <p:cNvPicPr>
            <a:picLocks noChangeAspect="1"/>
          </p:cNvPicPr>
          <p:nvPr/>
        </p:nvPicPr>
        <p:blipFill>
          <a:blip r:embed="rId1"/>
          <a:stretch>
            <a:fillRect/>
          </a:stretch>
        </p:blipFill>
        <p:spPr>
          <a:xfrm>
            <a:off x="1571854" y="1867662"/>
            <a:ext cx="251460" cy="251460"/>
          </a:xfrm>
          <a:prstGeom prst="rect">
            <a:avLst/>
          </a:prstGeom>
        </p:spPr>
      </p:pic>
      <p:sp>
        <p:nvSpPr>
          <p:cNvPr id="9" name="Text 6"/>
          <p:cNvSpPr txBox="1"/>
          <p:nvPr/>
        </p:nvSpPr>
        <p:spPr>
          <a:xfrm>
            <a:off x="2054200" y="1746504"/>
            <a:ext cx="4206240" cy="502920"/>
          </a:xfrm>
          <a:prstGeom prst="rect">
            <a:avLst/>
          </a:prstGeom>
          <a:noFill/>
          <a:ln/>
        </p:spPr>
        <p:txBody>
          <a:bodyPr wrap="square" lIns="0" tIns="0" rIns="0" bIns="0" rtlCol="0" anchor="ctr"/>
          <a:lstStyle/>
          <a:p>
            <a:pPr indent="0" marL="0">
              <a:buNone/>
            </a:pPr>
            <a:r>
              <a:rPr lang="en-US" sz="1600" b="1" dirty="0">
                <a:solidFill>
                  <a:srgbClr val="0F3320"/>
                </a:solidFill>
                <a:latin typeface="Cambria" pitchFamily="34" charset="0"/>
                <a:ea typeface="Cambria" pitchFamily="34" charset="-122"/>
                <a:cs typeface="Cambria" pitchFamily="34" charset="-120"/>
              </a:rPr>
              <a:t>NASA POWER Data</a:t>
            </a:r>
            <a:endParaRPr lang="en-US" sz="1600" dirty="0"/>
          </a:p>
        </p:txBody>
      </p:sp>
      <p:sp>
        <p:nvSpPr>
          <p:cNvPr id="10" name="Text 7"/>
          <p:cNvSpPr txBox="1"/>
          <p:nvPr/>
        </p:nvSpPr>
        <p:spPr>
          <a:xfrm>
            <a:off x="6278728" y="1746504"/>
            <a:ext cx="2788920" cy="502920"/>
          </a:xfrm>
          <a:prstGeom prst="rect">
            <a:avLst/>
          </a:prstGeom>
          <a:noFill/>
          <a:ln/>
        </p:spPr>
        <p:txBody>
          <a:bodyPr wrap="square" lIns="0" tIns="0" rIns="0" bIns="0" rtlCol="0" anchor="ctr"/>
          <a:lstStyle/>
          <a:p>
            <a:pPr algn="r" indent="0" marL="0">
              <a:buNone/>
            </a:pPr>
            <a:r>
              <a:rPr lang="en-US" sz="1250" i="1" dirty="0">
                <a:solidFill>
                  <a:srgbClr val="5C6B63"/>
                </a:solidFill>
                <a:latin typeface="Calibri" pitchFamily="34" charset="0"/>
                <a:ea typeface="Calibri" pitchFamily="34" charset="-122"/>
                <a:cs typeface="Calibri" pitchFamily="34" charset="-120"/>
              </a:rPr>
              <a:t>73,048 raw records</a:t>
            </a:r>
            <a:endParaRPr lang="en-US" sz="1250" dirty="0"/>
          </a:p>
        </p:txBody>
      </p:sp>
      <p:sp>
        <p:nvSpPr>
          <p:cNvPr id="11" name="Shape 8"/>
          <p:cNvSpPr/>
          <p:nvPr/>
        </p:nvSpPr>
        <p:spPr>
          <a:xfrm>
            <a:off x="1661008" y="2295144"/>
            <a:ext cx="91440" cy="132588"/>
          </a:xfrm>
          <a:prstGeom prst="downArrow">
            <a:avLst/>
          </a:prstGeom>
          <a:solidFill>
            <a:srgbClr val="D9A441"/>
          </a:solidFill>
          <a:ln/>
        </p:spPr>
      </p:sp>
      <p:sp>
        <p:nvSpPr>
          <p:cNvPr id="12" name="Shape 9"/>
          <p:cNvSpPr/>
          <p:nvPr/>
        </p:nvSpPr>
        <p:spPr>
          <a:xfrm>
            <a:off x="1340968" y="2427732"/>
            <a:ext cx="7863840" cy="603504"/>
          </a:xfrm>
          <a:prstGeom prst="roundRect">
            <a:avLst>
              <a:gd name="adj" fmla="val 15152"/>
            </a:avLst>
          </a:prstGeom>
          <a:solidFill>
            <a:srgbClr val="D9F0DC"/>
          </a:solidFill>
          <a:ln w="12700">
            <a:solidFill>
              <a:srgbClr val="CFE8D2"/>
            </a:solidFill>
            <a:prstDash val="solid"/>
          </a:ln>
        </p:spPr>
      </p:sp>
      <p:sp>
        <p:nvSpPr>
          <p:cNvPr id="13" name="Shape 10"/>
          <p:cNvSpPr/>
          <p:nvPr/>
        </p:nvSpPr>
        <p:spPr>
          <a:xfrm>
            <a:off x="1468984" y="2500884"/>
            <a:ext cx="457200" cy="457200"/>
          </a:xfrm>
          <a:prstGeom prst="ellipse">
            <a:avLst/>
          </a:prstGeom>
          <a:solidFill>
            <a:srgbClr val="1F7A3D"/>
          </a:solidFill>
          <a:ln/>
        </p:spPr>
      </p:sp>
      <p:pic>
        <p:nvPicPr>
          <p:cNvPr id="14" name="Image 1" descr="/home/claude/hydromet_ppt/icons/search.png">    </p:cNvPr>
          <p:cNvPicPr>
            <a:picLocks noChangeAspect="1"/>
          </p:cNvPicPr>
          <p:nvPr/>
        </p:nvPicPr>
        <p:blipFill>
          <a:blip r:embed="rId2"/>
          <a:stretch>
            <a:fillRect/>
          </a:stretch>
        </p:blipFill>
        <p:spPr>
          <a:xfrm>
            <a:off x="1571854" y="2603754"/>
            <a:ext cx="251460" cy="251460"/>
          </a:xfrm>
          <a:prstGeom prst="rect">
            <a:avLst/>
          </a:prstGeom>
        </p:spPr>
      </p:pic>
      <p:sp>
        <p:nvSpPr>
          <p:cNvPr id="15" name="Text 11"/>
          <p:cNvSpPr txBox="1"/>
          <p:nvPr/>
        </p:nvSpPr>
        <p:spPr>
          <a:xfrm>
            <a:off x="2054200" y="2482596"/>
            <a:ext cx="4206240" cy="502920"/>
          </a:xfrm>
          <a:prstGeom prst="rect">
            <a:avLst/>
          </a:prstGeom>
          <a:noFill/>
          <a:ln/>
        </p:spPr>
        <p:txBody>
          <a:bodyPr wrap="square" lIns="0" tIns="0" rIns="0" bIns="0" rtlCol="0" anchor="ctr"/>
          <a:lstStyle/>
          <a:p>
            <a:pPr indent="0" marL="0">
              <a:buNone/>
            </a:pPr>
            <a:r>
              <a:rPr lang="en-US" sz="1600" b="1" dirty="0">
                <a:solidFill>
                  <a:srgbClr val="0F3320"/>
                </a:solidFill>
                <a:latin typeface="Cambria" pitchFamily="34" charset="0"/>
                <a:ea typeface="Cambria" pitchFamily="34" charset="-122"/>
                <a:cs typeface="Cambria" pitchFamily="34" charset="-120"/>
              </a:rPr>
              <a:t>Initial Profiling</a:t>
            </a:r>
            <a:endParaRPr lang="en-US" sz="1600" dirty="0"/>
          </a:p>
        </p:txBody>
      </p:sp>
      <p:sp>
        <p:nvSpPr>
          <p:cNvPr id="16" name="Text 12"/>
          <p:cNvSpPr txBox="1"/>
          <p:nvPr/>
        </p:nvSpPr>
        <p:spPr>
          <a:xfrm>
            <a:off x="6278728" y="2482596"/>
            <a:ext cx="2788920" cy="502920"/>
          </a:xfrm>
          <a:prstGeom prst="rect">
            <a:avLst/>
          </a:prstGeom>
          <a:noFill/>
          <a:ln/>
        </p:spPr>
        <p:txBody>
          <a:bodyPr wrap="square" lIns="0" tIns="0" rIns="0" bIns="0" rtlCol="0" anchor="ctr"/>
          <a:lstStyle/>
          <a:p>
            <a:pPr algn="r" indent="0" marL="0">
              <a:buNone/>
            </a:pPr>
            <a:r>
              <a:rPr lang="en-US" sz="1250" i="1" dirty="0">
                <a:solidFill>
                  <a:srgbClr val="5C6B63"/>
                </a:solidFill>
                <a:latin typeface="Calibri" pitchFamily="34" charset="0"/>
                <a:ea typeface="Calibri" pitchFamily="34" charset="-122"/>
                <a:cs typeface="Calibri" pitchFamily="34" charset="-120"/>
              </a:rPr>
              <a:t>Basic structural checks</a:t>
            </a:r>
            <a:endParaRPr lang="en-US" sz="1250" dirty="0"/>
          </a:p>
        </p:txBody>
      </p:sp>
      <p:sp>
        <p:nvSpPr>
          <p:cNvPr id="17" name="Shape 13"/>
          <p:cNvSpPr/>
          <p:nvPr/>
        </p:nvSpPr>
        <p:spPr>
          <a:xfrm>
            <a:off x="1661008" y="3031236"/>
            <a:ext cx="91440" cy="132588"/>
          </a:xfrm>
          <a:prstGeom prst="downArrow">
            <a:avLst/>
          </a:prstGeom>
          <a:solidFill>
            <a:srgbClr val="D9A441"/>
          </a:solidFill>
          <a:ln/>
        </p:spPr>
      </p:sp>
      <p:sp>
        <p:nvSpPr>
          <p:cNvPr id="18" name="Shape 14"/>
          <p:cNvSpPr/>
          <p:nvPr/>
        </p:nvSpPr>
        <p:spPr>
          <a:xfrm>
            <a:off x="1340968" y="3163824"/>
            <a:ext cx="7863840" cy="603504"/>
          </a:xfrm>
          <a:prstGeom prst="roundRect">
            <a:avLst>
              <a:gd name="adj" fmla="val 15152"/>
            </a:avLst>
          </a:prstGeom>
          <a:solidFill>
            <a:srgbClr val="EAF6EC"/>
          </a:solidFill>
          <a:ln w="12700">
            <a:solidFill>
              <a:srgbClr val="CFE8D2"/>
            </a:solidFill>
            <a:prstDash val="solid"/>
          </a:ln>
        </p:spPr>
      </p:sp>
      <p:sp>
        <p:nvSpPr>
          <p:cNvPr id="19" name="Shape 15"/>
          <p:cNvSpPr/>
          <p:nvPr/>
        </p:nvSpPr>
        <p:spPr>
          <a:xfrm>
            <a:off x="1468984" y="3236976"/>
            <a:ext cx="457200" cy="457200"/>
          </a:xfrm>
          <a:prstGeom prst="ellipse">
            <a:avLst/>
          </a:prstGeom>
          <a:solidFill>
            <a:srgbClr val="1F7A3D"/>
          </a:solidFill>
          <a:ln/>
        </p:spPr>
      </p:sp>
      <p:pic>
        <p:nvPicPr>
          <p:cNvPr id="20" name="Image 2" descr="/home/claude/hydromet_ppt/icons/check.png">    </p:cNvPr>
          <p:cNvPicPr>
            <a:picLocks noChangeAspect="1"/>
          </p:cNvPicPr>
          <p:nvPr/>
        </p:nvPicPr>
        <p:blipFill>
          <a:blip r:embed="rId3"/>
          <a:stretch>
            <a:fillRect/>
          </a:stretch>
        </p:blipFill>
        <p:spPr>
          <a:xfrm>
            <a:off x="1571854" y="3339846"/>
            <a:ext cx="251460" cy="251460"/>
          </a:xfrm>
          <a:prstGeom prst="rect">
            <a:avLst/>
          </a:prstGeom>
        </p:spPr>
      </p:pic>
      <p:sp>
        <p:nvSpPr>
          <p:cNvPr id="21" name="Text 16"/>
          <p:cNvSpPr txBox="1"/>
          <p:nvPr/>
        </p:nvSpPr>
        <p:spPr>
          <a:xfrm>
            <a:off x="2054200" y="3218688"/>
            <a:ext cx="4206240" cy="502920"/>
          </a:xfrm>
          <a:prstGeom prst="rect">
            <a:avLst/>
          </a:prstGeom>
          <a:noFill/>
          <a:ln/>
        </p:spPr>
        <p:txBody>
          <a:bodyPr wrap="square" lIns="0" tIns="0" rIns="0" bIns="0" rtlCol="0" anchor="ctr"/>
          <a:lstStyle/>
          <a:p>
            <a:pPr indent="0" marL="0">
              <a:buNone/>
            </a:pPr>
            <a:r>
              <a:rPr lang="en-US" sz="1600" b="1" dirty="0">
                <a:solidFill>
                  <a:srgbClr val="0F3320"/>
                </a:solidFill>
                <a:latin typeface="Cambria" pitchFamily="34" charset="0"/>
                <a:ea typeface="Cambria" pitchFamily="34" charset="-122"/>
                <a:cs typeface="Cambria" pitchFamily="34" charset="-120"/>
              </a:rPr>
              <a:t>“Data Are Structurally Clean”</a:t>
            </a:r>
            <a:endParaRPr lang="en-US" sz="1600" dirty="0"/>
          </a:p>
        </p:txBody>
      </p:sp>
      <p:sp>
        <p:nvSpPr>
          <p:cNvPr id="22" name="Text 17"/>
          <p:cNvSpPr txBox="1"/>
          <p:nvPr/>
        </p:nvSpPr>
        <p:spPr>
          <a:xfrm>
            <a:off x="6278728" y="3218688"/>
            <a:ext cx="2788920" cy="502920"/>
          </a:xfrm>
          <a:prstGeom prst="rect">
            <a:avLst/>
          </a:prstGeom>
          <a:noFill/>
          <a:ln/>
        </p:spPr>
        <p:txBody>
          <a:bodyPr wrap="square" lIns="0" tIns="0" rIns="0" bIns="0" rtlCol="0" anchor="ctr"/>
          <a:lstStyle/>
          <a:p>
            <a:pPr algn="r" indent="0" marL="0">
              <a:buNone/>
            </a:pPr>
            <a:r>
              <a:rPr lang="en-US" sz="1250" i="1" dirty="0">
                <a:solidFill>
                  <a:srgbClr val="5C6B63"/>
                </a:solidFill>
                <a:latin typeface="Calibri" pitchFamily="34" charset="0"/>
                <a:ea typeface="Calibri" pitchFamily="34" charset="-122"/>
                <a:cs typeface="Calibri" pitchFamily="34" charset="-120"/>
              </a:rPr>
              <a:t>0 across every basic check</a:t>
            </a:r>
            <a:endParaRPr lang="en-US" sz="1250" dirty="0"/>
          </a:p>
        </p:txBody>
      </p:sp>
      <p:sp>
        <p:nvSpPr>
          <p:cNvPr id="23" name="Shape 18"/>
          <p:cNvSpPr/>
          <p:nvPr/>
        </p:nvSpPr>
        <p:spPr>
          <a:xfrm>
            <a:off x="1661008" y="3767328"/>
            <a:ext cx="91440" cy="132588"/>
          </a:xfrm>
          <a:prstGeom prst="downArrow">
            <a:avLst/>
          </a:prstGeom>
          <a:solidFill>
            <a:srgbClr val="D9A441"/>
          </a:solidFill>
          <a:ln/>
        </p:spPr>
      </p:sp>
      <p:sp>
        <p:nvSpPr>
          <p:cNvPr id="24" name="Shape 19"/>
          <p:cNvSpPr/>
          <p:nvPr/>
        </p:nvSpPr>
        <p:spPr>
          <a:xfrm>
            <a:off x="1340968" y="3899916"/>
            <a:ext cx="7863840" cy="603504"/>
          </a:xfrm>
          <a:prstGeom prst="roundRect">
            <a:avLst>
              <a:gd name="adj" fmla="val 15152"/>
            </a:avLst>
          </a:prstGeom>
          <a:solidFill>
            <a:srgbClr val="D9F0DC"/>
          </a:solidFill>
          <a:ln w="12700">
            <a:solidFill>
              <a:srgbClr val="CFE8D2"/>
            </a:solidFill>
            <a:prstDash val="solid"/>
          </a:ln>
        </p:spPr>
      </p:sp>
      <p:sp>
        <p:nvSpPr>
          <p:cNvPr id="25" name="Shape 20"/>
          <p:cNvSpPr/>
          <p:nvPr/>
        </p:nvSpPr>
        <p:spPr>
          <a:xfrm>
            <a:off x="1468984" y="3973068"/>
            <a:ext cx="457200" cy="457200"/>
          </a:xfrm>
          <a:prstGeom prst="ellipse">
            <a:avLst/>
          </a:prstGeom>
          <a:solidFill>
            <a:srgbClr val="1F7A3D"/>
          </a:solidFill>
          <a:ln/>
        </p:spPr>
      </p:sp>
      <p:pic>
        <p:nvPicPr>
          <p:cNvPr id="26" name="Image 3" descr="/home/claude/hydromet_ppt/icons/diagram.png">    </p:cNvPr>
          <p:cNvPicPr>
            <a:picLocks noChangeAspect="1"/>
          </p:cNvPicPr>
          <p:nvPr/>
        </p:nvPicPr>
        <p:blipFill>
          <a:blip r:embed="rId4"/>
          <a:stretch>
            <a:fillRect/>
          </a:stretch>
        </p:blipFill>
        <p:spPr>
          <a:xfrm>
            <a:off x="1571854" y="4075938"/>
            <a:ext cx="251460" cy="251460"/>
          </a:xfrm>
          <a:prstGeom prst="rect">
            <a:avLst/>
          </a:prstGeom>
        </p:spPr>
      </p:pic>
      <p:sp>
        <p:nvSpPr>
          <p:cNvPr id="27" name="Text 21"/>
          <p:cNvSpPr txBox="1"/>
          <p:nvPr/>
        </p:nvSpPr>
        <p:spPr>
          <a:xfrm>
            <a:off x="2054200" y="3954780"/>
            <a:ext cx="4206240" cy="502920"/>
          </a:xfrm>
          <a:prstGeom prst="rect">
            <a:avLst/>
          </a:prstGeom>
          <a:noFill/>
          <a:ln/>
        </p:spPr>
        <p:txBody>
          <a:bodyPr wrap="square" lIns="0" tIns="0" rIns="0" bIns="0" rtlCol="0" anchor="ctr"/>
          <a:lstStyle/>
          <a:p>
            <a:pPr indent="0" marL="0">
              <a:buNone/>
            </a:pPr>
            <a:r>
              <a:rPr lang="en-US" sz="1600" b="1" dirty="0">
                <a:solidFill>
                  <a:srgbClr val="0F3320"/>
                </a:solidFill>
                <a:latin typeface="Cambria" pitchFamily="34" charset="0"/>
                <a:ea typeface="Cambria" pitchFamily="34" charset="-122"/>
                <a:cs typeface="Cambria" pitchFamily="34" charset="-120"/>
              </a:rPr>
              <a:t>Advanced Profiling</a:t>
            </a:r>
            <a:endParaRPr lang="en-US" sz="1600" dirty="0"/>
          </a:p>
        </p:txBody>
      </p:sp>
      <p:sp>
        <p:nvSpPr>
          <p:cNvPr id="28" name="Text 22"/>
          <p:cNvSpPr txBox="1"/>
          <p:nvPr/>
        </p:nvSpPr>
        <p:spPr>
          <a:xfrm>
            <a:off x="6278728" y="3954780"/>
            <a:ext cx="2788920" cy="502920"/>
          </a:xfrm>
          <a:prstGeom prst="rect">
            <a:avLst/>
          </a:prstGeom>
          <a:noFill/>
          <a:ln/>
        </p:spPr>
        <p:txBody>
          <a:bodyPr wrap="square" lIns="0" tIns="0" rIns="0" bIns="0" rtlCol="0" anchor="ctr"/>
          <a:lstStyle/>
          <a:p>
            <a:pPr algn="r" indent="0" marL="0">
              <a:buNone/>
            </a:pPr>
            <a:r>
              <a:rPr lang="en-US" sz="1250" i="1" dirty="0">
                <a:solidFill>
                  <a:srgbClr val="5C6B63"/>
                </a:solidFill>
                <a:latin typeface="Calibri" pitchFamily="34" charset="0"/>
                <a:ea typeface="Calibri" pitchFamily="34" charset="-122"/>
                <a:cs typeface="Calibri" pitchFamily="34" charset="-120"/>
              </a:rPr>
              <a:t>Deeper statistical &amp; spatial checks</a:t>
            </a:r>
            <a:endParaRPr lang="en-US" sz="1250" dirty="0"/>
          </a:p>
        </p:txBody>
      </p:sp>
      <p:sp>
        <p:nvSpPr>
          <p:cNvPr id="29" name="Shape 23"/>
          <p:cNvSpPr/>
          <p:nvPr/>
        </p:nvSpPr>
        <p:spPr>
          <a:xfrm>
            <a:off x="1661008" y="4503420"/>
            <a:ext cx="91440" cy="132588"/>
          </a:xfrm>
          <a:prstGeom prst="downArrow">
            <a:avLst/>
          </a:prstGeom>
          <a:solidFill>
            <a:srgbClr val="D9A441"/>
          </a:solidFill>
          <a:ln/>
        </p:spPr>
      </p:sp>
      <p:sp>
        <p:nvSpPr>
          <p:cNvPr id="30" name="Shape 24"/>
          <p:cNvSpPr/>
          <p:nvPr/>
        </p:nvSpPr>
        <p:spPr>
          <a:xfrm>
            <a:off x="1340968" y="4636008"/>
            <a:ext cx="7863840" cy="603504"/>
          </a:xfrm>
          <a:prstGeom prst="roundRect">
            <a:avLst>
              <a:gd name="adj" fmla="val 15152"/>
            </a:avLst>
          </a:prstGeom>
          <a:solidFill>
            <a:srgbClr val="EAF6EC"/>
          </a:solidFill>
          <a:ln w="12700">
            <a:solidFill>
              <a:srgbClr val="CFE8D2"/>
            </a:solidFill>
            <a:prstDash val="solid"/>
          </a:ln>
        </p:spPr>
      </p:sp>
      <p:sp>
        <p:nvSpPr>
          <p:cNvPr id="31" name="Shape 25"/>
          <p:cNvSpPr/>
          <p:nvPr/>
        </p:nvSpPr>
        <p:spPr>
          <a:xfrm>
            <a:off x="1468984" y="4709160"/>
            <a:ext cx="457200" cy="457200"/>
          </a:xfrm>
          <a:prstGeom prst="ellipse">
            <a:avLst/>
          </a:prstGeom>
          <a:solidFill>
            <a:srgbClr val="1F7A3D"/>
          </a:solidFill>
          <a:ln/>
        </p:spPr>
      </p:sp>
      <p:pic>
        <p:nvPicPr>
          <p:cNvPr id="32" name="Image 4" descr="/home/claude/hydromet_ppt/icons/warning.png">    </p:cNvPr>
          <p:cNvPicPr>
            <a:picLocks noChangeAspect="1"/>
          </p:cNvPicPr>
          <p:nvPr/>
        </p:nvPicPr>
        <p:blipFill>
          <a:blip r:embed="rId5"/>
          <a:stretch>
            <a:fillRect/>
          </a:stretch>
        </p:blipFill>
        <p:spPr>
          <a:xfrm>
            <a:off x="1571854" y="4812030"/>
            <a:ext cx="251460" cy="251460"/>
          </a:xfrm>
          <a:prstGeom prst="rect">
            <a:avLst/>
          </a:prstGeom>
        </p:spPr>
      </p:pic>
      <p:sp>
        <p:nvSpPr>
          <p:cNvPr id="33" name="Text 26"/>
          <p:cNvSpPr txBox="1"/>
          <p:nvPr/>
        </p:nvSpPr>
        <p:spPr>
          <a:xfrm>
            <a:off x="2054200" y="4690872"/>
            <a:ext cx="4206240" cy="502920"/>
          </a:xfrm>
          <a:prstGeom prst="rect">
            <a:avLst/>
          </a:prstGeom>
          <a:noFill/>
          <a:ln/>
        </p:spPr>
        <p:txBody>
          <a:bodyPr wrap="square" lIns="0" tIns="0" rIns="0" bIns="0" rtlCol="0" anchor="ctr"/>
          <a:lstStyle/>
          <a:p>
            <a:pPr indent="0" marL="0">
              <a:buNone/>
            </a:pPr>
            <a:r>
              <a:rPr lang="en-US" sz="1600" b="1" dirty="0">
                <a:solidFill>
                  <a:srgbClr val="0F3320"/>
                </a:solidFill>
                <a:latin typeface="Cambria" pitchFamily="34" charset="0"/>
                <a:ea typeface="Cambria" pitchFamily="34" charset="-122"/>
                <a:cs typeface="Cambria" pitchFamily="34" charset="-120"/>
              </a:rPr>
              <a:t>Three Higher-Level Limitations</a:t>
            </a:r>
            <a:endParaRPr lang="en-US" sz="1600" dirty="0"/>
          </a:p>
        </p:txBody>
      </p:sp>
      <p:sp>
        <p:nvSpPr>
          <p:cNvPr id="34" name="Text 27"/>
          <p:cNvSpPr txBox="1"/>
          <p:nvPr/>
        </p:nvSpPr>
        <p:spPr>
          <a:xfrm>
            <a:off x="6278728" y="4690872"/>
            <a:ext cx="2788920" cy="502920"/>
          </a:xfrm>
          <a:prstGeom prst="rect">
            <a:avLst/>
          </a:prstGeom>
          <a:noFill/>
          <a:ln/>
        </p:spPr>
        <p:txBody>
          <a:bodyPr wrap="square" lIns="0" tIns="0" rIns="0" bIns="0" rtlCol="0" anchor="ctr"/>
          <a:lstStyle/>
          <a:p>
            <a:pPr algn="r" indent="0" marL="0">
              <a:buNone/>
            </a:pPr>
            <a:r>
              <a:rPr lang="en-US" sz="1250" i="1" dirty="0">
                <a:solidFill>
                  <a:srgbClr val="5C6B63"/>
                </a:solidFill>
                <a:latin typeface="Calibri" pitchFamily="34" charset="0"/>
                <a:ea typeface="Calibri" pitchFamily="34" charset="-122"/>
                <a:cs typeface="Calibri" pitchFamily="34" charset="-120"/>
              </a:rPr>
              <a:t>Spatial coverage · Source dependency · Domain-aware QA</a:t>
            </a:r>
            <a:endParaRPr lang="en-US" sz="1250" dirty="0"/>
          </a:p>
        </p:txBody>
      </p:sp>
      <p:sp>
        <p:nvSpPr>
          <p:cNvPr id="35" name="Shape 28"/>
          <p:cNvSpPr/>
          <p:nvPr/>
        </p:nvSpPr>
        <p:spPr>
          <a:xfrm>
            <a:off x="1661008" y="5239512"/>
            <a:ext cx="91440" cy="132588"/>
          </a:xfrm>
          <a:prstGeom prst="downArrow">
            <a:avLst/>
          </a:prstGeom>
          <a:solidFill>
            <a:srgbClr val="D9A441"/>
          </a:solidFill>
          <a:ln/>
        </p:spPr>
      </p:sp>
      <p:sp>
        <p:nvSpPr>
          <p:cNvPr id="36" name="Shape 29"/>
          <p:cNvSpPr/>
          <p:nvPr/>
        </p:nvSpPr>
        <p:spPr>
          <a:xfrm>
            <a:off x="1340968" y="5372100"/>
            <a:ext cx="7863840" cy="603504"/>
          </a:xfrm>
          <a:prstGeom prst="roundRect">
            <a:avLst>
              <a:gd name="adj" fmla="val 15152"/>
            </a:avLst>
          </a:prstGeom>
          <a:solidFill>
            <a:srgbClr val="0F3320"/>
          </a:solidFill>
          <a:ln/>
        </p:spPr>
      </p:sp>
      <p:sp>
        <p:nvSpPr>
          <p:cNvPr id="37" name="Shape 30"/>
          <p:cNvSpPr/>
          <p:nvPr/>
        </p:nvSpPr>
        <p:spPr>
          <a:xfrm>
            <a:off x="1468984" y="5445252"/>
            <a:ext cx="457200" cy="457200"/>
          </a:xfrm>
          <a:prstGeom prst="ellipse">
            <a:avLst/>
          </a:prstGeom>
          <a:solidFill>
            <a:srgbClr val="D9A441"/>
          </a:solidFill>
          <a:ln/>
        </p:spPr>
      </p:sp>
      <p:pic>
        <p:nvPicPr>
          <p:cNvPr id="38" name="Image 5" descr="/home/claude/hydromet_ppt/icons/sitemap.png">    </p:cNvPr>
          <p:cNvPicPr>
            <a:picLocks noChangeAspect="1"/>
          </p:cNvPicPr>
          <p:nvPr/>
        </p:nvPicPr>
        <p:blipFill>
          <a:blip r:embed="rId6"/>
          <a:stretch>
            <a:fillRect/>
          </a:stretch>
        </p:blipFill>
        <p:spPr>
          <a:xfrm>
            <a:off x="1571854" y="5548122"/>
            <a:ext cx="251460" cy="251460"/>
          </a:xfrm>
          <a:prstGeom prst="rect">
            <a:avLst/>
          </a:prstGeom>
        </p:spPr>
      </p:pic>
      <p:sp>
        <p:nvSpPr>
          <p:cNvPr id="39" name="Text 31"/>
          <p:cNvSpPr txBox="1"/>
          <p:nvPr/>
        </p:nvSpPr>
        <p:spPr>
          <a:xfrm>
            <a:off x="2054200" y="5426964"/>
            <a:ext cx="420624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Engineering Requirements</a:t>
            </a:r>
            <a:endParaRPr lang="en-US" sz="1600" dirty="0"/>
          </a:p>
        </p:txBody>
      </p:sp>
      <p:sp>
        <p:nvSpPr>
          <p:cNvPr id="40" name="Text 32"/>
          <p:cNvSpPr txBox="1"/>
          <p:nvPr/>
        </p:nvSpPr>
        <p:spPr>
          <a:xfrm>
            <a:off x="6278728" y="5426964"/>
            <a:ext cx="2788920" cy="502920"/>
          </a:xfrm>
          <a:prstGeom prst="rect">
            <a:avLst/>
          </a:prstGeom>
          <a:noFill/>
          <a:ln/>
        </p:spPr>
        <p:txBody>
          <a:bodyPr wrap="square" lIns="0" tIns="0" rIns="0" bIns="0" rtlCol="0" anchor="ctr"/>
          <a:lstStyle/>
          <a:p>
            <a:pPr algn="r" indent="0" marL="0">
              <a:buNone/>
            </a:pPr>
            <a:r>
              <a:rPr lang="en-US" sz="1250" i="1" dirty="0">
                <a:solidFill>
                  <a:srgbClr val="D9F0DC"/>
                </a:solidFill>
                <a:latin typeface="Calibri" pitchFamily="34" charset="0"/>
                <a:ea typeface="Calibri" pitchFamily="34" charset="-122"/>
                <a:cs typeface="Calibri" pitchFamily="34" charset="-120"/>
              </a:rPr>
              <a:t>Feeds directly into Week 2 design</a:t>
            </a:r>
            <a:endParaRPr lang="en-US" sz="1250" dirty="0"/>
          </a:p>
        </p:txBody>
      </p:sp>
      <p:sp>
        <p:nvSpPr>
          <p:cNvPr id="41" name="Shape 33"/>
          <p:cNvSpPr/>
          <p:nvPr/>
        </p:nvSpPr>
        <p:spPr>
          <a:xfrm>
            <a:off x="9524848" y="1691640"/>
            <a:ext cx="2209648" cy="4283964"/>
          </a:xfrm>
          <a:prstGeom prst="roundRect">
            <a:avLst>
              <a:gd name="adj" fmla="val 4966"/>
            </a:avLst>
          </a:prstGeom>
          <a:solidFill>
            <a:srgbClr val="FFFFFF"/>
          </a:solidFill>
          <a:ln w="16510">
            <a:solidFill>
              <a:srgbClr val="D9A441"/>
            </a:solidFill>
            <a:prstDash val="solid"/>
          </a:ln>
        </p:spPr>
      </p:sp>
      <p:sp>
        <p:nvSpPr>
          <p:cNvPr id="42" name="Text 34"/>
          <p:cNvSpPr txBox="1"/>
          <p:nvPr/>
        </p:nvSpPr>
        <p:spPr>
          <a:xfrm>
            <a:off x="9707728" y="1874520"/>
            <a:ext cx="2377440" cy="320040"/>
          </a:xfrm>
          <a:prstGeom prst="rect">
            <a:avLst/>
          </a:prstGeom>
          <a:noFill/>
          <a:ln/>
        </p:spPr>
        <p:txBody>
          <a:bodyPr wrap="square" lIns="0" tIns="0" rIns="0" bIns="0" rtlCol="0" anchor="ctr"/>
          <a:lstStyle/>
          <a:p>
            <a:pPr indent="0" marL="0">
              <a:buNone/>
            </a:pPr>
            <a:r>
              <a:rPr lang="en-US" sz="1200" b="1" spc="100" kern="0" dirty="0">
                <a:solidFill>
                  <a:srgbClr val="B9832A"/>
                </a:solidFill>
                <a:latin typeface="Calibri" pitchFamily="34" charset="0"/>
                <a:ea typeface="Calibri" pitchFamily="34" charset="-122"/>
                <a:cs typeface="Calibri" pitchFamily="34" charset="-120"/>
              </a:rPr>
              <a:t>PROBLEM STATEMENT</a:t>
            </a:r>
            <a:endParaRPr lang="en-US" sz="1200" dirty="0"/>
          </a:p>
        </p:txBody>
      </p:sp>
      <p:sp>
        <p:nvSpPr>
          <p:cNvPr id="43" name="Text 35"/>
          <p:cNvSpPr txBox="1"/>
          <p:nvPr/>
        </p:nvSpPr>
        <p:spPr>
          <a:xfrm>
            <a:off x="9707728" y="2240280"/>
            <a:ext cx="1889608" cy="3552444"/>
          </a:xfrm>
          <a:prstGeom prst="rect">
            <a:avLst/>
          </a:prstGeom>
          <a:noFill/>
          <a:ln/>
        </p:spPr>
        <p:txBody>
          <a:bodyPr wrap="square" lIns="0" tIns="0" rIns="0" bIns="0" rtlCol="0" anchor="ctr"/>
          <a:lstStyle/>
          <a:p>
            <a:pPr indent="0" marL="0">
              <a:lnSpc>
                <a:spcPct val="115000"/>
              </a:lnSpc>
              <a:buNone/>
            </a:pPr>
            <a:r>
              <a:rPr lang="en-US" sz="1350" dirty="0">
                <a:solidFill>
                  <a:srgbClr val="17241C"/>
                </a:solidFill>
                <a:latin typeface="Calibri" pitchFamily="34" charset="0"/>
                <a:ea typeface="Calibri" pitchFamily="34" charset="-122"/>
                <a:cs typeface="Calibri" pitchFamily="34" charset="-120"/>
              </a:rPr>
              <a:t>HydroMet-ETL provides reproducible acquisition, raw-data preservation, validation, quality flagging, transformation, multi-source harmonization, storage and delivery of analytics-ready hydrometeorological data.</a:t>
            </a:r>
            <a:endParaRPr lang="en-US" sz="1350" dirty="0"/>
          </a:p>
        </p:txBody>
      </p:sp>
      <p:sp>
        <p:nvSpPr>
          <p:cNvPr id="44" name="Text 36"/>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10 / 23</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2</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ARCHITECTURE &amp; RELATIONAL MODELING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Why a Star Schema?</a:t>
            </a:r>
            <a:endParaRPr lang="en-US" sz="3200" dirty="0"/>
          </a:p>
        </p:txBody>
      </p:sp>
      <p:sp>
        <p:nvSpPr>
          <p:cNvPr id="6" name="Shape 4"/>
          <p:cNvSpPr/>
          <p:nvPr/>
        </p:nvSpPr>
        <p:spPr>
          <a:xfrm>
            <a:off x="548640" y="1645920"/>
            <a:ext cx="6035040" cy="384048"/>
          </a:xfrm>
          <a:prstGeom prst="roundRect">
            <a:avLst>
              <a:gd name="adj" fmla="val 50000"/>
            </a:avLst>
          </a:prstGeom>
          <a:solidFill>
            <a:srgbClr val="D9F0DC"/>
          </a:solidFill>
          <a:ln/>
        </p:spPr>
      </p:sp>
      <p:sp>
        <p:nvSpPr>
          <p:cNvPr id="7" name="Text 5"/>
          <p:cNvSpPr txBox="1"/>
          <p:nvPr/>
        </p:nvSpPr>
        <p:spPr>
          <a:xfrm>
            <a:off x="594360" y="1645920"/>
            <a:ext cx="5943600" cy="384048"/>
          </a:xfrm>
          <a:prstGeom prst="rect">
            <a:avLst/>
          </a:prstGeom>
          <a:noFill/>
          <a:ln/>
        </p:spPr>
        <p:txBody>
          <a:bodyPr wrap="square" lIns="0" tIns="0" rIns="0" bIns="0" rtlCol="0" anchor="ctr"/>
          <a:lstStyle/>
          <a:p>
            <a:pPr algn="ctr" indent="0" marL="0">
              <a:buNone/>
            </a:pPr>
            <a:r>
              <a:rPr lang="en-US" sz="1300" b="1" dirty="0">
                <a:solidFill>
                  <a:srgbClr val="175C2E"/>
                </a:solidFill>
                <a:latin typeface="Calibri" pitchFamily="34" charset="0"/>
                <a:ea typeface="Calibri" pitchFamily="34" charset="-122"/>
                <a:cs typeface="Calibri" pitchFamily="34" charset="-120"/>
              </a:rPr>
              <a:t>Technology: DuckDB  (PostgreSQL considered for later stages)</a:t>
            </a:r>
            <a:endParaRPr lang="en-US" sz="1300" dirty="0"/>
          </a:p>
        </p:txBody>
      </p:sp>
      <p:sp>
        <p:nvSpPr>
          <p:cNvPr id="8" name="Text 6"/>
          <p:cNvSpPr txBox="1"/>
          <p:nvPr/>
        </p:nvSpPr>
        <p:spPr>
          <a:xfrm>
            <a:off x="548640" y="2121408"/>
            <a:ext cx="11094415" cy="411480"/>
          </a:xfrm>
          <a:prstGeom prst="rect">
            <a:avLst/>
          </a:prstGeom>
          <a:noFill/>
          <a:ln/>
        </p:spPr>
        <p:txBody>
          <a:bodyPr wrap="square" lIns="0" tIns="0" rIns="0" bIns="0" rtlCol="0" anchor="ctr"/>
          <a:lstStyle/>
          <a:p>
            <a:pPr indent="0" marL="0">
              <a:buNone/>
            </a:pPr>
            <a:r>
              <a:rPr lang="en-US" sz="1500" i="1" dirty="0">
                <a:solidFill>
                  <a:srgbClr val="5C6B63"/>
                </a:solidFill>
                <a:latin typeface="Calibri" pitchFamily="34" charset="0"/>
                <a:ea typeface="Calibri" pitchFamily="34" charset="-122"/>
                <a:cs typeface="Calibri" pitchFamily="34" charset="-120"/>
              </a:rPr>
              <a:t>The system is analytical, not transactional — so it is modeled for reads and aggregation, not for high-frequency transaction updates.</a:t>
            </a:r>
            <a:endParaRPr lang="en-US" sz="1500" dirty="0"/>
          </a:p>
        </p:txBody>
      </p:sp>
      <p:sp>
        <p:nvSpPr>
          <p:cNvPr id="9" name="Shape 7"/>
          <p:cNvSpPr/>
          <p:nvPr/>
        </p:nvSpPr>
        <p:spPr>
          <a:xfrm>
            <a:off x="548640" y="2743200"/>
            <a:ext cx="310896" cy="310896"/>
          </a:xfrm>
          <a:prstGeom prst="ellipse">
            <a:avLst/>
          </a:prstGeom>
          <a:solidFill>
            <a:srgbClr val="3FA34D"/>
          </a:solidFill>
          <a:ln/>
        </p:spPr>
      </p:sp>
      <p:pic>
        <p:nvPicPr>
          <p:cNvPr id="10" name="Image 0" descr="/home/claude/hydromet_ppt/icons/check.png">    </p:cNvPr>
          <p:cNvPicPr>
            <a:picLocks noChangeAspect="1"/>
          </p:cNvPicPr>
          <p:nvPr/>
        </p:nvPicPr>
        <p:blipFill>
          <a:blip r:embed="rId1"/>
          <a:stretch>
            <a:fillRect/>
          </a:stretch>
        </p:blipFill>
        <p:spPr>
          <a:xfrm>
            <a:off x="618592" y="2813152"/>
            <a:ext cx="170993" cy="170993"/>
          </a:xfrm>
          <a:prstGeom prst="rect">
            <a:avLst/>
          </a:prstGeom>
        </p:spPr>
      </p:pic>
      <p:sp>
        <p:nvSpPr>
          <p:cNvPr id="11" name="Text 8"/>
          <p:cNvSpPr txBox="1"/>
          <p:nvPr/>
        </p:nvSpPr>
        <p:spPr>
          <a:xfrm>
            <a:off x="969264" y="271576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Understandable analytical structure</a:t>
            </a:r>
            <a:endParaRPr lang="en-US" sz="1500" dirty="0"/>
          </a:p>
        </p:txBody>
      </p:sp>
      <p:sp>
        <p:nvSpPr>
          <p:cNvPr id="12" name="Shape 9"/>
          <p:cNvSpPr/>
          <p:nvPr/>
        </p:nvSpPr>
        <p:spPr>
          <a:xfrm>
            <a:off x="6035040" y="2743200"/>
            <a:ext cx="310896" cy="310896"/>
          </a:xfrm>
          <a:prstGeom prst="ellipse">
            <a:avLst/>
          </a:prstGeom>
          <a:solidFill>
            <a:srgbClr val="3FA34D"/>
          </a:solidFill>
          <a:ln/>
        </p:spPr>
      </p:sp>
      <p:pic>
        <p:nvPicPr>
          <p:cNvPr id="13" name="Image 1" descr="/home/claude/hydromet_ppt/icons/check.png">    </p:cNvPr>
          <p:cNvPicPr>
            <a:picLocks noChangeAspect="1"/>
          </p:cNvPicPr>
          <p:nvPr/>
        </p:nvPicPr>
        <p:blipFill>
          <a:blip r:embed="rId2"/>
          <a:stretch>
            <a:fillRect/>
          </a:stretch>
        </p:blipFill>
        <p:spPr>
          <a:xfrm>
            <a:off x="6104992" y="2813152"/>
            <a:ext cx="170993" cy="170993"/>
          </a:xfrm>
          <a:prstGeom prst="rect">
            <a:avLst/>
          </a:prstGeom>
        </p:spPr>
      </p:pic>
      <p:sp>
        <p:nvSpPr>
          <p:cNvPr id="14" name="Text 10"/>
          <p:cNvSpPr txBox="1"/>
          <p:nvPr/>
        </p:nvSpPr>
        <p:spPr>
          <a:xfrm>
            <a:off x="6455664" y="271576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Reusable dimensions (no repeated metadata)</a:t>
            </a:r>
            <a:endParaRPr lang="en-US" sz="1500" dirty="0"/>
          </a:p>
        </p:txBody>
      </p:sp>
      <p:sp>
        <p:nvSpPr>
          <p:cNvPr id="15" name="Shape 11"/>
          <p:cNvSpPr/>
          <p:nvPr/>
        </p:nvSpPr>
        <p:spPr>
          <a:xfrm>
            <a:off x="548640" y="3246120"/>
            <a:ext cx="310896" cy="310896"/>
          </a:xfrm>
          <a:prstGeom prst="ellipse">
            <a:avLst/>
          </a:prstGeom>
          <a:solidFill>
            <a:srgbClr val="3FA34D"/>
          </a:solidFill>
          <a:ln/>
        </p:spPr>
      </p:sp>
      <p:pic>
        <p:nvPicPr>
          <p:cNvPr id="16" name="Image 2" descr="/home/claude/hydromet_ppt/icons/check.png">    </p:cNvPr>
          <p:cNvPicPr>
            <a:picLocks noChangeAspect="1"/>
          </p:cNvPicPr>
          <p:nvPr/>
        </p:nvPicPr>
        <p:blipFill>
          <a:blip r:embed="rId3"/>
          <a:stretch>
            <a:fillRect/>
          </a:stretch>
        </p:blipFill>
        <p:spPr>
          <a:xfrm>
            <a:off x="618592" y="3316072"/>
            <a:ext cx="170993" cy="170993"/>
          </a:xfrm>
          <a:prstGeom prst="rect">
            <a:avLst/>
          </a:prstGeom>
        </p:spPr>
      </p:pic>
      <p:sp>
        <p:nvSpPr>
          <p:cNvPr id="17" name="Text 12"/>
          <p:cNvSpPr txBox="1"/>
          <p:nvPr/>
        </p:nvSpPr>
        <p:spPr>
          <a:xfrm>
            <a:off x="969264" y="321868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Referential integrity via keys</a:t>
            </a:r>
            <a:endParaRPr lang="en-US" sz="1500" dirty="0"/>
          </a:p>
        </p:txBody>
      </p:sp>
      <p:sp>
        <p:nvSpPr>
          <p:cNvPr id="18" name="Shape 13"/>
          <p:cNvSpPr/>
          <p:nvPr/>
        </p:nvSpPr>
        <p:spPr>
          <a:xfrm>
            <a:off x="6035040" y="3246120"/>
            <a:ext cx="310896" cy="310896"/>
          </a:xfrm>
          <a:prstGeom prst="ellipse">
            <a:avLst/>
          </a:prstGeom>
          <a:solidFill>
            <a:srgbClr val="3FA34D"/>
          </a:solidFill>
          <a:ln/>
        </p:spPr>
      </p:sp>
      <p:pic>
        <p:nvPicPr>
          <p:cNvPr id="19" name="Image 3" descr="/home/claude/hydromet_ppt/icons/check.png">    </p:cNvPr>
          <p:cNvPicPr>
            <a:picLocks noChangeAspect="1"/>
          </p:cNvPicPr>
          <p:nvPr/>
        </p:nvPicPr>
        <p:blipFill>
          <a:blip r:embed="rId4"/>
          <a:stretch>
            <a:fillRect/>
          </a:stretch>
        </p:blipFill>
        <p:spPr>
          <a:xfrm>
            <a:off x="6104992" y="3316072"/>
            <a:ext cx="170993" cy="170993"/>
          </a:xfrm>
          <a:prstGeom prst="rect">
            <a:avLst/>
          </a:prstGeom>
        </p:spPr>
      </p:pic>
      <p:sp>
        <p:nvSpPr>
          <p:cNvPr id="20" name="Text 14"/>
          <p:cNvSpPr txBox="1"/>
          <p:nvPr/>
        </p:nvSpPr>
        <p:spPr>
          <a:xfrm>
            <a:off x="6455664" y="321868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Scalable addition of new variables</a:t>
            </a:r>
            <a:endParaRPr lang="en-US" sz="1500" dirty="0"/>
          </a:p>
        </p:txBody>
      </p:sp>
      <p:sp>
        <p:nvSpPr>
          <p:cNvPr id="21" name="Shape 15"/>
          <p:cNvSpPr/>
          <p:nvPr/>
        </p:nvSpPr>
        <p:spPr>
          <a:xfrm>
            <a:off x="548640" y="3749040"/>
            <a:ext cx="310896" cy="310896"/>
          </a:xfrm>
          <a:prstGeom prst="ellipse">
            <a:avLst/>
          </a:prstGeom>
          <a:solidFill>
            <a:srgbClr val="3FA34D"/>
          </a:solidFill>
          <a:ln/>
        </p:spPr>
      </p:sp>
      <p:pic>
        <p:nvPicPr>
          <p:cNvPr id="22" name="Image 4" descr="/home/claude/hydromet_ppt/icons/check.png">    </p:cNvPr>
          <p:cNvPicPr>
            <a:picLocks noChangeAspect="1"/>
          </p:cNvPicPr>
          <p:nvPr/>
        </p:nvPicPr>
        <p:blipFill>
          <a:blip r:embed="rId5"/>
          <a:stretch>
            <a:fillRect/>
          </a:stretch>
        </p:blipFill>
        <p:spPr>
          <a:xfrm>
            <a:off x="618592" y="3818992"/>
            <a:ext cx="170993" cy="170993"/>
          </a:xfrm>
          <a:prstGeom prst="rect">
            <a:avLst/>
          </a:prstGeom>
        </p:spPr>
      </p:pic>
      <p:sp>
        <p:nvSpPr>
          <p:cNvPr id="23" name="Text 16"/>
          <p:cNvSpPr txBox="1"/>
          <p:nvPr/>
        </p:nvSpPr>
        <p:spPr>
          <a:xfrm>
            <a:off x="969264" y="372160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Scalable addition of new sources</a:t>
            </a:r>
            <a:endParaRPr lang="en-US" sz="1500" dirty="0"/>
          </a:p>
        </p:txBody>
      </p:sp>
      <p:sp>
        <p:nvSpPr>
          <p:cNvPr id="24" name="Shape 17"/>
          <p:cNvSpPr/>
          <p:nvPr/>
        </p:nvSpPr>
        <p:spPr>
          <a:xfrm>
            <a:off x="6035040" y="3749040"/>
            <a:ext cx="310896" cy="310896"/>
          </a:xfrm>
          <a:prstGeom prst="ellipse">
            <a:avLst/>
          </a:prstGeom>
          <a:solidFill>
            <a:srgbClr val="3FA34D"/>
          </a:solidFill>
          <a:ln/>
        </p:spPr>
      </p:sp>
      <p:pic>
        <p:nvPicPr>
          <p:cNvPr id="25" name="Image 5" descr="/home/claude/hydromet_ppt/icons/check.png">    </p:cNvPr>
          <p:cNvPicPr>
            <a:picLocks noChangeAspect="1"/>
          </p:cNvPicPr>
          <p:nvPr/>
        </p:nvPicPr>
        <p:blipFill>
          <a:blip r:embed="rId6"/>
          <a:stretch>
            <a:fillRect/>
          </a:stretch>
        </p:blipFill>
        <p:spPr>
          <a:xfrm>
            <a:off x="6104992" y="3818992"/>
            <a:ext cx="170993" cy="170993"/>
          </a:xfrm>
          <a:prstGeom prst="rect">
            <a:avLst/>
          </a:prstGeom>
        </p:spPr>
      </p:pic>
      <p:sp>
        <p:nvSpPr>
          <p:cNvPr id="26" name="Text 18"/>
          <p:cNvSpPr txBox="1"/>
          <p:nvPr/>
        </p:nvSpPr>
        <p:spPr>
          <a:xfrm>
            <a:off x="6455664" y="372160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Explicit data lineage</a:t>
            </a:r>
            <a:endParaRPr lang="en-US" sz="1500" dirty="0"/>
          </a:p>
        </p:txBody>
      </p:sp>
      <p:sp>
        <p:nvSpPr>
          <p:cNvPr id="27" name="Shape 19"/>
          <p:cNvSpPr/>
          <p:nvPr/>
        </p:nvSpPr>
        <p:spPr>
          <a:xfrm>
            <a:off x="548640" y="4251960"/>
            <a:ext cx="310896" cy="310896"/>
          </a:xfrm>
          <a:prstGeom prst="ellipse">
            <a:avLst/>
          </a:prstGeom>
          <a:solidFill>
            <a:srgbClr val="3FA34D"/>
          </a:solidFill>
          <a:ln/>
        </p:spPr>
      </p:sp>
      <p:pic>
        <p:nvPicPr>
          <p:cNvPr id="28" name="Image 6" descr="/home/claude/hydromet_ppt/icons/check.png">    </p:cNvPr>
          <p:cNvPicPr>
            <a:picLocks noChangeAspect="1"/>
          </p:cNvPicPr>
          <p:nvPr/>
        </p:nvPicPr>
        <p:blipFill>
          <a:blip r:embed="rId7"/>
          <a:stretch>
            <a:fillRect/>
          </a:stretch>
        </p:blipFill>
        <p:spPr>
          <a:xfrm>
            <a:off x="618592" y="4321912"/>
            <a:ext cx="170993" cy="170993"/>
          </a:xfrm>
          <a:prstGeom prst="rect">
            <a:avLst/>
          </a:prstGeom>
        </p:spPr>
      </p:pic>
      <p:sp>
        <p:nvSpPr>
          <p:cNvPr id="29" name="Text 20"/>
          <p:cNvSpPr txBox="1"/>
          <p:nvPr/>
        </p:nvSpPr>
        <p:spPr>
          <a:xfrm>
            <a:off x="969264" y="422452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Easier aggregation for analytics</a:t>
            </a:r>
            <a:endParaRPr lang="en-US" sz="1500" dirty="0"/>
          </a:p>
        </p:txBody>
      </p:sp>
      <p:sp>
        <p:nvSpPr>
          <p:cNvPr id="30" name="Shape 21"/>
          <p:cNvSpPr/>
          <p:nvPr/>
        </p:nvSpPr>
        <p:spPr>
          <a:xfrm>
            <a:off x="6035040" y="4251960"/>
            <a:ext cx="310896" cy="310896"/>
          </a:xfrm>
          <a:prstGeom prst="ellipse">
            <a:avLst/>
          </a:prstGeom>
          <a:solidFill>
            <a:srgbClr val="3FA34D"/>
          </a:solidFill>
          <a:ln/>
        </p:spPr>
      </p:sp>
      <p:pic>
        <p:nvPicPr>
          <p:cNvPr id="31" name="Image 7" descr="/home/claude/hydromet_ppt/icons/check.png">    </p:cNvPr>
          <p:cNvPicPr>
            <a:picLocks noChangeAspect="1"/>
          </p:cNvPicPr>
          <p:nvPr/>
        </p:nvPicPr>
        <p:blipFill>
          <a:blip r:embed="rId8"/>
          <a:stretch>
            <a:fillRect/>
          </a:stretch>
        </p:blipFill>
        <p:spPr>
          <a:xfrm>
            <a:off x="6104992" y="4321912"/>
            <a:ext cx="170993" cy="170993"/>
          </a:xfrm>
          <a:prstGeom prst="rect">
            <a:avLst/>
          </a:prstGeom>
        </p:spPr>
      </p:pic>
      <p:sp>
        <p:nvSpPr>
          <p:cNvPr id="32" name="Text 22"/>
          <p:cNvSpPr txBox="1"/>
          <p:nvPr/>
        </p:nvSpPr>
        <p:spPr>
          <a:xfrm>
            <a:off x="6455664" y="4224528"/>
            <a:ext cx="4937760" cy="384048"/>
          </a:xfrm>
          <a:prstGeom prst="rect">
            <a:avLst/>
          </a:prstGeom>
          <a:noFill/>
          <a:ln/>
        </p:spPr>
        <p:txBody>
          <a:bodyPr wrap="square" lIns="0" tIns="0" rIns="0" bIns="0" rtlCol="0" anchor="ctr"/>
          <a:lstStyle/>
          <a:p>
            <a:pPr indent="0" marL="0">
              <a:buNone/>
            </a:pPr>
            <a:r>
              <a:rPr lang="en-US" sz="1500" dirty="0">
                <a:solidFill>
                  <a:srgbClr val="17241C"/>
                </a:solidFill>
                <a:latin typeface="Calibri" pitchFamily="34" charset="0"/>
                <a:ea typeface="Calibri" pitchFamily="34" charset="-122"/>
                <a:cs typeface="Calibri" pitchFamily="34" charset="-120"/>
              </a:rPr>
              <a:t>Supports downstream analytics &amp; ML</a:t>
            </a:r>
            <a:endParaRPr lang="en-US" sz="1500" dirty="0"/>
          </a:p>
        </p:txBody>
      </p:sp>
      <p:sp>
        <p:nvSpPr>
          <p:cNvPr id="33" name="Shape 23"/>
          <p:cNvSpPr/>
          <p:nvPr/>
        </p:nvSpPr>
        <p:spPr>
          <a:xfrm>
            <a:off x="548640" y="5074920"/>
            <a:ext cx="11094415" cy="1234440"/>
          </a:xfrm>
          <a:prstGeom prst="roundRect">
            <a:avLst>
              <a:gd name="adj" fmla="val 8889"/>
            </a:avLst>
          </a:prstGeom>
          <a:solidFill>
            <a:srgbClr val="EAF6EC"/>
          </a:solidFill>
          <a:ln w="12700">
            <a:solidFill>
              <a:srgbClr val="CFE8D2"/>
            </a:solidFill>
            <a:prstDash val="solid"/>
          </a:ln>
        </p:spPr>
      </p:sp>
      <p:sp>
        <p:nvSpPr>
          <p:cNvPr id="34" name="Text 24"/>
          <p:cNvSpPr txBox="1"/>
          <p:nvPr/>
        </p:nvSpPr>
        <p:spPr>
          <a:xfrm>
            <a:off x="822960" y="5193792"/>
            <a:ext cx="7315200" cy="292608"/>
          </a:xfrm>
          <a:prstGeom prst="rect">
            <a:avLst/>
          </a:prstGeom>
          <a:noFill/>
          <a:ln/>
        </p:spPr>
        <p:txBody>
          <a:bodyPr wrap="square" lIns="0" tIns="0" rIns="0" bIns="0" rtlCol="0" anchor="ctr"/>
          <a:lstStyle/>
          <a:p>
            <a:pPr indent="0" marL="0">
              <a:buNone/>
            </a:pPr>
            <a:r>
              <a:rPr lang="en-US" sz="1250" b="1" spc="80" kern="0" dirty="0">
                <a:solidFill>
                  <a:srgbClr val="175C2E"/>
                </a:solidFill>
                <a:latin typeface="Calibri" pitchFamily="34" charset="0"/>
                <a:ea typeface="Calibri" pitchFamily="34" charset="-122"/>
                <a:cs typeface="Calibri" pitchFamily="34" charset="-120"/>
              </a:rPr>
              <a:t>TRADE-OFF: STORAGE FORMAT ≠ ML INPUT FORMAT</a:t>
            </a:r>
            <a:endParaRPr lang="en-US" sz="1250" dirty="0"/>
          </a:p>
        </p:txBody>
      </p:sp>
      <p:sp>
        <p:nvSpPr>
          <p:cNvPr id="35" name="Shape 25"/>
          <p:cNvSpPr/>
          <p:nvPr/>
        </p:nvSpPr>
        <p:spPr>
          <a:xfrm>
            <a:off x="822960" y="5577840"/>
            <a:ext cx="384048" cy="384048"/>
          </a:xfrm>
          <a:prstGeom prst="ellipse">
            <a:avLst/>
          </a:prstGeom>
          <a:solidFill>
            <a:srgbClr val="1F7A3D"/>
          </a:solidFill>
          <a:ln/>
        </p:spPr>
      </p:sp>
      <p:pic>
        <p:nvPicPr>
          <p:cNvPr id="36" name="Image 8" descr="/home/claude/hydromet_ppt/icons/table.png">    </p:cNvPr>
          <p:cNvPicPr>
            <a:picLocks noChangeAspect="1"/>
          </p:cNvPicPr>
          <p:nvPr/>
        </p:nvPicPr>
        <p:blipFill>
          <a:blip r:embed="rId9"/>
          <a:stretch>
            <a:fillRect/>
          </a:stretch>
        </p:blipFill>
        <p:spPr>
          <a:xfrm>
            <a:off x="909371" y="5664251"/>
            <a:ext cx="211226" cy="211226"/>
          </a:xfrm>
          <a:prstGeom prst="rect">
            <a:avLst/>
          </a:prstGeom>
        </p:spPr>
      </p:pic>
      <p:sp>
        <p:nvSpPr>
          <p:cNvPr id="37" name="Text 26"/>
          <p:cNvSpPr txBox="1"/>
          <p:nvPr/>
        </p:nvSpPr>
        <p:spPr>
          <a:xfrm>
            <a:off x="1298448" y="5577840"/>
            <a:ext cx="1901952" cy="384048"/>
          </a:xfrm>
          <a:prstGeom prst="rect">
            <a:avLst/>
          </a:prstGeom>
          <a:noFill/>
          <a:ln/>
        </p:spPr>
        <p:txBody>
          <a:bodyPr wrap="square" lIns="0" tIns="0" rIns="0" bIns="0" rtlCol="0" anchor="ctr"/>
          <a:lstStyle/>
          <a:p>
            <a:pPr indent="0" marL="0">
              <a:buNone/>
            </a:pPr>
            <a:r>
              <a:rPr lang="en-US" sz="1250" b="1" dirty="0">
                <a:solidFill>
                  <a:srgbClr val="17241C"/>
                </a:solidFill>
                <a:latin typeface="Calibri" pitchFamily="34" charset="0"/>
                <a:ea typeface="Calibri" pitchFamily="34" charset="-122"/>
                <a:cs typeface="Calibri" pitchFamily="34" charset="-120"/>
              </a:rPr>
              <a:t>Long DB Format</a:t>
            </a:r>
            <a:endParaRPr lang="en-US" sz="1250" dirty="0"/>
          </a:p>
        </p:txBody>
      </p:sp>
      <p:sp>
        <p:nvSpPr>
          <p:cNvPr id="38" name="Shape 27"/>
          <p:cNvSpPr/>
          <p:nvPr/>
        </p:nvSpPr>
        <p:spPr>
          <a:xfrm>
            <a:off x="3246120" y="5737860"/>
            <a:ext cx="436778" cy="64008"/>
          </a:xfrm>
          <a:prstGeom prst="rightArrow">
            <a:avLst/>
          </a:prstGeom>
          <a:solidFill>
            <a:srgbClr val="D9A441"/>
          </a:solidFill>
          <a:ln/>
        </p:spPr>
      </p:sp>
      <p:sp>
        <p:nvSpPr>
          <p:cNvPr id="39" name="Shape 28"/>
          <p:cNvSpPr/>
          <p:nvPr/>
        </p:nvSpPr>
        <p:spPr>
          <a:xfrm>
            <a:off x="3728618" y="5577840"/>
            <a:ext cx="384048" cy="384048"/>
          </a:xfrm>
          <a:prstGeom prst="ellipse">
            <a:avLst/>
          </a:prstGeom>
          <a:solidFill>
            <a:srgbClr val="1F7A3D"/>
          </a:solidFill>
          <a:ln/>
        </p:spPr>
      </p:sp>
      <p:pic>
        <p:nvPicPr>
          <p:cNvPr id="40" name="Image 9" descr="/home/claude/hydromet_ppt/icons/random.png">    </p:cNvPr>
          <p:cNvPicPr>
            <a:picLocks noChangeAspect="1"/>
          </p:cNvPicPr>
          <p:nvPr/>
        </p:nvPicPr>
        <p:blipFill>
          <a:blip r:embed="rId10"/>
          <a:stretch>
            <a:fillRect/>
          </a:stretch>
        </p:blipFill>
        <p:spPr>
          <a:xfrm>
            <a:off x="3815029" y="5664251"/>
            <a:ext cx="211226" cy="211226"/>
          </a:xfrm>
          <a:prstGeom prst="rect">
            <a:avLst/>
          </a:prstGeom>
        </p:spPr>
      </p:pic>
      <p:sp>
        <p:nvSpPr>
          <p:cNvPr id="41" name="Text 29"/>
          <p:cNvSpPr txBox="1"/>
          <p:nvPr/>
        </p:nvSpPr>
        <p:spPr>
          <a:xfrm>
            <a:off x="4204106" y="5577840"/>
            <a:ext cx="1901952" cy="384048"/>
          </a:xfrm>
          <a:prstGeom prst="rect">
            <a:avLst/>
          </a:prstGeom>
          <a:noFill/>
          <a:ln/>
        </p:spPr>
        <p:txBody>
          <a:bodyPr wrap="square" lIns="0" tIns="0" rIns="0" bIns="0" rtlCol="0" anchor="ctr"/>
          <a:lstStyle/>
          <a:p>
            <a:pPr indent="0" marL="0">
              <a:buNone/>
            </a:pPr>
            <a:r>
              <a:rPr lang="en-US" sz="1250" b="1" dirty="0">
                <a:solidFill>
                  <a:srgbClr val="17241C"/>
                </a:solidFill>
                <a:latin typeface="Calibri" pitchFamily="34" charset="0"/>
                <a:ea typeface="Calibri" pitchFamily="34" charset="-122"/>
                <a:cs typeface="Calibri" pitchFamily="34" charset="-120"/>
              </a:rPr>
              <a:t>Feature Engineering</a:t>
            </a:r>
            <a:endParaRPr lang="en-US" sz="1250" dirty="0"/>
          </a:p>
        </p:txBody>
      </p:sp>
      <p:sp>
        <p:nvSpPr>
          <p:cNvPr id="42" name="Shape 30"/>
          <p:cNvSpPr/>
          <p:nvPr/>
        </p:nvSpPr>
        <p:spPr>
          <a:xfrm>
            <a:off x="6151778" y="5737860"/>
            <a:ext cx="436778" cy="64008"/>
          </a:xfrm>
          <a:prstGeom prst="rightArrow">
            <a:avLst/>
          </a:prstGeom>
          <a:solidFill>
            <a:srgbClr val="D9A441"/>
          </a:solidFill>
          <a:ln/>
        </p:spPr>
      </p:sp>
      <p:sp>
        <p:nvSpPr>
          <p:cNvPr id="43" name="Shape 31"/>
          <p:cNvSpPr/>
          <p:nvPr/>
        </p:nvSpPr>
        <p:spPr>
          <a:xfrm>
            <a:off x="6634277" y="5577840"/>
            <a:ext cx="384048" cy="384048"/>
          </a:xfrm>
          <a:prstGeom prst="ellipse">
            <a:avLst/>
          </a:prstGeom>
          <a:solidFill>
            <a:srgbClr val="1F7A3D"/>
          </a:solidFill>
          <a:ln/>
        </p:spPr>
      </p:sp>
      <p:pic>
        <p:nvPicPr>
          <p:cNvPr id="44" name="Image 10" descr="/home/claude/hydromet_ppt/icons/diagram.png">    </p:cNvPr>
          <p:cNvPicPr>
            <a:picLocks noChangeAspect="1"/>
          </p:cNvPicPr>
          <p:nvPr/>
        </p:nvPicPr>
        <p:blipFill>
          <a:blip r:embed="rId11"/>
          <a:stretch>
            <a:fillRect/>
          </a:stretch>
        </p:blipFill>
        <p:spPr>
          <a:xfrm>
            <a:off x="6720688" y="5664251"/>
            <a:ext cx="211226" cy="211226"/>
          </a:xfrm>
          <a:prstGeom prst="rect">
            <a:avLst/>
          </a:prstGeom>
        </p:spPr>
      </p:pic>
      <p:sp>
        <p:nvSpPr>
          <p:cNvPr id="45" name="Text 32"/>
          <p:cNvSpPr txBox="1"/>
          <p:nvPr/>
        </p:nvSpPr>
        <p:spPr>
          <a:xfrm>
            <a:off x="7109765" y="5577840"/>
            <a:ext cx="1901952" cy="384048"/>
          </a:xfrm>
          <a:prstGeom prst="rect">
            <a:avLst/>
          </a:prstGeom>
          <a:noFill/>
          <a:ln/>
        </p:spPr>
        <p:txBody>
          <a:bodyPr wrap="square" lIns="0" tIns="0" rIns="0" bIns="0" rtlCol="0" anchor="ctr"/>
          <a:lstStyle/>
          <a:p>
            <a:pPr indent="0" marL="0">
              <a:buNone/>
            </a:pPr>
            <a:r>
              <a:rPr lang="en-US" sz="1250" b="1" dirty="0">
                <a:solidFill>
                  <a:srgbClr val="17241C"/>
                </a:solidFill>
                <a:latin typeface="Calibri" pitchFamily="34" charset="0"/>
                <a:ea typeface="Calibri" pitchFamily="34" charset="-122"/>
                <a:cs typeface="Calibri" pitchFamily="34" charset="-120"/>
              </a:rPr>
              <a:t>Pivot</a:t>
            </a:r>
            <a:endParaRPr lang="en-US" sz="1250" dirty="0"/>
          </a:p>
        </p:txBody>
      </p:sp>
      <p:sp>
        <p:nvSpPr>
          <p:cNvPr id="46" name="Shape 33"/>
          <p:cNvSpPr/>
          <p:nvPr/>
        </p:nvSpPr>
        <p:spPr>
          <a:xfrm>
            <a:off x="9057437" y="5737860"/>
            <a:ext cx="436778" cy="64008"/>
          </a:xfrm>
          <a:prstGeom prst="rightArrow">
            <a:avLst/>
          </a:prstGeom>
          <a:solidFill>
            <a:srgbClr val="D9A441"/>
          </a:solidFill>
          <a:ln/>
        </p:spPr>
      </p:sp>
      <p:sp>
        <p:nvSpPr>
          <p:cNvPr id="47" name="Shape 34"/>
          <p:cNvSpPr/>
          <p:nvPr/>
        </p:nvSpPr>
        <p:spPr>
          <a:xfrm>
            <a:off x="9539935" y="5577840"/>
            <a:ext cx="384048" cy="384048"/>
          </a:xfrm>
          <a:prstGeom prst="ellipse">
            <a:avLst/>
          </a:prstGeom>
          <a:solidFill>
            <a:srgbClr val="1F7A3D"/>
          </a:solidFill>
          <a:ln/>
        </p:spPr>
      </p:sp>
      <p:pic>
        <p:nvPicPr>
          <p:cNvPr id="48" name="Image 11" descr="/home/claude/hydromet_ppt/icons/database.png">    </p:cNvPr>
          <p:cNvPicPr>
            <a:picLocks noChangeAspect="1"/>
          </p:cNvPicPr>
          <p:nvPr/>
        </p:nvPicPr>
        <p:blipFill>
          <a:blip r:embed="rId12"/>
          <a:stretch>
            <a:fillRect/>
          </a:stretch>
        </p:blipFill>
        <p:spPr>
          <a:xfrm>
            <a:off x="9626346" y="5664251"/>
            <a:ext cx="211226" cy="211226"/>
          </a:xfrm>
          <a:prstGeom prst="rect">
            <a:avLst/>
          </a:prstGeom>
        </p:spPr>
      </p:pic>
      <p:sp>
        <p:nvSpPr>
          <p:cNvPr id="49" name="Text 35"/>
          <p:cNvSpPr txBox="1"/>
          <p:nvPr/>
        </p:nvSpPr>
        <p:spPr>
          <a:xfrm>
            <a:off x="10015423" y="5577840"/>
            <a:ext cx="1901952" cy="384048"/>
          </a:xfrm>
          <a:prstGeom prst="rect">
            <a:avLst/>
          </a:prstGeom>
          <a:noFill/>
          <a:ln/>
        </p:spPr>
        <p:txBody>
          <a:bodyPr wrap="square" lIns="0" tIns="0" rIns="0" bIns="0" rtlCol="0" anchor="ctr"/>
          <a:lstStyle/>
          <a:p>
            <a:pPr indent="0" marL="0">
              <a:buNone/>
            </a:pPr>
            <a:r>
              <a:rPr lang="en-US" sz="1250" b="1" dirty="0">
                <a:solidFill>
                  <a:srgbClr val="17241C"/>
                </a:solidFill>
                <a:latin typeface="Calibri" pitchFamily="34" charset="0"/>
                <a:ea typeface="Calibri" pitchFamily="34" charset="-122"/>
                <a:cs typeface="Calibri" pitchFamily="34" charset="-120"/>
              </a:rPr>
              <a:t>Wide ML Feature Matrix</a:t>
            </a:r>
            <a:endParaRPr lang="en-US" sz="1250" dirty="0"/>
          </a:p>
        </p:txBody>
      </p:sp>
      <p:sp>
        <p:nvSpPr>
          <p:cNvPr id="50" name="Text 36"/>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11 / 23</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2</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ARCHITECTURE &amp; RELATIONAL MODELING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HydroMet Star Schema</a:t>
            </a:r>
            <a:endParaRPr lang="en-US" sz="3200" dirty="0"/>
          </a:p>
        </p:txBody>
      </p:sp>
      <p:sp>
        <p:nvSpPr>
          <p:cNvPr id="6" name="Shape 4"/>
          <p:cNvSpPr/>
          <p:nvPr/>
        </p:nvSpPr>
        <p:spPr>
          <a:xfrm>
            <a:off x="6099048" y="2926080"/>
            <a:ext cx="9144" cy="411480"/>
          </a:xfrm>
          <a:prstGeom prst="line">
            <a:avLst/>
          </a:prstGeom>
          <a:noFill/>
          <a:ln w="19050">
            <a:solidFill>
              <a:srgbClr val="3FA34D"/>
            </a:solidFill>
            <a:prstDash val="solid"/>
          </a:ln>
        </p:spPr>
      </p:sp>
      <p:sp>
        <p:nvSpPr>
          <p:cNvPr id="7" name="Shape 5"/>
          <p:cNvSpPr/>
          <p:nvPr/>
        </p:nvSpPr>
        <p:spPr>
          <a:xfrm>
            <a:off x="5843016" y="3012948"/>
            <a:ext cx="512064" cy="237744"/>
          </a:xfrm>
          <a:prstGeom prst="roundRect">
            <a:avLst>
              <a:gd name="adj" fmla="val 23077"/>
            </a:avLst>
          </a:prstGeom>
          <a:solidFill>
            <a:srgbClr val="D9A441"/>
          </a:solidFill>
          <a:ln/>
        </p:spPr>
      </p:sp>
      <p:sp>
        <p:nvSpPr>
          <p:cNvPr id="8" name="Text 6"/>
          <p:cNvSpPr txBox="1"/>
          <p:nvPr/>
        </p:nvSpPr>
        <p:spPr>
          <a:xfrm>
            <a:off x="5843016" y="3012948"/>
            <a:ext cx="512064" cy="237744"/>
          </a:xfrm>
          <a:prstGeom prst="rect">
            <a:avLst/>
          </a:prstGeom>
          <a:noFill/>
          <a:ln/>
        </p:spPr>
        <p:txBody>
          <a:bodyPr wrap="square" lIns="0" tIns="0" rIns="0" bIns="0" rtlCol="0" anchor="ctr"/>
          <a:lstStyle/>
          <a:p>
            <a:pPr algn="ctr" indent="0" marL="0">
              <a:buNone/>
            </a:pPr>
            <a:r>
              <a:rPr lang="en-US" sz="1000" b="1" dirty="0">
                <a:solidFill>
                  <a:srgbClr val="0F3320"/>
                </a:solidFill>
                <a:latin typeface="Calibri" pitchFamily="34" charset="0"/>
                <a:ea typeface="Calibri" pitchFamily="34" charset="-122"/>
                <a:cs typeface="Calibri" pitchFamily="34" charset="-120"/>
              </a:rPr>
              <a:t>1:M</a:t>
            </a:r>
            <a:endParaRPr lang="en-US" sz="1000" dirty="0"/>
          </a:p>
        </p:txBody>
      </p:sp>
      <p:sp>
        <p:nvSpPr>
          <p:cNvPr id="9" name="Shape 7"/>
          <p:cNvSpPr/>
          <p:nvPr/>
        </p:nvSpPr>
        <p:spPr>
          <a:xfrm>
            <a:off x="4087368" y="3977640"/>
            <a:ext cx="457200" cy="9144"/>
          </a:xfrm>
          <a:prstGeom prst="line">
            <a:avLst/>
          </a:prstGeom>
          <a:noFill/>
          <a:ln w="19050">
            <a:solidFill>
              <a:srgbClr val="3FA34D"/>
            </a:solidFill>
            <a:prstDash val="solid"/>
          </a:ln>
        </p:spPr>
      </p:sp>
      <p:sp>
        <p:nvSpPr>
          <p:cNvPr id="10" name="Shape 8"/>
          <p:cNvSpPr/>
          <p:nvPr/>
        </p:nvSpPr>
        <p:spPr>
          <a:xfrm>
            <a:off x="4059936" y="3858768"/>
            <a:ext cx="512064" cy="237744"/>
          </a:xfrm>
          <a:prstGeom prst="roundRect">
            <a:avLst>
              <a:gd name="adj" fmla="val 23077"/>
            </a:avLst>
          </a:prstGeom>
          <a:solidFill>
            <a:srgbClr val="D9A441"/>
          </a:solidFill>
          <a:ln/>
        </p:spPr>
      </p:sp>
      <p:sp>
        <p:nvSpPr>
          <p:cNvPr id="11" name="Text 9"/>
          <p:cNvSpPr txBox="1"/>
          <p:nvPr/>
        </p:nvSpPr>
        <p:spPr>
          <a:xfrm>
            <a:off x="4059936" y="3858768"/>
            <a:ext cx="512064" cy="237744"/>
          </a:xfrm>
          <a:prstGeom prst="rect">
            <a:avLst/>
          </a:prstGeom>
          <a:noFill/>
          <a:ln/>
        </p:spPr>
        <p:txBody>
          <a:bodyPr wrap="square" lIns="0" tIns="0" rIns="0" bIns="0" rtlCol="0" anchor="ctr"/>
          <a:lstStyle/>
          <a:p>
            <a:pPr algn="ctr" indent="0" marL="0">
              <a:buNone/>
            </a:pPr>
            <a:r>
              <a:rPr lang="en-US" sz="1000" b="1" dirty="0">
                <a:solidFill>
                  <a:srgbClr val="0F3320"/>
                </a:solidFill>
                <a:latin typeface="Calibri" pitchFamily="34" charset="0"/>
                <a:ea typeface="Calibri" pitchFamily="34" charset="-122"/>
                <a:cs typeface="Calibri" pitchFamily="34" charset="-120"/>
              </a:rPr>
              <a:t>1:M</a:t>
            </a:r>
            <a:endParaRPr lang="en-US" sz="1000" dirty="0"/>
          </a:p>
        </p:txBody>
      </p:sp>
      <p:sp>
        <p:nvSpPr>
          <p:cNvPr id="12" name="Shape 10"/>
          <p:cNvSpPr/>
          <p:nvPr/>
        </p:nvSpPr>
        <p:spPr>
          <a:xfrm>
            <a:off x="7653528" y="3977640"/>
            <a:ext cx="457200" cy="9144"/>
          </a:xfrm>
          <a:prstGeom prst="line">
            <a:avLst/>
          </a:prstGeom>
          <a:noFill/>
          <a:ln w="19050">
            <a:solidFill>
              <a:srgbClr val="3FA34D"/>
            </a:solidFill>
            <a:prstDash val="solid"/>
          </a:ln>
        </p:spPr>
      </p:sp>
      <p:sp>
        <p:nvSpPr>
          <p:cNvPr id="13" name="Shape 11"/>
          <p:cNvSpPr/>
          <p:nvPr/>
        </p:nvSpPr>
        <p:spPr>
          <a:xfrm>
            <a:off x="7626096" y="3858768"/>
            <a:ext cx="512064" cy="237744"/>
          </a:xfrm>
          <a:prstGeom prst="roundRect">
            <a:avLst>
              <a:gd name="adj" fmla="val 23077"/>
            </a:avLst>
          </a:prstGeom>
          <a:solidFill>
            <a:srgbClr val="D9A441"/>
          </a:solidFill>
          <a:ln/>
        </p:spPr>
      </p:sp>
      <p:sp>
        <p:nvSpPr>
          <p:cNvPr id="14" name="Text 12"/>
          <p:cNvSpPr txBox="1"/>
          <p:nvPr/>
        </p:nvSpPr>
        <p:spPr>
          <a:xfrm>
            <a:off x="7626096" y="3858768"/>
            <a:ext cx="512064" cy="237744"/>
          </a:xfrm>
          <a:prstGeom prst="rect">
            <a:avLst/>
          </a:prstGeom>
          <a:noFill/>
          <a:ln/>
        </p:spPr>
        <p:txBody>
          <a:bodyPr wrap="square" lIns="0" tIns="0" rIns="0" bIns="0" rtlCol="0" anchor="ctr"/>
          <a:lstStyle/>
          <a:p>
            <a:pPr algn="ctr" indent="0" marL="0">
              <a:buNone/>
            </a:pPr>
            <a:r>
              <a:rPr lang="en-US" sz="1000" b="1" dirty="0">
                <a:solidFill>
                  <a:srgbClr val="0F3320"/>
                </a:solidFill>
                <a:latin typeface="Calibri" pitchFamily="34" charset="0"/>
                <a:ea typeface="Calibri" pitchFamily="34" charset="-122"/>
                <a:cs typeface="Calibri" pitchFamily="34" charset="-120"/>
              </a:rPr>
              <a:t>1:M</a:t>
            </a:r>
            <a:endParaRPr lang="en-US" sz="1000" dirty="0"/>
          </a:p>
        </p:txBody>
      </p:sp>
      <p:sp>
        <p:nvSpPr>
          <p:cNvPr id="15" name="Shape 13"/>
          <p:cNvSpPr/>
          <p:nvPr/>
        </p:nvSpPr>
        <p:spPr>
          <a:xfrm flipV="1">
            <a:off x="6099048" y="4617720"/>
            <a:ext cx="9144" cy="320040"/>
          </a:xfrm>
          <a:prstGeom prst="line">
            <a:avLst/>
          </a:prstGeom>
          <a:noFill/>
          <a:ln w="19050">
            <a:solidFill>
              <a:srgbClr val="3FA34D"/>
            </a:solidFill>
            <a:prstDash val="solid"/>
          </a:ln>
        </p:spPr>
      </p:sp>
      <p:sp>
        <p:nvSpPr>
          <p:cNvPr id="16" name="Shape 14"/>
          <p:cNvSpPr/>
          <p:nvPr/>
        </p:nvSpPr>
        <p:spPr>
          <a:xfrm>
            <a:off x="5843016" y="4658868"/>
            <a:ext cx="512064" cy="237744"/>
          </a:xfrm>
          <a:prstGeom prst="roundRect">
            <a:avLst>
              <a:gd name="adj" fmla="val 23077"/>
            </a:avLst>
          </a:prstGeom>
          <a:solidFill>
            <a:srgbClr val="D9A441"/>
          </a:solidFill>
          <a:ln/>
        </p:spPr>
      </p:sp>
      <p:sp>
        <p:nvSpPr>
          <p:cNvPr id="17" name="Text 15"/>
          <p:cNvSpPr txBox="1"/>
          <p:nvPr/>
        </p:nvSpPr>
        <p:spPr>
          <a:xfrm>
            <a:off x="5843016" y="4658868"/>
            <a:ext cx="512064" cy="237744"/>
          </a:xfrm>
          <a:prstGeom prst="rect">
            <a:avLst/>
          </a:prstGeom>
          <a:noFill/>
          <a:ln/>
        </p:spPr>
        <p:txBody>
          <a:bodyPr wrap="square" lIns="0" tIns="0" rIns="0" bIns="0" rtlCol="0" anchor="ctr"/>
          <a:lstStyle/>
          <a:p>
            <a:pPr algn="ctr" indent="0" marL="0">
              <a:buNone/>
            </a:pPr>
            <a:r>
              <a:rPr lang="en-US" sz="1000" b="1" dirty="0">
                <a:solidFill>
                  <a:srgbClr val="0F3320"/>
                </a:solidFill>
                <a:latin typeface="Calibri" pitchFamily="34" charset="0"/>
                <a:ea typeface="Calibri" pitchFamily="34" charset="-122"/>
                <a:cs typeface="Calibri" pitchFamily="34" charset="-120"/>
              </a:rPr>
              <a:t>1:M</a:t>
            </a:r>
            <a:endParaRPr lang="en-US" sz="1000" dirty="0"/>
          </a:p>
        </p:txBody>
      </p:sp>
      <p:sp>
        <p:nvSpPr>
          <p:cNvPr id="18" name="Shape 16"/>
          <p:cNvSpPr/>
          <p:nvPr/>
        </p:nvSpPr>
        <p:spPr>
          <a:xfrm>
            <a:off x="7653528" y="4480560"/>
            <a:ext cx="274320" cy="365760"/>
          </a:xfrm>
          <a:prstGeom prst="line">
            <a:avLst/>
          </a:prstGeom>
          <a:noFill/>
          <a:ln w="19050">
            <a:solidFill>
              <a:srgbClr val="3FA34D"/>
            </a:solidFill>
            <a:prstDash val="solid"/>
          </a:ln>
        </p:spPr>
      </p:sp>
      <p:sp>
        <p:nvSpPr>
          <p:cNvPr id="19" name="Shape 17"/>
          <p:cNvSpPr/>
          <p:nvPr/>
        </p:nvSpPr>
        <p:spPr>
          <a:xfrm>
            <a:off x="7534656" y="4544568"/>
            <a:ext cx="512064" cy="237744"/>
          </a:xfrm>
          <a:prstGeom prst="roundRect">
            <a:avLst>
              <a:gd name="adj" fmla="val 23077"/>
            </a:avLst>
          </a:prstGeom>
          <a:solidFill>
            <a:srgbClr val="D9A441"/>
          </a:solidFill>
          <a:ln/>
        </p:spPr>
      </p:sp>
      <p:sp>
        <p:nvSpPr>
          <p:cNvPr id="20" name="Text 18"/>
          <p:cNvSpPr txBox="1"/>
          <p:nvPr/>
        </p:nvSpPr>
        <p:spPr>
          <a:xfrm>
            <a:off x="7534656" y="4544568"/>
            <a:ext cx="512064" cy="237744"/>
          </a:xfrm>
          <a:prstGeom prst="rect">
            <a:avLst/>
          </a:prstGeom>
          <a:noFill/>
          <a:ln/>
        </p:spPr>
        <p:txBody>
          <a:bodyPr wrap="square" lIns="0" tIns="0" rIns="0" bIns="0" rtlCol="0" anchor="ctr"/>
          <a:lstStyle/>
          <a:p>
            <a:pPr algn="ctr" indent="0" marL="0">
              <a:buNone/>
            </a:pPr>
            <a:r>
              <a:rPr lang="en-US" sz="1000" b="1" dirty="0">
                <a:solidFill>
                  <a:srgbClr val="0F3320"/>
                </a:solidFill>
                <a:latin typeface="Calibri" pitchFamily="34" charset="0"/>
                <a:ea typeface="Calibri" pitchFamily="34" charset="-122"/>
                <a:cs typeface="Calibri" pitchFamily="34" charset="-120"/>
              </a:rPr>
              <a:t>1:M</a:t>
            </a:r>
            <a:endParaRPr lang="en-US" sz="1000" dirty="0"/>
          </a:p>
        </p:txBody>
      </p:sp>
      <p:sp>
        <p:nvSpPr>
          <p:cNvPr id="21" name="Shape 19"/>
          <p:cNvSpPr/>
          <p:nvPr/>
        </p:nvSpPr>
        <p:spPr>
          <a:xfrm>
            <a:off x="4727448" y="1828800"/>
            <a:ext cx="2743200" cy="1097280"/>
          </a:xfrm>
          <a:prstGeom prst="roundRect">
            <a:avLst>
              <a:gd name="adj" fmla="val 6667"/>
            </a:avLst>
          </a:prstGeom>
          <a:solidFill>
            <a:srgbClr val="FFFFFF"/>
          </a:solidFill>
          <a:ln w="12700">
            <a:solidFill>
              <a:srgbClr val="CFE8D2"/>
            </a:solidFill>
            <a:prstDash val="solid"/>
          </a:ln>
          <a:effectLst>
            <a:outerShdw sx="100000" sy="100000" kx="0" ky="0" algn="bl" rotWithShape="0" blurRad="76200" dist="25400" dir="5400000">
              <a:srgbClr val="1F2A22">
                <a:alpha val="18000"/>
              </a:srgbClr>
            </a:outerShdw>
          </a:effectLst>
        </p:spPr>
      </p:sp>
      <p:sp>
        <p:nvSpPr>
          <p:cNvPr id="22" name="Shape 20"/>
          <p:cNvSpPr/>
          <p:nvPr/>
        </p:nvSpPr>
        <p:spPr>
          <a:xfrm>
            <a:off x="4727448" y="1828800"/>
            <a:ext cx="2743200" cy="329184"/>
          </a:xfrm>
          <a:prstGeom prst="roundRect">
            <a:avLst>
              <a:gd name="adj" fmla="val 22222"/>
            </a:avLst>
          </a:prstGeom>
          <a:solidFill>
            <a:srgbClr val="1F7A3D"/>
          </a:solidFill>
          <a:ln/>
        </p:spPr>
      </p:sp>
      <p:sp>
        <p:nvSpPr>
          <p:cNvPr id="23" name="Shape 21"/>
          <p:cNvSpPr/>
          <p:nvPr/>
        </p:nvSpPr>
        <p:spPr>
          <a:xfrm>
            <a:off x="4727448" y="1993392"/>
            <a:ext cx="2743200" cy="164592"/>
          </a:xfrm>
          <a:prstGeom prst="rect">
            <a:avLst/>
          </a:prstGeom>
          <a:solidFill>
            <a:srgbClr val="1F7A3D"/>
          </a:solidFill>
          <a:ln/>
        </p:spPr>
      </p:sp>
      <p:sp>
        <p:nvSpPr>
          <p:cNvPr id="24" name="Text 22"/>
          <p:cNvSpPr txBox="1"/>
          <p:nvPr/>
        </p:nvSpPr>
        <p:spPr>
          <a:xfrm>
            <a:off x="4727448" y="1828800"/>
            <a:ext cx="274320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dim_date</a:t>
            </a:r>
            <a:endParaRPr lang="en-US" sz="1250" dirty="0"/>
          </a:p>
        </p:txBody>
      </p:sp>
      <p:sp>
        <p:nvSpPr>
          <p:cNvPr id="25" name="Text 23"/>
          <p:cNvSpPr txBox="1"/>
          <p:nvPr/>
        </p:nvSpPr>
        <p:spPr>
          <a:xfrm>
            <a:off x="4873752" y="2249424"/>
            <a:ext cx="2450592" cy="585216"/>
          </a:xfrm>
          <a:prstGeom prst="rect">
            <a:avLst/>
          </a:prstGeom>
          <a:noFill/>
          <a:ln/>
        </p:spPr>
        <p:txBody>
          <a:bodyPr wrap="square" lIns="0" tIns="0" rIns="0" bIns="0" rtlCol="0" anchor="t"/>
          <a:lstStyle/>
          <a:p>
            <a:pPr indent="0" marL="0">
              <a:lnSpc>
                <a:spcPct val="120000"/>
              </a:lnSpc>
              <a:buNone/>
            </a:pPr>
            <a:r>
              <a:rPr lang="en-US" sz="1150" b="1" dirty="0">
                <a:solidFill>
                  <a:srgbClr val="B9832A"/>
                </a:solidFill>
                <a:latin typeface="Courier New" pitchFamily="34" charset="0"/>
                <a:ea typeface="Courier New" pitchFamily="34" charset="-122"/>
                <a:cs typeface="Courier New" pitchFamily="34" charset="-120"/>
              </a:rPr>
              <a:t>PK  date_id</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full_date, year, quarter</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month, day_of_year</a:t>
            </a:r>
            <a:endParaRPr lang="en-US" sz="1150" dirty="0"/>
          </a:p>
        </p:txBody>
      </p:sp>
      <p:sp>
        <p:nvSpPr>
          <p:cNvPr id="26" name="Shape 24"/>
          <p:cNvSpPr/>
          <p:nvPr/>
        </p:nvSpPr>
        <p:spPr>
          <a:xfrm>
            <a:off x="1389888" y="3429000"/>
            <a:ext cx="2697480" cy="1097280"/>
          </a:xfrm>
          <a:prstGeom prst="roundRect">
            <a:avLst>
              <a:gd name="adj" fmla="val 6667"/>
            </a:avLst>
          </a:prstGeom>
          <a:solidFill>
            <a:srgbClr val="FFFFFF"/>
          </a:solidFill>
          <a:ln w="12700">
            <a:solidFill>
              <a:srgbClr val="CFE8D2"/>
            </a:solidFill>
            <a:prstDash val="solid"/>
          </a:ln>
          <a:effectLst>
            <a:outerShdw sx="100000" sy="100000" kx="0" ky="0" algn="bl" rotWithShape="0" blurRad="76200" dist="25400" dir="5400000">
              <a:srgbClr val="1F2A22">
                <a:alpha val="18000"/>
              </a:srgbClr>
            </a:outerShdw>
          </a:effectLst>
        </p:spPr>
      </p:sp>
      <p:sp>
        <p:nvSpPr>
          <p:cNvPr id="27" name="Shape 25"/>
          <p:cNvSpPr/>
          <p:nvPr/>
        </p:nvSpPr>
        <p:spPr>
          <a:xfrm>
            <a:off x="1389888" y="3429000"/>
            <a:ext cx="2697480" cy="329184"/>
          </a:xfrm>
          <a:prstGeom prst="roundRect">
            <a:avLst>
              <a:gd name="adj" fmla="val 22222"/>
            </a:avLst>
          </a:prstGeom>
          <a:solidFill>
            <a:srgbClr val="1F7A3D"/>
          </a:solidFill>
          <a:ln/>
        </p:spPr>
      </p:sp>
      <p:sp>
        <p:nvSpPr>
          <p:cNvPr id="28" name="Shape 26"/>
          <p:cNvSpPr/>
          <p:nvPr/>
        </p:nvSpPr>
        <p:spPr>
          <a:xfrm>
            <a:off x="1389888" y="3593592"/>
            <a:ext cx="2697480" cy="164592"/>
          </a:xfrm>
          <a:prstGeom prst="rect">
            <a:avLst/>
          </a:prstGeom>
          <a:solidFill>
            <a:srgbClr val="1F7A3D"/>
          </a:solidFill>
          <a:ln/>
        </p:spPr>
      </p:sp>
      <p:sp>
        <p:nvSpPr>
          <p:cNvPr id="29" name="Text 27"/>
          <p:cNvSpPr txBox="1"/>
          <p:nvPr/>
        </p:nvSpPr>
        <p:spPr>
          <a:xfrm>
            <a:off x="1389888" y="3429000"/>
            <a:ext cx="269748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dim_location</a:t>
            </a:r>
            <a:endParaRPr lang="en-US" sz="1250" dirty="0"/>
          </a:p>
        </p:txBody>
      </p:sp>
      <p:sp>
        <p:nvSpPr>
          <p:cNvPr id="30" name="Text 28"/>
          <p:cNvSpPr txBox="1"/>
          <p:nvPr/>
        </p:nvSpPr>
        <p:spPr>
          <a:xfrm>
            <a:off x="1536192" y="3849624"/>
            <a:ext cx="2404872" cy="585216"/>
          </a:xfrm>
          <a:prstGeom prst="rect">
            <a:avLst/>
          </a:prstGeom>
          <a:noFill/>
          <a:ln/>
        </p:spPr>
        <p:txBody>
          <a:bodyPr wrap="square" lIns="0" tIns="0" rIns="0" bIns="0" rtlCol="0" anchor="t"/>
          <a:lstStyle/>
          <a:p>
            <a:pPr indent="0" marL="0">
              <a:lnSpc>
                <a:spcPct val="120000"/>
              </a:lnSpc>
              <a:buNone/>
            </a:pPr>
            <a:r>
              <a:rPr lang="en-US" sz="1150" b="1" dirty="0">
                <a:solidFill>
                  <a:srgbClr val="B9832A"/>
                </a:solidFill>
                <a:latin typeface="Courier New" pitchFamily="34" charset="0"/>
                <a:ea typeface="Courier New" pitchFamily="34" charset="-122"/>
                <a:cs typeface="Courier New" pitchFamily="34" charset="-120"/>
              </a:rPr>
              <a:t>PK  location_id</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location_name, country</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latitude, longitude</a:t>
            </a:r>
            <a:endParaRPr lang="en-US" sz="1150" dirty="0"/>
          </a:p>
        </p:txBody>
      </p:sp>
      <p:sp>
        <p:nvSpPr>
          <p:cNvPr id="31" name="Shape 29"/>
          <p:cNvSpPr/>
          <p:nvPr/>
        </p:nvSpPr>
        <p:spPr>
          <a:xfrm>
            <a:off x="8110728" y="3429000"/>
            <a:ext cx="2697480" cy="1097280"/>
          </a:xfrm>
          <a:prstGeom prst="roundRect">
            <a:avLst>
              <a:gd name="adj" fmla="val 6667"/>
            </a:avLst>
          </a:prstGeom>
          <a:solidFill>
            <a:srgbClr val="FFFFFF"/>
          </a:solidFill>
          <a:ln w="12700">
            <a:solidFill>
              <a:srgbClr val="CFE8D2"/>
            </a:solidFill>
            <a:prstDash val="solid"/>
          </a:ln>
          <a:effectLst>
            <a:outerShdw sx="100000" sy="100000" kx="0" ky="0" algn="bl" rotWithShape="0" blurRad="76200" dist="25400" dir="5400000">
              <a:srgbClr val="1F2A22">
                <a:alpha val="18000"/>
              </a:srgbClr>
            </a:outerShdw>
          </a:effectLst>
        </p:spPr>
      </p:sp>
      <p:sp>
        <p:nvSpPr>
          <p:cNvPr id="32" name="Shape 30"/>
          <p:cNvSpPr/>
          <p:nvPr/>
        </p:nvSpPr>
        <p:spPr>
          <a:xfrm>
            <a:off x="8110728" y="3429000"/>
            <a:ext cx="2697480" cy="329184"/>
          </a:xfrm>
          <a:prstGeom prst="roundRect">
            <a:avLst>
              <a:gd name="adj" fmla="val 22222"/>
            </a:avLst>
          </a:prstGeom>
          <a:solidFill>
            <a:srgbClr val="1F7A3D"/>
          </a:solidFill>
          <a:ln/>
        </p:spPr>
      </p:sp>
      <p:sp>
        <p:nvSpPr>
          <p:cNvPr id="33" name="Shape 31"/>
          <p:cNvSpPr/>
          <p:nvPr/>
        </p:nvSpPr>
        <p:spPr>
          <a:xfrm>
            <a:off x="8110728" y="3593592"/>
            <a:ext cx="2697480" cy="164592"/>
          </a:xfrm>
          <a:prstGeom prst="rect">
            <a:avLst/>
          </a:prstGeom>
          <a:solidFill>
            <a:srgbClr val="1F7A3D"/>
          </a:solidFill>
          <a:ln/>
        </p:spPr>
      </p:sp>
      <p:sp>
        <p:nvSpPr>
          <p:cNvPr id="34" name="Text 32"/>
          <p:cNvSpPr txBox="1"/>
          <p:nvPr/>
        </p:nvSpPr>
        <p:spPr>
          <a:xfrm>
            <a:off x="8110728" y="3429000"/>
            <a:ext cx="269748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dim_source</a:t>
            </a:r>
            <a:endParaRPr lang="en-US" sz="1250" dirty="0"/>
          </a:p>
        </p:txBody>
      </p:sp>
      <p:sp>
        <p:nvSpPr>
          <p:cNvPr id="35" name="Text 33"/>
          <p:cNvSpPr txBox="1"/>
          <p:nvPr/>
        </p:nvSpPr>
        <p:spPr>
          <a:xfrm>
            <a:off x="8257032" y="3849624"/>
            <a:ext cx="2404872" cy="585216"/>
          </a:xfrm>
          <a:prstGeom prst="rect">
            <a:avLst/>
          </a:prstGeom>
          <a:noFill/>
          <a:ln/>
        </p:spPr>
        <p:txBody>
          <a:bodyPr wrap="square" lIns="0" tIns="0" rIns="0" bIns="0" rtlCol="0" anchor="t"/>
          <a:lstStyle/>
          <a:p>
            <a:pPr indent="0" marL="0">
              <a:lnSpc>
                <a:spcPct val="120000"/>
              </a:lnSpc>
              <a:buNone/>
            </a:pPr>
            <a:r>
              <a:rPr lang="en-US" sz="1150" b="1" dirty="0">
                <a:solidFill>
                  <a:srgbClr val="B9832A"/>
                </a:solidFill>
                <a:latin typeface="Courier New" pitchFamily="34" charset="0"/>
                <a:ea typeface="Courier New" pitchFamily="34" charset="-122"/>
                <a:cs typeface="Courier New" pitchFamily="34" charset="-120"/>
              </a:rPr>
              <a:t>PK  source_id</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source_name, provider</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temporal_resolution</a:t>
            </a:r>
            <a:endParaRPr lang="en-US" sz="1150" dirty="0"/>
          </a:p>
        </p:txBody>
      </p:sp>
      <p:sp>
        <p:nvSpPr>
          <p:cNvPr id="36" name="Shape 34"/>
          <p:cNvSpPr/>
          <p:nvPr/>
        </p:nvSpPr>
        <p:spPr>
          <a:xfrm>
            <a:off x="4727448" y="4937760"/>
            <a:ext cx="2743200" cy="1097280"/>
          </a:xfrm>
          <a:prstGeom prst="roundRect">
            <a:avLst>
              <a:gd name="adj" fmla="val 6667"/>
            </a:avLst>
          </a:prstGeom>
          <a:solidFill>
            <a:srgbClr val="FFFFFF"/>
          </a:solidFill>
          <a:ln w="12700">
            <a:solidFill>
              <a:srgbClr val="CFE8D2"/>
            </a:solidFill>
            <a:prstDash val="solid"/>
          </a:ln>
          <a:effectLst>
            <a:outerShdw sx="100000" sy="100000" kx="0" ky="0" algn="bl" rotWithShape="0" blurRad="76200" dist="25400" dir="5400000">
              <a:srgbClr val="1F2A22">
                <a:alpha val="18000"/>
              </a:srgbClr>
            </a:outerShdw>
          </a:effectLst>
        </p:spPr>
      </p:sp>
      <p:sp>
        <p:nvSpPr>
          <p:cNvPr id="37" name="Shape 35"/>
          <p:cNvSpPr/>
          <p:nvPr/>
        </p:nvSpPr>
        <p:spPr>
          <a:xfrm>
            <a:off x="4727448" y="4937760"/>
            <a:ext cx="2743200" cy="329184"/>
          </a:xfrm>
          <a:prstGeom prst="roundRect">
            <a:avLst>
              <a:gd name="adj" fmla="val 22222"/>
            </a:avLst>
          </a:prstGeom>
          <a:solidFill>
            <a:srgbClr val="1F7A3D"/>
          </a:solidFill>
          <a:ln/>
        </p:spPr>
      </p:sp>
      <p:sp>
        <p:nvSpPr>
          <p:cNvPr id="38" name="Shape 36"/>
          <p:cNvSpPr/>
          <p:nvPr/>
        </p:nvSpPr>
        <p:spPr>
          <a:xfrm>
            <a:off x="4727448" y="5102352"/>
            <a:ext cx="2743200" cy="164592"/>
          </a:xfrm>
          <a:prstGeom prst="rect">
            <a:avLst/>
          </a:prstGeom>
          <a:solidFill>
            <a:srgbClr val="1F7A3D"/>
          </a:solidFill>
          <a:ln/>
        </p:spPr>
      </p:sp>
      <p:sp>
        <p:nvSpPr>
          <p:cNvPr id="39" name="Text 37"/>
          <p:cNvSpPr txBox="1"/>
          <p:nvPr/>
        </p:nvSpPr>
        <p:spPr>
          <a:xfrm>
            <a:off x="4727448" y="4937760"/>
            <a:ext cx="274320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dim_variable</a:t>
            </a:r>
            <a:endParaRPr lang="en-US" sz="1250" dirty="0"/>
          </a:p>
        </p:txBody>
      </p:sp>
      <p:sp>
        <p:nvSpPr>
          <p:cNvPr id="40" name="Text 38"/>
          <p:cNvSpPr txBox="1"/>
          <p:nvPr/>
        </p:nvSpPr>
        <p:spPr>
          <a:xfrm>
            <a:off x="4873752" y="5358384"/>
            <a:ext cx="2450592" cy="585216"/>
          </a:xfrm>
          <a:prstGeom prst="rect">
            <a:avLst/>
          </a:prstGeom>
          <a:noFill/>
          <a:ln/>
        </p:spPr>
        <p:txBody>
          <a:bodyPr wrap="square" lIns="0" tIns="0" rIns="0" bIns="0" rtlCol="0" anchor="t"/>
          <a:lstStyle/>
          <a:p>
            <a:pPr indent="0" marL="0">
              <a:lnSpc>
                <a:spcPct val="120000"/>
              </a:lnSpc>
              <a:buNone/>
            </a:pPr>
            <a:r>
              <a:rPr lang="en-US" sz="1150" b="1" dirty="0">
                <a:solidFill>
                  <a:srgbClr val="B9832A"/>
                </a:solidFill>
                <a:latin typeface="Courier New" pitchFamily="34" charset="0"/>
                <a:ea typeface="Courier New" pitchFamily="34" charset="-122"/>
                <a:cs typeface="Courier New" pitchFamily="34" charset="-120"/>
              </a:rPr>
              <a:t>PK  variable_id</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variable_code</a:t>
            </a:r>
            <a:endParaRPr lang="en-US" sz="1150" dirty="0"/>
          </a:p>
          <a:p>
            <a:pPr indent="0" marL="0">
              <a:lnSpc>
                <a:spcPct val="120000"/>
              </a:lnSpc>
              <a:buNone/>
            </a:pPr>
            <a:r>
              <a:rPr lang="en-US" sz="1150" dirty="0">
                <a:solidFill>
                  <a:srgbClr val="17241C"/>
                </a:solidFill>
                <a:latin typeface="Courier New" pitchFamily="34" charset="0"/>
                <a:ea typeface="Courier New" pitchFamily="34" charset="-122"/>
                <a:cs typeface="Courier New" pitchFamily="34" charset="-120"/>
              </a:rPr>
              <a:t>variable_name, unit</a:t>
            </a:r>
            <a:endParaRPr lang="en-US" sz="1150" dirty="0"/>
          </a:p>
        </p:txBody>
      </p:sp>
      <p:sp>
        <p:nvSpPr>
          <p:cNvPr id="41" name="Shape 39"/>
          <p:cNvSpPr/>
          <p:nvPr/>
        </p:nvSpPr>
        <p:spPr>
          <a:xfrm>
            <a:off x="4544568" y="3337560"/>
            <a:ext cx="3108960" cy="1280160"/>
          </a:xfrm>
          <a:prstGeom prst="roundRect">
            <a:avLst>
              <a:gd name="adj" fmla="val 5714"/>
            </a:avLst>
          </a:prstGeom>
          <a:solidFill>
            <a:srgbClr val="FFFFFF"/>
          </a:solidFill>
          <a:ln w="22225">
            <a:solidFill>
              <a:srgbClr val="D9A441"/>
            </a:solidFill>
            <a:prstDash val="solid"/>
          </a:ln>
          <a:effectLst>
            <a:outerShdw sx="100000" sy="100000" kx="0" ky="0" algn="bl" rotWithShape="0" blurRad="76200" dist="25400" dir="5400000">
              <a:srgbClr val="1F2A22">
                <a:alpha val="18000"/>
              </a:srgbClr>
            </a:outerShdw>
          </a:effectLst>
        </p:spPr>
      </p:sp>
      <p:sp>
        <p:nvSpPr>
          <p:cNvPr id="42" name="Shape 40"/>
          <p:cNvSpPr/>
          <p:nvPr/>
        </p:nvSpPr>
        <p:spPr>
          <a:xfrm>
            <a:off x="4544568" y="3337560"/>
            <a:ext cx="3108960" cy="329184"/>
          </a:xfrm>
          <a:prstGeom prst="roundRect">
            <a:avLst>
              <a:gd name="adj" fmla="val 22222"/>
            </a:avLst>
          </a:prstGeom>
          <a:solidFill>
            <a:srgbClr val="0F3320"/>
          </a:solidFill>
          <a:ln/>
        </p:spPr>
      </p:sp>
      <p:sp>
        <p:nvSpPr>
          <p:cNvPr id="43" name="Shape 41"/>
          <p:cNvSpPr/>
          <p:nvPr/>
        </p:nvSpPr>
        <p:spPr>
          <a:xfrm>
            <a:off x="4544568" y="3502152"/>
            <a:ext cx="3108960" cy="164592"/>
          </a:xfrm>
          <a:prstGeom prst="rect">
            <a:avLst/>
          </a:prstGeom>
          <a:solidFill>
            <a:srgbClr val="0F3320"/>
          </a:solidFill>
          <a:ln/>
        </p:spPr>
      </p:sp>
      <p:sp>
        <p:nvSpPr>
          <p:cNvPr id="44" name="Text 42"/>
          <p:cNvSpPr txBox="1"/>
          <p:nvPr/>
        </p:nvSpPr>
        <p:spPr>
          <a:xfrm>
            <a:off x="4544568" y="3337560"/>
            <a:ext cx="310896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fact_observation</a:t>
            </a:r>
            <a:endParaRPr lang="en-US" sz="1350" dirty="0"/>
          </a:p>
        </p:txBody>
      </p:sp>
      <p:sp>
        <p:nvSpPr>
          <p:cNvPr id="45" name="Text 43"/>
          <p:cNvSpPr txBox="1"/>
          <p:nvPr/>
        </p:nvSpPr>
        <p:spPr>
          <a:xfrm>
            <a:off x="4690872" y="3758184"/>
            <a:ext cx="2816352" cy="768096"/>
          </a:xfrm>
          <a:prstGeom prst="rect">
            <a:avLst/>
          </a:prstGeom>
          <a:noFill/>
          <a:ln/>
        </p:spPr>
        <p:txBody>
          <a:bodyPr wrap="square" lIns="0" tIns="0" rIns="0" bIns="0" rtlCol="0" anchor="t"/>
          <a:lstStyle/>
          <a:p>
            <a:pPr indent="0" marL="0">
              <a:lnSpc>
                <a:spcPct val="120000"/>
              </a:lnSpc>
              <a:buNone/>
            </a:pPr>
            <a:r>
              <a:rPr lang="en-US" sz="1100" b="1" dirty="0">
                <a:solidFill>
                  <a:srgbClr val="B9832A"/>
                </a:solidFill>
                <a:latin typeface="Courier New" pitchFamily="34" charset="0"/>
                <a:ea typeface="Courier New" pitchFamily="34" charset="-122"/>
                <a:cs typeface="Courier New" pitchFamily="34" charset="-120"/>
              </a:rPr>
              <a:t>PK  observation_id</a:t>
            </a:r>
            <a:endParaRPr lang="en-US" sz="1100" dirty="0"/>
          </a:p>
          <a:p>
            <a:pPr indent="0" marL="0">
              <a:lnSpc>
                <a:spcPct val="120000"/>
              </a:lnSpc>
              <a:buNone/>
            </a:pPr>
            <a:r>
              <a:rPr lang="en-US" sz="1100" b="1" dirty="0">
                <a:solidFill>
                  <a:srgbClr val="175C2E"/>
                </a:solidFill>
                <a:latin typeface="Courier New" pitchFamily="34" charset="0"/>
                <a:ea typeface="Courier New" pitchFamily="34" charset="-122"/>
                <a:cs typeface="Courier New" pitchFamily="34" charset="-120"/>
              </a:rPr>
              <a:t>FK  date_id, location_id</a:t>
            </a:r>
            <a:endParaRPr lang="en-US" sz="1100" dirty="0"/>
          </a:p>
          <a:p>
            <a:pPr indent="0" marL="0">
              <a:lnSpc>
                <a:spcPct val="120000"/>
              </a:lnSpc>
              <a:buNone/>
            </a:pPr>
            <a:r>
              <a:rPr lang="en-US" sz="1100" b="1" dirty="0">
                <a:solidFill>
                  <a:srgbClr val="175C2E"/>
                </a:solidFill>
                <a:latin typeface="Courier New" pitchFamily="34" charset="0"/>
                <a:ea typeface="Courier New" pitchFamily="34" charset="-122"/>
                <a:cs typeface="Courier New" pitchFamily="34" charset="-120"/>
              </a:rPr>
              <a:t>FK  variable_id, source_id</a:t>
            </a:r>
            <a:endParaRPr lang="en-US" sz="1100" dirty="0"/>
          </a:p>
          <a:p>
            <a:pPr indent="0" marL="0">
              <a:lnSpc>
                <a:spcPct val="120000"/>
              </a:lnSpc>
              <a:buNone/>
            </a:pPr>
            <a:r>
              <a:rPr lang="en-US" sz="1100" dirty="0">
                <a:solidFill>
                  <a:srgbClr val="17241C"/>
                </a:solidFill>
                <a:latin typeface="Courier New" pitchFamily="34" charset="0"/>
                <a:ea typeface="Courier New" pitchFamily="34" charset="-122"/>
                <a:cs typeface="Courier New" pitchFamily="34" charset="-120"/>
              </a:rPr>
              <a:t>value, ingested_at</a:t>
            </a:r>
            <a:endParaRPr lang="en-US" sz="1100" dirty="0"/>
          </a:p>
        </p:txBody>
      </p:sp>
      <p:sp>
        <p:nvSpPr>
          <p:cNvPr id="46" name="Shape 44"/>
          <p:cNvSpPr/>
          <p:nvPr/>
        </p:nvSpPr>
        <p:spPr>
          <a:xfrm>
            <a:off x="7927848" y="4846320"/>
            <a:ext cx="3017520" cy="1280160"/>
          </a:xfrm>
          <a:prstGeom prst="roundRect">
            <a:avLst>
              <a:gd name="adj" fmla="val 5714"/>
            </a:avLst>
          </a:prstGeom>
          <a:solidFill>
            <a:srgbClr val="FFFFFF"/>
          </a:solidFill>
          <a:ln w="22225">
            <a:solidFill>
              <a:srgbClr val="D9A441"/>
            </a:solidFill>
            <a:prstDash val="solid"/>
          </a:ln>
          <a:effectLst>
            <a:outerShdw sx="100000" sy="100000" kx="0" ky="0" algn="bl" rotWithShape="0" blurRad="76200" dist="25400" dir="5400000">
              <a:srgbClr val="1F2A22">
                <a:alpha val="18000"/>
              </a:srgbClr>
            </a:outerShdw>
          </a:effectLst>
        </p:spPr>
      </p:sp>
      <p:sp>
        <p:nvSpPr>
          <p:cNvPr id="47" name="Shape 45"/>
          <p:cNvSpPr/>
          <p:nvPr/>
        </p:nvSpPr>
        <p:spPr>
          <a:xfrm>
            <a:off x="7927848" y="4846320"/>
            <a:ext cx="3017520" cy="329184"/>
          </a:xfrm>
          <a:prstGeom prst="roundRect">
            <a:avLst>
              <a:gd name="adj" fmla="val 22222"/>
            </a:avLst>
          </a:prstGeom>
          <a:solidFill>
            <a:srgbClr val="0F3320"/>
          </a:solidFill>
          <a:ln/>
        </p:spPr>
      </p:sp>
      <p:sp>
        <p:nvSpPr>
          <p:cNvPr id="48" name="Shape 46"/>
          <p:cNvSpPr/>
          <p:nvPr/>
        </p:nvSpPr>
        <p:spPr>
          <a:xfrm>
            <a:off x="7927848" y="5010912"/>
            <a:ext cx="3017520" cy="164592"/>
          </a:xfrm>
          <a:prstGeom prst="rect">
            <a:avLst/>
          </a:prstGeom>
          <a:solidFill>
            <a:srgbClr val="0F3320"/>
          </a:solidFill>
          <a:ln/>
        </p:spPr>
      </p:sp>
      <p:sp>
        <p:nvSpPr>
          <p:cNvPr id="49" name="Text 47"/>
          <p:cNvSpPr txBox="1"/>
          <p:nvPr/>
        </p:nvSpPr>
        <p:spPr>
          <a:xfrm>
            <a:off x="7927848" y="4846320"/>
            <a:ext cx="301752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fact_quality_flag</a:t>
            </a:r>
            <a:endParaRPr lang="en-US" sz="1350" dirty="0"/>
          </a:p>
        </p:txBody>
      </p:sp>
      <p:sp>
        <p:nvSpPr>
          <p:cNvPr id="50" name="Text 48"/>
          <p:cNvSpPr txBox="1"/>
          <p:nvPr/>
        </p:nvSpPr>
        <p:spPr>
          <a:xfrm>
            <a:off x="8074152" y="5266944"/>
            <a:ext cx="2724912" cy="768096"/>
          </a:xfrm>
          <a:prstGeom prst="rect">
            <a:avLst/>
          </a:prstGeom>
          <a:noFill/>
          <a:ln/>
        </p:spPr>
        <p:txBody>
          <a:bodyPr wrap="square" lIns="0" tIns="0" rIns="0" bIns="0" rtlCol="0" anchor="t"/>
          <a:lstStyle/>
          <a:p>
            <a:pPr indent="0" marL="0">
              <a:lnSpc>
                <a:spcPct val="120000"/>
              </a:lnSpc>
              <a:buNone/>
            </a:pPr>
            <a:r>
              <a:rPr lang="en-US" sz="1050" b="1" dirty="0">
                <a:solidFill>
                  <a:srgbClr val="B9832A"/>
                </a:solidFill>
                <a:latin typeface="Courier New" pitchFamily="34" charset="0"/>
                <a:ea typeface="Courier New" pitchFamily="34" charset="-122"/>
                <a:cs typeface="Courier New" pitchFamily="34" charset="-120"/>
              </a:rPr>
              <a:t>PK  quality_flag_id</a:t>
            </a:r>
            <a:endParaRPr lang="en-US" sz="1050" dirty="0"/>
          </a:p>
          <a:p>
            <a:pPr indent="0" marL="0">
              <a:lnSpc>
                <a:spcPct val="120000"/>
              </a:lnSpc>
              <a:buNone/>
            </a:pPr>
            <a:r>
              <a:rPr lang="en-US" sz="1050" b="1" dirty="0">
                <a:solidFill>
                  <a:srgbClr val="175C2E"/>
                </a:solidFill>
                <a:latin typeface="Courier New" pitchFamily="34" charset="0"/>
                <a:ea typeface="Courier New" pitchFamily="34" charset="-122"/>
                <a:cs typeface="Courier New" pitchFamily="34" charset="-120"/>
              </a:rPr>
              <a:t>FK  observation_id</a:t>
            </a:r>
            <a:endParaRPr lang="en-US" sz="1050" dirty="0"/>
          </a:p>
          <a:p>
            <a:pPr indent="0" marL="0">
              <a:lnSpc>
                <a:spcPct val="120000"/>
              </a:lnSpc>
              <a:buNone/>
            </a:pPr>
            <a:r>
              <a:rPr lang="en-US" sz="1050" dirty="0">
                <a:solidFill>
                  <a:srgbClr val="17241C"/>
                </a:solidFill>
                <a:latin typeface="Courier New" pitchFamily="34" charset="0"/>
                <a:ea typeface="Courier New" pitchFamily="34" charset="-122"/>
                <a:cs typeface="Courier New" pitchFamily="34" charset="-120"/>
              </a:rPr>
              <a:t>rule_name, flag_type,</a:t>
            </a:r>
            <a:endParaRPr lang="en-US" sz="1050" dirty="0"/>
          </a:p>
          <a:p>
            <a:pPr indent="0" marL="0">
              <a:lnSpc>
                <a:spcPct val="120000"/>
              </a:lnSpc>
              <a:buNone/>
            </a:pPr>
            <a:r>
              <a:rPr lang="en-US" sz="1050" dirty="0">
                <a:solidFill>
                  <a:srgbClr val="17241C"/>
                </a:solidFill>
                <a:latin typeface="Courier New" pitchFamily="34" charset="0"/>
                <a:ea typeface="Courier New" pitchFamily="34" charset="-122"/>
                <a:cs typeface="Courier New" pitchFamily="34" charset="-120"/>
              </a:rPr>
              <a:t>severity, flagged_at</a:t>
            </a:r>
            <a:endParaRPr lang="en-US" sz="1050" dirty="0"/>
          </a:p>
        </p:txBody>
      </p:sp>
      <p:sp>
        <p:nvSpPr>
          <p:cNvPr id="51" name="Text 49"/>
          <p:cNvSpPr txBox="1"/>
          <p:nvPr/>
        </p:nvSpPr>
        <p:spPr>
          <a:xfrm>
            <a:off x="548640" y="1417320"/>
            <a:ext cx="7315200" cy="274320"/>
          </a:xfrm>
          <a:prstGeom prst="rect">
            <a:avLst/>
          </a:prstGeom>
          <a:noFill/>
          <a:ln/>
        </p:spPr>
        <p:txBody>
          <a:bodyPr wrap="square" lIns="0" tIns="0" rIns="0" bIns="0" rtlCol="0" anchor="ctr"/>
          <a:lstStyle/>
          <a:p>
            <a:pPr indent="0" marL="0">
              <a:buNone/>
            </a:pPr>
            <a:r>
              <a:rPr lang="en-US" sz="1250" b="1" dirty="0">
                <a:solidFill>
                  <a:srgbClr val="B9832A"/>
                </a:solidFill>
                <a:latin typeface="Calibri" pitchFamily="34" charset="0"/>
                <a:ea typeface="Calibri" pitchFamily="34" charset="-122"/>
                <a:cs typeface="Calibri" pitchFamily="34" charset="-120"/>
              </a:rPr>
              <a:t>PK</a:t>
            </a:r>
            <a:pPr indent="0" marL="0">
              <a:buNone/>
            </a:pPr>
            <a:r>
              <a:rPr lang="en-US" sz="1250" dirty="0">
                <a:solidFill>
                  <a:srgbClr val="5C6B63"/>
                </a:solidFill>
                <a:latin typeface="Calibri" pitchFamily="34" charset="0"/>
                <a:ea typeface="Calibri" pitchFamily="34" charset="-122"/>
                <a:cs typeface="Calibri" pitchFamily="34" charset="-120"/>
              </a:rPr>
              <a:t> Primary Key      </a:t>
            </a:r>
            <a:pPr indent="0" marL="0">
              <a:buNone/>
            </a:pPr>
            <a:r>
              <a:rPr lang="en-US" sz="1250" b="1" dirty="0">
                <a:solidFill>
                  <a:srgbClr val="175C2E"/>
                </a:solidFill>
                <a:latin typeface="Calibri" pitchFamily="34" charset="0"/>
                <a:ea typeface="Calibri" pitchFamily="34" charset="-122"/>
                <a:cs typeface="Calibri" pitchFamily="34" charset="-120"/>
              </a:rPr>
              <a:t>FK</a:t>
            </a:r>
            <a:pPr indent="0" marL="0">
              <a:buNone/>
            </a:pPr>
            <a:r>
              <a:rPr lang="en-US" sz="1250" dirty="0">
                <a:solidFill>
                  <a:srgbClr val="5C6B63"/>
                </a:solidFill>
                <a:latin typeface="Calibri" pitchFamily="34" charset="0"/>
                <a:ea typeface="Calibri" pitchFamily="34" charset="-122"/>
                <a:cs typeface="Calibri" pitchFamily="34" charset="-120"/>
              </a:rPr>
              <a:t> Foreign Key      </a:t>
            </a:r>
            <a:pPr indent="0" marL="0">
              <a:buNone/>
            </a:pPr>
            <a:r>
              <a:rPr lang="en-US" sz="1250" b="1" dirty="0">
                <a:solidFill>
                  <a:srgbClr val="0F3320"/>
                </a:solidFill>
                <a:latin typeface="Calibri" pitchFamily="34" charset="0"/>
                <a:ea typeface="Calibri" pitchFamily="34" charset="-122"/>
                <a:cs typeface="Calibri" pitchFamily="34" charset="-120"/>
              </a:rPr>
              <a:t>1:M</a:t>
            </a:r>
            <a:pPr indent="0" marL="0">
              <a:buNone/>
            </a:pPr>
            <a:r>
              <a:rPr lang="en-US" sz="1250" dirty="0">
                <a:solidFill>
                  <a:srgbClr val="5C6B63"/>
                </a:solidFill>
                <a:latin typeface="Calibri" pitchFamily="34" charset="0"/>
                <a:ea typeface="Calibri" pitchFamily="34" charset="-122"/>
                <a:cs typeface="Calibri" pitchFamily="34" charset="-120"/>
              </a:rPr>
              <a:t> Cardinality</a:t>
            </a:r>
            <a:endParaRPr lang="en-US" sz="1250" dirty="0"/>
          </a:p>
        </p:txBody>
      </p:sp>
      <p:sp>
        <p:nvSpPr>
          <p:cNvPr id="52" name="Text 50"/>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12 / 23</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2</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ARCHITECTURE &amp; RELATIONAL MODELING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The Fact Table Grain</a:t>
            </a:r>
            <a:endParaRPr lang="en-US" sz="3200" dirty="0"/>
          </a:p>
        </p:txBody>
      </p:sp>
      <p:sp>
        <p:nvSpPr>
          <p:cNvPr id="6" name="Shape 4"/>
          <p:cNvSpPr/>
          <p:nvPr/>
        </p:nvSpPr>
        <p:spPr>
          <a:xfrm>
            <a:off x="822960" y="1737360"/>
            <a:ext cx="10545775" cy="1417320"/>
          </a:xfrm>
          <a:prstGeom prst="roundRect">
            <a:avLst>
              <a:gd name="adj" fmla="val 10323"/>
            </a:avLst>
          </a:prstGeom>
          <a:solidFill>
            <a:srgbClr val="0F3320"/>
          </a:solidFill>
          <a:ln/>
        </p:spPr>
      </p:sp>
      <p:sp>
        <p:nvSpPr>
          <p:cNvPr id="7" name="Text 5"/>
          <p:cNvSpPr txBox="1"/>
          <p:nvPr/>
        </p:nvSpPr>
        <p:spPr>
          <a:xfrm>
            <a:off x="1188720" y="1737360"/>
            <a:ext cx="9814255" cy="1417320"/>
          </a:xfrm>
          <a:prstGeom prst="rect">
            <a:avLst/>
          </a:prstGeom>
          <a:noFill/>
          <a:ln/>
        </p:spPr>
        <p:txBody>
          <a:bodyPr wrap="square" lIns="0" tIns="0" rIns="0" bIns="0" rtlCol="0" anchor="ctr"/>
          <a:lstStyle/>
          <a:p>
            <a:pPr algn="ctr" indent="0" marL="0">
              <a:lnSpc>
                <a:spcPct val="120000"/>
              </a:lnSpc>
              <a:buNone/>
            </a:pPr>
            <a:r>
              <a:rPr lang="en-US" sz="2700" b="1" i="1" dirty="0">
                <a:solidFill>
                  <a:srgbClr val="D9A441"/>
                </a:solidFill>
                <a:latin typeface="Cambria" pitchFamily="34" charset="0"/>
                <a:ea typeface="Cambria" pitchFamily="34" charset="-122"/>
                <a:cs typeface="Cambria" pitchFamily="34" charset="-120"/>
              </a:rPr>
              <a:t>“One meteorological variable, observed at one location,</a:t>
            </a:r>
            <a:endParaRPr lang="en-US" sz="2700" dirty="0"/>
          </a:p>
          <a:p>
            <a:pPr algn="ctr" indent="0" marL="0">
              <a:lnSpc>
                <a:spcPct val="120000"/>
              </a:lnSpc>
              <a:buNone/>
            </a:pPr>
            <a:r>
              <a:rPr lang="en-US" sz="2700" b="1" i="1" dirty="0">
                <a:solidFill>
                  <a:srgbClr val="D9A441"/>
                </a:solidFill>
                <a:latin typeface="Cambria" pitchFamily="34" charset="0"/>
                <a:ea typeface="Cambria" pitchFamily="34" charset="-122"/>
                <a:cs typeface="Cambria" pitchFamily="34" charset="-120"/>
              </a:rPr>
              <a:t>on one date, from one data source.”</a:t>
            </a:r>
            <a:endParaRPr lang="en-US" sz="2700" dirty="0"/>
          </a:p>
        </p:txBody>
      </p:sp>
      <p:sp>
        <p:nvSpPr>
          <p:cNvPr id="8" name="Shape 6"/>
          <p:cNvSpPr/>
          <p:nvPr/>
        </p:nvSpPr>
        <p:spPr>
          <a:xfrm>
            <a:off x="1280160" y="3383280"/>
            <a:ext cx="9631375" cy="457200"/>
          </a:xfrm>
          <a:prstGeom prst="roundRect">
            <a:avLst>
              <a:gd name="adj" fmla="val 50000"/>
            </a:avLst>
          </a:prstGeom>
          <a:solidFill>
            <a:srgbClr val="D9F0DC"/>
          </a:solidFill>
          <a:ln/>
        </p:spPr>
      </p:sp>
      <p:sp>
        <p:nvSpPr>
          <p:cNvPr id="9" name="Text 7"/>
          <p:cNvSpPr txBox="1"/>
          <p:nvPr/>
        </p:nvSpPr>
        <p:spPr>
          <a:xfrm>
            <a:off x="1325880" y="3383280"/>
            <a:ext cx="9539935" cy="457200"/>
          </a:xfrm>
          <a:prstGeom prst="rect">
            <a:avLst/>
          </a:prstGeom>
          <a:noFill/>
          <a:ln/>
        </p:spPr>
        <p:txBody>
          <a:bodyPr wrap="square" lIns="0" tIns="0" rIns="0" bIns="0" rtlCol="0" anchor="ctr"/>
          <a:lstStyle/>
          <a:p>
            <a:pPr algn="ctr" indent="0" marL="0">
              <a:buNone/>
            </a:pPr>
            <a:r>
              <a:rPr lang="en-US" sz="1400" b="1" dirty="0">
                <a:solidFill>
                  <a:srgbClr val="175C2E"/>
                </a:solidFill>
                <a:latin typeface="Calibri" pitchFamily="34" charset="0"/>
                <a:ea typeface="Calibri" pitchFamily="34" charset="-122"/>
                <a:cs typeface="Calibri" pitchFamily="34" charset="-120"/>
              </a:rPr>
              <a:t>UNIQUE (date_id + location_id + variable_id + source_id)  →  prevents duplicate observations</a:t>
            </a:r>
            <a:endParaRPr lang="en-US" sz="1400" dirty="0"/>
          </a:p>
        </p:txBody>
      </p:sp>
      <p:sp>
        <p:nvSpPr>
          <p:cNvPr id="10" name="Text 8"/>
          <p:cNvSpPr txBox="1"/>
          <p:nvPr/>
        </p:nvSpPr>
        <p:spPr>
          <a:xfrm>
            <a:off x="548640" y="4160520"/>
            <a:ext cx="5486400" cy="320040"/>
          </a:xfrm>
          <a:prstGeom prst="rect">
            <a:avLst/>
          </a:prstGeom>
          <a:noFill/>
          <a:ln/>
        </p:spPr>
        <p:txBody>
          <a:bodyPr wrap="square" lIns="0" tIns="0" rIns="0" bIns="0" rtlCol="0" anchor="ctr"/>
          <a:lstStyle/>
          <a:p>
            <a:pPr indent="0" marL="0">
              <a:buNone/>
            </a:pPr>
            <a:r>
              <a:rPr lang="en-US" sz="1400" b="1" spc="100" kern="0" dirty="0">
                <a:solidFill>
                  <a:srgbClr val="175C2E"/>
                </a:solidFill>
                <a:latin typeface="Calibri" pitchFamily="34" charset="0"/>
                <a:ea typeface="Calibri" pitchFamily="34" charset="-122"/>
                <a:cs typeface="Calibri" pitchFamily="34" charset="-120"/>
              </a:rPr>
              <a:t>DIMENSIONS THAT DEFINE THE GRAIN</a:t>
            </a:r>
            <a:endParaRPr lang="en-US" sz="1400" dirty="0"/>
          </a:p>
        </p:txBody>
      </p:sp>
      <p:sp>
        <p:nvSpPr>
          <p:cNvPr id="11" name="Shape 9"/>
          <p:cNvSpPr/>
          <p:nvPr/>
        </p:nvSpPr>
        <p:spPr>
          <a:xfrm>
            <a:off x="490576" y="4572000"/>
            <a:ext cx="2651760" cy="1691640"/>
          </a:xfrm>
          <a:prstGeom prst="roundRect">
            <a:avLst>
              <a:gd name="adj" fmla="val 6486"/>
            </a:avLst>
          </a:prstGeom>
          <a:solidFill>
            <a:srgbClr val="EAF6EC"/>
          </a:solidFill>
          <a:ln w="12700">
            <a:solidFill>
              <a:srgbClr val="CFE8D2"/>
            </a:solidFill>
            <a:prstDash val="solid"/>
          </a:ln>
        </p:spPr>
      </p:sp>
      <p:sp>
        <p:nvSpPr>
          <p:cNvPr id="12" name="Shape 10"/>
          <p:cNvSpPr/>
          <p:nvPr/>
        </p:nvSpPr>
        <p:spPr>
          <a:xfrm>
            <a:off x="1542136" y="4754880"/>
            <a:ext cx="548640" cy="548640"/>
          </a:xfrm>
          <a:prstGeom prst="ellipse">
            <a:avLst/>
          </a:prstGeom>
          <a:solidFill>
            <a:srgbClr val="1F7A3D"/>
          </a:solidFill>
          <a:ln/>
        </p:spPr>
      </p:sp>
      <p:pic>
        <p:nvPicPr>
          <p:cNvPr id="13" name="Image 0" descr="/home/claude/hydromet_ppt/icons/calendar.png">    </p:cNvPr>
          <p:cNvPicPr>
            <a:picLocks noChangeAspect="1"/>
          </p:cNvPicPr>
          <p:nvPr/>
        </p:nvPicPr>
        <p:blipFill>
          <a:blip r:embed="rId1"/>
          <a:stretch>
            <a:fillRect/>
          </a:stretch>
        </p:blipFill>
        <p:spPr>
          <a:xfrm>
            <a:off x="1665580" y="4878324"/>
            <a:ext cx="301752" cy="301752"/>
          </a:xfrm>
          <a:prstGeom prst="rect">
            <a:avLst/>
          </a:prstGeom>
        </p:spPr>
      </p:pic>
      <p:sp>
        <p:nvSpPr>
          <p:cNvPr id="14" name="Text 11"/>
          <p:cNvSpPr txBox="1"/>
          <p:nvPr/>
        </p:nvSpPr>
        <p:spPr>
          <a:xfrm>
            <a:off x="490576" y="5394960"/>
            <a:ext cx="2651760" cy="320040"/>
          </a:xfrm>
          <a:prstGeom prst="rect">
            <a:avLst/>
          </a:prstGeom>
          <a:noFill/>
          <a:ln/>
        </p:spPr>
        <p:txBody>
          <a:bodyPr wrap="square" lIns="0" tIns="0" rIns="0" bIns="0" rtlCol="0" anchor="ctr"/>
          <a:lstStyle/>
          <a:p>
            <a:pPr algn="ctr" indent="0" marL="0">
              <a:buNone/>
            </a:pPr>
            <a:r>
              <a:rPr lang="en-US" sz="1400" b="1" dirty="0">
                <a:solidFill>
                  <a:srgbClr val="0F3320"/>
                </a:solidFill>
                <a:latin typeface="Courier New" pitchFamily="34" charset="0"/>
                <a:ea typeface="Courier New" pitchFamily="34" charset="-122"/>
                <a:cs typeface="Courier New" pitchFamily="34" charset="-120"/>
              </a:rPr>
              <a:t>dim_date</a:t>
            </a:r>
            <a:endParaRPr lang="en-US" sz="1400" dirty="0"/>
          </a:p>
        </p:txBody>
      </p:sp>
      <p:sp>
        <p:nvSpPr>
          <p:cNvPr id="15" name="Text 12"/>
          <p:cNvSpPr txBox="1"/>
          <p:nvPr/>
        </p:nvSpPr>
        <p:spPr>
          <a:xfrm>
            <a:off x="627736" y="5715000"/>
            <a:ext cx="2377440" cy="502920"/>
          </a:xfrm>
          <a:prstGeom prst="rect">
            <a:avLst/>
          </a:prstGeom>
          <a:noFill/>
          <a:ln/>
        </p:spPr>
        <p:txBody>
          <a:bodyPr wrap="square" lIns="0" tIns="0" rIns="0" bIns="0" rtlCol="0" anchor="ctr"/>
          <a:lstStyle/>
          <a:p>
            <a:pPr algn="ctr" indent="0" marL="0">
              <a:lnSpc>
                <a:spcPct val="105000"/>
              </a:lnSpc>
              <a:buNone/>
            </a:pPr>
            <a:r>
              <a:rPr lang="en-US" sz="1150" dirty="0">
                <a:solidFill>
                  <a:srgbClr val="5C6B63"/>
                </a:solidFill>
                <a:latin typeface="Calibri" pitchFamily="34" charset="0"/>
                <a:ea typeface="Calibri" pitchFamily="34" charset="-122"/>
                <a:cs typeface="Calibri" pitchFamily="34" charset="-120"/>
              </a:rPr>
              <a:t>Efficient temporal analysis &amp; aggregation</a:t>
            </a:r>
            <a:endParaRPr lang="en-US" sz="1150" dirty="0"/>
          </a:p>
        </p:txBody>
      </p:sp>
      <p:sp>
        <p:nvSpPr>
          <p:cNvPr id="16" name="Shape 13"/>
          <p:cNvSpPr/>
          <p:nvPr/>
        </p:nvSpPr>
        <p:spPr>
          <a:xfrm>
            <a:off x="3343504" y="4572000"/>
            <a:ext cx="2651760" cy="1691640"/>
          </a:xfrm>
          <a:prstGeom prst="roundRect">
            <a:avLst>
              <a:gd name="adj" fmla="val 6486"/>
            </a:avLst>
          </a:prstGeom>
          <a:solidFill>
            <a:srgbClr val="EAF6EC"/>
          </a:solidFill>
          <a:ln w="12700">
            <a:solidFill>
              <a:srgbClr val="CFE8D2"/>
            </a:solidFill>
            <a:prstDash val="solid"/>
          </a:ln>
        </p:spPr>
      </p:sp>
      <p:sp>
        <p:nvSpPr>
          <p:cNvPr id="17" name="Shape 14"/>
          <p:cNvSpPr/>
          <p:nvPr/>
        </p:nvSpPr>
        <p:spPr>
          <a:xfrm>
            <a:off x="4395064" y="4754880"/>
            <a:ext cx="548640" cy="548640"/>
          </a:xfrm>
          <a:prstGeom prst="ellipse">
            <a:avLst/>
          </a:prstGeom>
          <a:solidFill>
            <a:srgbClr val="1F7A3D"/>
          </a:solidFill>
          <a:ln/>
        </p:spPr>
      </p:sp>
      <p:pic>
        <p:nvPicPr>
          <p:cNvPr id="18" name="Image 1" descr="/home/claude/hydromet_ppt/icons/marker.png">    </p:cNvPr>
          <p:cNvPicPr>
            <a:picLocks noChangeAspect="1"/>
          </p:cNvPicPr>
          <p:nvPr/>
        </p:nvPicPr>
        <p:blipFill>
          <a:blip r:embed="rId2"/>
          <a:stretch>
            <a:fillRect/>
          </a:stretch>
        </p:blipFill>
        <p:spPr>
          <a:xfrm>
            <a:off x="4518508" y="4878324"/>
            <a:ext cx="301752" cy="301752"/>
          </a:xfrm>
          <a:prstGeom prst="rect">
            <a:avLst/>
          </a:prstGeom>
        </p:spPr>
      </p:pic>
      <p:sp>
        <p:nvSpPr>
          <p:cNvPr id="19" name="Text 15"/>
          <p:cNvSpPr txBox="1"/>
          <p:nvPr/>
        </p:nvSpPr>
        <p:spPr>
          <a:xfrm>
            <a:off x="3343504" y="5394960"/>
            <a:ext cx="2651760" cy="320040"/>
          </a:xfrm>
          <a:prstGeom prst="rect">
            <a:avLst/>
          </a:prstGeom>
          <a:noFill/>
          <a:ln/>
        </p:spPr>
        <p:txBody>
          <a:bodyPr wrap="square" lIns="0" tIns="0" rIns="0" bIns="0" rtlCol="0" anchor="ctr"/>
          <a:lstStyle/>
          <a:p>
            <a:pPr algn="ctr" indent="0" marL="0">
              <a:buNone/>
            </a:pPr>
            <a:r>
              <a:rPr lang="en-US" sz="1400" b="1" dirty="0">
                <a:solidFill>
                  <a:srgbClr val="0F3320"/>
                </a:solidFill>
                <a:latin typeface="Courier New" pitchFamily="34" charset="0"/>
                <a:ea typeface="Courier New" pitchFamily="34" charset="-122"/>
                <a:cs typeface="Courier New" pitchFamily="34" charset="-120"/>
              </a:rPr>
              <a:t>dim_location</a:t>
            </a:r>
            <a:endParaRPr lang="en-US" sz="1400" dirty="0"/>
          </a:p>
        </p:txBody>
      </p:sp>
      <p:sp>
        <p:nvSpPr>
          <p:cNvPr id="20" name="Text 16"/>
          <p:cNvSpPr txBox="1"/>
          <p:nvPr/>
        </p:nvSpPr>
        <p:spPr>
          <a:xfrm>
            <a:off x="3480664" y="5715000"/>
            <a:ext cx="2377440" cy="502920"/>
          </a:xfrm>
          <a:prstGeom prst="rect">
            <a:avLst/>
          </a:prstGeom>
          <a:noFill/>
          <a:ln/>
        </p:spPr>
        <p:txBody>
          <a:bodyPr wrap="square" lIns="0" tIns="0" rIns="0" bIns="0" rtlCol="0" anchor="ctr"/>
          <a:lstStyle/>
          <a:p>
            <a:pPr algn="ctr" indent="0" marL="0">
              <a:lnSpc>
                <a:spcPct val="105000"/>
              </a:lnSpc>
              <a:buNone/>
            </a:pPr>
            <a:r>
              <a:rPr lang="en-US" sz="1150" dirty="0">
                <a:solidFill>
                  <a:srgbClr val="5C6B63"/>
                </a:solidFill>
                <a:latin typeface="Calibri" pitchFamily="34" charset="0"/>
                <a:ea typeface="Calibri" pitchFamily="34" charset="-122"/>
                <a:cs typeface="Calibri" pitchFamily="34" charset="-120"/>
              </a:rPr>
              <a:t>Avoids repeating geographic metadata</a:t>
            </a:r>
            <a:endParaRPr lang="en-US" sz="1150" dirty="0"/>
          </a:p>
        </p:txBody>
      </p:sp>
      <p:sp>
        <p:nvSpPr>
          <p:cNvPr id="21" name="Shape 17"/>
          <p:cNvSpPr/>
          <p:nvPr/>
        </p:nvSpPr>
        <p:spPr>
          <a:xfrm>
            <a:off x="6196432" y="4572000"/>
            <a:ext cx="2651760" cy="1691640"/>
          </a:xfrm>
          <a:prstGeom prst="roundRect">
            <a:avLst>
              <a:gd name="adj" fmla="val 6486"/>
            </a:avLst>
          </a:prstGeom>
          <a:solidFill>
            <a:srgbClr val="EAF6EC"/>
          </a:solidFill>
          <a:ln w="12700">
            <a:solidFill>
              <a:srgbClr val="CFE8D2"/>
            </a:solidFill>
            <a:prstDash val="solid"/>
          </a:ln>
        </p:spPr>
      </p:sp>
      <p:sp>
        <p:nvSpPr>
          <p:cNvPr id="22" name="Shape 18"/>
          <p:cNvSpPr/>
          <p:nvPr/>
        </p:nvSpPr>
        <p:spPr>
          <a:xfrm>
            <a:off x="7247992" y="4754880"/>
            <a:ext cx="548640" cy="548640"/>
          </a:xfrm>
          <a:prstGeom prst="ellipse">
            <a:avLst/>
          </a:prstGeom>
          <a:solidFill>
            <a:srgbClr val="1F7A3D"/>
          </a:solidFill>
          <a:ln/>
        </p:spPr>
      </p:sp>
      <p:pic>
        <p:nvPicPr>
          <p:cNvPr id="23" name="Image 2" descr="/home/claude/hydromet_ppt/icons/diagram.png">    </p:cNvPr>
          <p:cNvPicPr>
            <a:picLocks noChangeAspect="1"/>
          </p:cNvPicPr>
          <p:nvPr/>
        </p:nvPicPr>
        <p:blipFill>
          <a:blip r:embed="rId3"/>
          <a:stretch>
            <a:fillRect/>
          </a:stretch>
        </p:blipFill>
        <p:spPr>
          <a:xfrm>
            <a:off x="7371436" y="4878324"/>
            <a:ext cx="301752" cy="301752"/>
          </a:xfrm>
          <a:prstGeom prst="rect">
            <a:avLst/>
          </a:prstGeom>
        </p:spPr>
      </p:pic>
      <p:sp>
        <p:nvSpPr>
          <p:cNvPr id="24" name="Text 19"/>
          <p:cNvSpPr txBox="1"/>
          <p:nvPr/>
        </p:nvSpPr>
        <p:spPr>
          <a:xfrm>
            <a:off x="6196432" y="5394960"/>
            <a:ext cx="2651760" cy="320040"/>
          </a:xfrm>
          <a:prstGeom prst="rect">
            <a:avLst/>
          </a:prstGeom>
          <a:noFill/>
          <a:ln/>
        </p:spPr>
        <p:txBody>
          <a:bodyPr wrap="square" lIns="0" tIns="0" rIns="0" bIns="0" rtlCol="0" anchor="ctr"/>
          <a:lstStyle/>
          <a:p>
            <a:pPr algn="ctr" indent="0" marL="0">
              <a:buNone/>
            </a:pPr>
            <a:r>
              <a:rPr lang="en-US" sz="1400" b="1" dirty="0">
                <a:solidFill>
                  <a:srgbClr val="0F3320"/>
                </a:solidFill>
                <a:latin typeface="Courier New" pitchFamily="34" charset="0"/>
                <a:ea typeface="Courier New" pitchFamily="34" charset="-122"/>
                <a:cs typeface="Courier New" pitchFamily="34" charset="-120"/>
              </a:rPr>
              <a:t>dim_variable</a:t>
            </a:r>
            <a:endParaRPr lang="en-US" sz="1400" dirty="0"/>
          </a:p>
        </p:txBody>
      </p:sp>
      <p:sp>
        <p:nvSpPr>
          <p:cNvPr id="25" name="Text 20"/>
          <p:cNvSpPr txBox="1"/>
          <p:nvPr/>
        </p:nvSpPr>
        <p:spPr>
          <a:xfrm>
            <a:off x="6333592" y="5715000"/>
            <a:ext cx="2377440" cy="502920"/>
          </a:xfrm>
          <a:prstGeom prst="rect">
            <a:avLst/>
          </a:prstGeom>
          <a:noFill/>
          <a:ln/>
        </p:spPr>
        <p:txBody>
          <a:bodyPr wrap="square" lIns="0" tIns="0" rIns="0" bIns="0" rtlCol="0" anchor="ctr"/>
          <a:lstStyle/>
          <a:p>
            <a:pPr algn="ctr" indent="0" marL="0">
              <a:lnSpc>
                <a:spcPct val="105000"/>
              </a:lnSpc>
              <a:buNone/>
            </a:pPr>
            <a:r>
              <a:rPr lang="en-US" sz="1150" dirty="0">
                <a:solidFill>
                  <a:srgbClr val="5C6B63"/>
                </a:solidFill>
                <a:latin typeface="Calibri" pitchFamily="34" charset="0"/>
                <a:ea typeface="Calibri" pitchFamily="34" charset="-122"/>
                <a:cs typeface="Calibri" pitchFamily="34" charset="-120"/>
              </a:rPr>
              <a:t>Variable metadata independent of observations</a:t>
            </a:r>
            <a:endParaRPr lang="en-US" sz="1150" dirty="0"/>
          </a:p>
        </p:txBody>
      </p:sp>
      <p:sp>
        <p:nvSpPr>
          <p:cNvPr id="26" name="Shape 21"/>
          <p:cNvSpPr/>
          <p:nvPr/>
        </p:nvSpPr>
        <p:spPr>
          <a:xfrm>
            <a:off x="9049360" y="4572000"/>
            <a:ext cx="2651760" cy="1691640"/>
          </a:xfrm>
          <a:prstGeom prst="roundRect">
            <a:avLst>
              <a:gd name="adj" fmla="val 6486"/>
            </a:avLst>
          </a:prstGeom>
          <a:solidFill>
            <a:srgbClr val="EAF6EC"/>
          </a:solidFill>
          <a:ln w="12700">
            <a:solidFill>
              <a:srgbClr val="CFE8D2"/>
            </a:solidFill>
            <a:prstDash val="solid"/>
          </a:ln>
        </p:spPr>
      </p:sp>
      <p:sp>
        <p:nvSpPr>
          <p:cNvPr id="27" name="Shape 22"/>
          <p:cNvSpPr/>
          <p:nvPr/>
        </p:nvSpPr>
        <p:spPr>
          <a:xfrm>
            <a:off x="10100920" y="4754880"/>
            <a:ext cx="548640" cy="548640"/>
          </a:xfrm>
          <a:prstGeom prst="ellipse">
            <a:avLst/>
          </a:prstGeom>
          <a:solidFill>
            <a:srgbClr val="1F7A3D"/>
          </a:solidFill>
          <a:ln/>
        </p:spPr>
      </p:sp>
      <p:pic>
        <p:nvPicPr>
          <p:cNvPr id="28" name="Image 3" descr="/home/claude/hydromet_ppt/icons/link.png">    </p:cNvPr>
          <p:cNvPicPr>
            <a:picLocks noChangeAspect="1"/>
          </p:cNvPicPr>
          <p:nvPr/>
        </p:nvPicPr>
        <p:blipFill>
          <a:blip r:embed="rId4"/>
          <a:stretch>
            <a:fillRect/>
          </a:stretch>
        </p:blipFill>
        <p:spPr>
          <a:xfrm>
            <a:off x="10224364" y="4878324"/>
            <a:ext cx="301752" cy="301752"/>
          </a:xfrm>
          <a:prstGeom prst="rect">
            <a:avLst/>
          </a:prstGeom>
        </p:spPr>
      </p:pic>
      <p:sp>
        <p:nvSpPr>
          <p:cNvPr id="29" name="Text 23"/>
          <p:cNvSpPr txBox="1"/>
          <p:nvPr/>
        </p:nvSpPr>
        <p:spPr>
          <a:xfrm>
            <a:off x="9049360" y="5394960"/>
            <a:ext cx="2651760" cy="320040"/>
          </a:xfrm>
          <a:prstGeom prst="rect">
            <a:avLst/>
          </a:prstGeom>
          <a:noFill/>
          <a:ln/>
        </p:spPr>
        <p:txBody>
          <a:bodyPr wrap="square" lIns="0" tIns="0" rIns="0" bIns="0" rtlCol="0" anchor="ctr"/>
          <a:lstStyle/>
          <a:p>
            <a:pPr algn="ctr" indent="0" marL="0">
              <a:buNone/>
            </a:pPr>
            <a:r>
              <a:rPr lang="en-US" sz="1400" b="1" dirty="0">
                <a:solidFill>
                  <a:srgbClr val="0F3320"/>
                </a:solidFill>
                <a:latin typeface="Courier New" pitchFamily="34" charset="0"/>
                <a:ea typeface="Courier New" pitchFamily="34" charset="-122"/>
                <a:cs typeface="Courier New" pitchFamily="34" charset="-120"/>
              </a:rPr>
              <a:t>dim_source</a:t>
            </a:r>
            <a:endParaRPr lang="en-US" sz="1400" dirty="0"/>
          </a:p>
        </p:txBody>
      </p:sp>
      <p:sp>
        <p:nvSpPr>
          <p:cNvPr id="30" name="Text 24"/>
          <p:cNvSpPr txBox="1"/>
          <p:nvPr/>
        </p:nvSpPr>
        <p:spPr>
          <a:xfrm>
            <a:off x="9186520" y="5715000"/>
            <a:ext cx="2377440" cy="502920"/>
          </a:xfrm>
          <a:prstGeom prst="rect">
            <a:avLst/>
          </a:prstGeom>
          <a:noFill/>
          <a:ln/>
        </p:spPr>
        <p:txBody>
          <a:bodyPr wrap="square" lIns="0" tIns="0" rIns="0" bIns="0" rtlCol="0" anchor="ctr"/>
          <a:lstStyle/>
          <a:p>
            <a:pPr algn="ctr" indent="0" marL="0">
              <a:lnSpc>
                <a:spcPct val="105000"/>
              </a:lnSpc>
              <a:buNone/>
            </a:pPr>
            <a:r>
              <a:rPr lang="en-US" sz="1150" dirty="0">
                <a:solidFill>
                  <a:srgbClr val="5C6B63"/>
                </a:solidFill>
                <a:latin typeface="Calibri" pitchFamily="34" charset="0"/>
                <a:ea typeface="Calibri" pitchFamily="34" charset="-122"/>
                <a:cs typeface="Calibri" pitchFamily="34" charset="-120"/>
              </a:rPr>
              <a:t>Explicit data lineage / provenance</a:t>
            </a:r>
            <a:endParaRPr lang="en-US" sz="1150" dirty="0"/>
          </a:p>
        </p:txBody>
      </p:sp>
      <p:sp>
        <p:nvSpPr>
          <p:cNvPr id="31" name="Text 25"/>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13 / 23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2</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ARCHITECTURE &amp; RELATIONAL MODELING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Wide-to-Long Transformation</a:t>
            </a:r>
            <a:endParaRPr lang="en-US" sz="3200" dirty="0"/>
          </a:p>
        </p:txBody>
      </p:sp>
      <p:sp>
        <p:nvSpPr>
          <p:cNvPr id="6" name="Text 4"/>
          <p:cNvSpPr txBox="1"/>
          <p:nvPr/>
        </p:nvSpPr>
        <p:spPr>
          <a:xfrm>
            <a:off x="548640" y="1691640"/>
            <a:ext cx="4572000" cy="292608"/>
          </a:xfrm>
          <a:prstGeom prst="rect">
            <a:avLst/>
          </a:prstGeom>
          <a:noFill/>
          <a:ln/>
        </p:spPr>
        <p:txBody>
          <a:bodyPr wrap="square" lIns="0" tIns="0" rIns="0" bIns="0" rtlCol="0" anchor="ctr"/>
          <a:lstStyle/>
          <a:p>
            <a:pPr indent="0" marL="0">
              <a:buNone/>
            </a:pPr>
            <a:r>
              <a:rPr lang="en-US" sz="1300" b="1" spc="100" kern="0" dirty="0">
                <a:solidFill>
                  <a:srgbClr val="5C6B63"/>
                </a:solidFill>
                <a:latin typeface="Calibri" pitchFamily="34" charset="0"/>
                <a:ea typeface="Calibri" pitchFamily="34" charset="-122"/>
                <a:cs typeface="Calibri" pitchFamily="34" charset="-120"/>
              </a:rPr>
              <a:t>BEFORE — WIDE (SOURCE)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166360" cy="914400"/>
        </p:xfrm>
        <a:graphic>
          <a:graphicData uri="http://schemas.openxmlformats.org/drawingml/2006/table">
            <a:tbl>
              <a:tblPr/>
              <a:tblGrid>
                <a:gridCol w="1143000"/>
                <a:gridCol w="1005840"/>
                <a:gridCol w="822960"/>
                <a:gridCol w="822960"/>
                <a:gridCol w="1371600"/>
              </a:tblGrid>
              <a:tr h="384048">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DATE</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1F7A3D"/>
                    </a:solidFill>
                  </a:tcPr>
                </a:tc>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LOCATION</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1F7A3D"/>
                    </a:solidFill>
                  </a:tcPr>
                </a:tc>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T2M</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1F7A3D"/>
                    </a:solidFill>
                  </a:tcPr>
                </a:tc>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RH2M</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1F7A3D"/>
                    </a:solidFill>
                  </a:tcPr>
                </a:tc>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PRECTOTCORR</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1F7A3D"/>
                    </a:solidFill>
                  </a:tcPr>
                </a:tc>
              </a:tr>
              <a:tr h="384048">
                <a:tc>
                  <a:txBody>
                    <a:bodyPr/>
                    <a:lstStyle/>
                    <a:p>
                      <a:pPr algn="ctr" indent="0" marL="0">
                        <a:buNone/>
                      </a:pPr>
                      <a:r>
                        <a:rPr lang="en-US" sz="1100" dirty="0">
                          <a:solidFill>
                            <a:srgbClr val="000000"/>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100" dirty="0">
                          <a:solidFill>
                            <a:srgbClr val="000000"/>
                          </a:solidFill>
                          <a:latin typeface="Courier New" pitchFamily="34" charset="0"/>
                          <a:ea typeface="Courier New" pitchFamily="34" charset="-122"/>
                          <a:cs typeface="Courier New" pitchFamily="34" charset="-120"/>
                        </a:rPr>
                        <a:t>Arusha</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100" dirty="0">
                          <a:solidFill>
                            <a:srgbClr val="000000"/>
                          </a:solidFill>
                          <a:latin typeface="Courier New" pitchFamily="34" charset="0"/>
                          <a:ea typeface="Courier New" pitchFamily="34" charset="-122"/>
                          <a:cs typeface="Courier New" pitchFamily="34" charset="-120"/>
                        </a:rPr>
                        <a:t>21.5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100" dirty="0">
                          <a:solidFill>
                            <a:srgbClr val="000000"/>
                          </a:solidFill>
                          <a:latin typeface="Courier New" pitchFamily="34" charset="0"/>
                          <a:ea typeface="Courier New" pitchFamily="34" charset="-122"/>
                          <a:cs typeface="Courier New" pitchFamily="34" charset="-120"/>
                        </a:rPr>
                        <a:t>74</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100" dirty="0">
                          <a:solidFill>
                            <a:srgbClr val="000000"/>
                          </a:solidFill>
                          <a:latin typeface="Courier New" pitchFamily="34" charset="0"/>
                          <a:ea typeface="Courier New" pitchFamily="34" charset="-122"/>
                          <a:cs typeface="Courier New" pitchFamily="34" charset="-120"/>
                        </a:rPr>
                        <a:t>4.2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bl>
          </a:graphicData>
        </a:graphic>
      </p:graphicFrame>
      <p:sp>
        <p:nvSpPr>
          <p:cNvPr id="8" name="Text 5"/>
          <p:cNvSpPr txBox="1"/>
          <p:nvPr/>
        </p:nvSpPr>
        <p:spPr>
          <a:xfrm>
            <a:off x="548640" y="2834640"/>
            <a:ext cx="5166360" cy="274320"/>
          </a:xfrm>
          <a:prstGeom prst="rect">
            <a:avLst/>
          </a:prstGeom>
          <a:noFill/>
          <a:ln/>
        </p:spPr>
        <p:txBody>
          <a:bodyPr wrap="square" lIns="0" tIns="0" rIns="0" bIns="0" rtlCol="0" anchor="ctr"/>
          <a:lstStyle/>
          <a:p>
            <a:pPr algn="ctr" indent="0" marL="0">
              <a:buNone/>
            </a:pPr>
            <a:r>
              <a:rPr lang="en-US" sz="1100" i="1" dirty="0">
                <a:solidFill>
                  <a:srgbClr val="5C6B63"/>
                </a:solidFill>
                <a:latin typeface="Calibri" pitchFamily="34" charset="0"/>
                <a:ea typeface="Calibri" pitchFamily="34" charset="-122"/>
                <a:cs typeface="Calibri" pitchFamily="34" charset="-120"/>
              </a:rPr>
              <a:t>...+ 4 more variable columns</a:t>
            </a:r>
            <a:endParaRPr lang="en-US" sz="1100" dirty="0"/>
          </a:p>
        </p:txBody>
      </p:sp>
      <p:sp>
        <p:nvSpPr>
          <p:cNvPr id="9" name="Shape 6"/>
          <p:cNvSpPr/>
          <p:nvPr/>
        </p:nvSpPr>
        <p:spPr>
          <a:xfrm>
            <a:off x="5775808" y="1874520"/>
            <a:ext cx="640080" cy="640080"/>
          </a:xfrm>
          <a:prstGeom prst="ellipse">
            <a:avLst/>
          </a:prstGeom>
          <a:solidFill>
            <a:srgbClr val="D9A441"/>
          </a:solidFill>
          <a:ln/>
        </p:spPr>
      </p:sp>
      <p:pic>
        <p:nvPicPr>
          <p:cNvPr id="10" name="Image 0" descr="/home/claude/hydromet_ppt/icons/random.png">    </p:cNvPr>
          <p:cNvPicPr>
            <a:picLocks noChangeAspect="1"/>
          </p:cNvPicPr>
          <p:nvPr/>
        </p:nvPicPr>
        <p:blipFill>
          <a:blip r:embed="rId1"/>
          <a:stretch>
            <a:fillRect/>
          </a:stretch>
        </p:blipFill>
        <p:spPr>
          <a:xfrm>
            <a:off x="5919826" y="2018538"/>
            <a:ext cx="352044" cy="352044"/>
          </a:xfrm>
          <a:prstGeom prst="rect">
            <a:avLst/>
          </a:prstGeom>
        </p:spPr>
      </p:pic>
      <p:sp>
        <p:nvSpPr>
          <p:cNvPr id="11" name="Text 7"/>
          <p:cNvSpPr txBox="1"/>
          <p:nvPr/>
        </p:nvSpPr>
        <p:spPr>
          <a:xfrm>
            <a:off x="5455768" y="2542032"/>
            <a:ext cx="1280160"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B9832A"/>
                </a:solidFill>
                <a:latin typeface="Calibri" pitchFamily="34" charset="0"/>
                <a:ea typeface="Calibri" pitchFamily="34" charset="-122"/>
                <a:cs typeface="Calibri" pitchFamily="34" charset="-120"/>
              </a:rPr>
              <a:t>PIVOT</a:t>
            </a:r>
            <a:endParaRPr lang="en-US" sz="1150" dirty="0"/>
          </a:p>
          <a:p>
            <a:pPr algn="ctr" indent="0" marL="0">
              <a:lnSpc>
                <a:spcPct val="100000"/>
              </a:lnSpc>
              <a:buNone/>
            </a:pPr>
            <a:r>
              <a:rPr lang="en-US" sz="1150" b="1" dirty="0">
                <a:solidFill>
                  <a:srgbClr val="B9832A"/>
                </a:solidFill>
                <a:latin typeface="Calibri" pitchFamily="34" charset="0"/>
                <a:ea typeface="Calibri" pitchFamily="34" charset="-122"/>
                <a:cs typeface="Calibri" pitchFamily="34" charset="-120"/>
              </a:rPr>
              <a:t>LONGER</a:t>
            </a:r>
            <a:endParaRPr lang="en-US" sz="1150" dirty="0"/>
          </a:p>
        </p:txBody>
      </p:sp>
      <p:sp>
        <p:nvSpPr>
          <p:cNvPr id="12" name="Text 8"/>
          <p:cNvSpPr txBox="1"/>
          <p:nvPr/>
        </p:nvSpPr>
        <p:spPr>
          <a:xfrm>
            <a:off x="6492240" y="1691640"/>
            <a:ext cx="5029200" cy="292608"/>
          </a:xfrm>
          <a:prstGeom prst="rect">
            <a:avLst/>
          </a:prstGeom>
          <a:noFill/>
          <a:ln/>
        </p:spPr>
        <p:txBody>
          <a:bodyPr wrap="square" lIns="0" tIns="0" rIns="0" bIns="0" rtlCol="0" anchor="ctr"/>
          <a:lstStyle/>
          <a:p>
            <a:pPr indent="0" marL="0">
              <a:buNone/>
            </a:pPr>
            <a:r>
              <a:rPr lang="en-US" sz="1300" b="1" spc="100" kern="0" dirty="0">
                <a:solidFill>
                  <a:srgbClr val="5C6B63"/>
                </a:solidFill>
                <a:latin typeface="Calibri" pitchFamily="34" charset="0"/>
                <a:ea typeface="Calibri" pitchFamily="34" charset="-122"/>
                <a:cs typeface="Calibri" pitchFamily="34" charset="-120"/>
              </a:rPr>
              <a:t>AFTER — LONG (ANALYTICAL)</a:t>
            </a:r>
            <a:endParaRPr lang="en-US" sz="13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492240" y="2011680"/>
          <a:ext cx="5166360" cy="914400"/>
        </p:xfrm>
        <a:graphic>
          <a:graphicData uri="http://schemas.openxmlformats.org/drawingml/2006/table">
            <a:tbl>
              <a:tblPr/>
              <a:tblGrid>
                <a:gridCol w="1051560"/>
                <a:gridCol w="914400"/>
                <a:gridCol w="1234440"/>
                <a:gridCol w="685800"/>
                <a:gridCol w="1280160"/>
              </a:tblGrid>
              <a:tr h="347472">
                <a:tc>
                  <a:txBody>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DATE</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0F3320"/>
                    </a:solidFill>
                  </a:tcPr>
                </a:tc>
                <a:tc>
                  <a:txBody>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LOCATION</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0F3320"/>
                    </a:solidFill>
                  </a:tcPr>
                </a:tc>
                <a:tc>
                  <a:txBody>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VARIABLE</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0F3320"/>
                    </a:solidFill>
                  </a:tcPr>
                </a:tc>
                <a:tc>
                  <a:txBody>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VALUE</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0F3320"/>
                    </a:solidFill>
                  </a:tcPr>
                </a:tc>
                <a:tc>
                  <a:txBody>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SOURCE</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solidFill>
                      <a:srgbClr val="0F3320"/>
                    </a:solidFill>
                  </a:tcPr>
                </a:tc>
              </a:tr>
              <a:tr h="347472">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2024-01-01</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Arusha</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T2M</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21.5</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NASA_POWER</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r h="347472">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2024-01-01</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Arusha</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RH2M</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74</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NASA_POWER</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r h="347472">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2024-01-01</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Arusha</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PRECTOTCORR</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4.2</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c>
                  <a:txBody>
                    <a:bodyPr/>
                    <a:lstStyle/>
                    <a:p>
                      <a:pPr algn="ctr" indent="0" marL="0">
                        <a:buNone/>
                      </a:pPr>
                      <a:r>
                        <a:rPr lang="en-US" sz="1050" dirty="0">
                          <a:solidFill>
                            <a:srgbClr val="000000"/>
                          </a:solidFill>
                          <a:latin typeface="Courier New" pitchFamily="34" charset="0"/>
                          <a:ea typeface="Courier New" pitchFamily="34" charset="-122"/>
                          <a:cs typeface="Courier New" pitchFamily="34" charset="-120"/>
                        </a:rPr>
                        <a:t>NASA_POWER</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CFE8D2"/>
                      </a:solidFill>
                      <a:prstDash val="solid"/>
                      <a:round/>
                      <a:headEnd type="none" w="med" len="med"/>
                      <a:tailEnd type="none" w="med" len="med"/>
                    </a:lnL>
                    <a:lnR w="9525" cap="flat" cmpd="sng" algn="ctr">
                      <a:solidFill>
                        <a:srgbClr val="CFE8D2"/>
                      </a:solidFill>
                      <a:prstDash val="solid"/>
                      <a:round/>
                      <a:headEnd type="none" w="med" len="med"/>
                      <a:tailEnd type="none" w="med" len="med"/>
                    </a:lnR>
                    <a:lnT w="9525" cap="flat" cmpd="sng" algn="ctr">
                      <a:solidFill>
                        <a:srgbClr val="CFE8D2"/>
                      </a:solidFill>
                      <a:prstDash val="solid"/>
                      <a:round/>
                      <a:headEnd type="none" w="med" len="med"/>
                      <a:tailEnd type="none" w="med" len="med"/>
                    </a:lnT>
                    <a:lnB w="9525" cap="flat" cmpd="sng" algn="ctr">
                      <a:solidFill>
                        <a:srgbClr val="CFE8D2"/>
                      </a:solidFill>
                      <a:prstDash val="solid"/>
                      <a:round/>
                      <a:headEnd type="none" w="med" len="med"/>
                      <a:tailEnd type="none" w="med" len="med"/>
                    </a:lnB>
                  </a:tcPr>
                </a:tc>
              </a:tr>
            </a:tbl>
          </a:graphicData>
        </a:graphic>
      </p:graphicFrame>
      <p:sp>
        <p:nvSpPr>
          <p:cNvPr id="14" name="Shape 9"/>
          <p:cNvSpPr/>
          <p:nvPr/>
        </p:nvSpPr>
        <p:spPr>
          <a:xfrm>
            <a:off x="1097280" y="4251960"/>
            <a:ext cx="9997135" cy="1051560"/>
          </a:xfrm>
          <a:prstGeom prst="roundRect">
            <a:avLst>
              <a:gd name="adj" fmla="val 12174"/>
            </a:avLst>
          </a:prstGeom>
          <a:solidFill>
            <a:srgbClr val="EAF6EC"/>
          </a:solidFill>
          <a:ln w="12700">
            <a:solidFill>
              <a:srgbClr val="CFE8D2"/>
            </a:solidFill>
            <a:prstDash val="solid"/>
          </a:ln>
        </p:spPr>
      </p:sp>
      <p:sp>
        <p:nvSpPr>
          <p:cNvPr id="15" name="Text 10"/>
          <p:cNvSpPr txBox="1"/>
          <p:nvPr/>
        </p:nvSpPr>
        <p:spPr>
          <a:xfrm>
            <a:off x="1371600" y="4370832"/>
            <a:ext cx="9448495" cy="502920"/>
          </a:xfrm>
          <a:prstGeom prst="rect">
            <a:avLst/>
          </a:prstGeom>
          <a:noFill/>
          <a:ln/>
        </p:spPr>
        <p:txBody>
          <a:bodyPr wrap="square" lIns="0" tIns="0" rIns="0" bIns="0" rtlCol="0" anchor="ctr"/>
          <a:lstStyle/>
          <a:p>
            <a:pPr algn="ctr" indent="0" marL="0">
              <a:buNone/>
            </a:pPr>
            <a:r>
              <a:rPr lang="en-US" sz="2600" b="1" dirty="0">
                <a:solidFill>
                  <a:srgbClr val="0F3320"/>
                </a:solidFill>
                <a:latin typeface="Cambria" pitchFamily="34" charset="0"/>
                <a:ea typeface="Cambria" pitchFamily="34" charset="-122"/>
                <a:cs typeface="Cambria" pitchFamily="34" charset="-120"/>
              </a:rPr>
              <a:t>73,048 rows</a:t>
            </a:r>
            <a:pPr algn="ctr" indent="0" marL="0">
              <a:buNone/>
            </a:pPr>
            <a:r>
              <a:rPr lang="en-US" sz="2600" dirty="0">
                <a:solidFill>
                  <a:srgbClr val="5C6B63"/>
                </a:solidFill>
                <a:latin typeface="Cambria" pitchFamily="34" charset="0"/>
                <a:ea typeface="Cambria" pitchFamily="34" charset="-122"/>
                <a:cs typeface="Cambria" pitchFamily="34" charset="-120"/>
              </a:rPr>
              <a:t>   ×   </a:t>
            </a:r>
            <a:pPr algn="ctr" indent="0" marL="0">
              <a:buNone/>
            </a:pPr>
            <a:r>
              <a:rPr lang="en-US" sz="2600" b="1" dirty="0">
                <a:solidFill>
                  <a:srgbClr val="0F3320"/>
                </a:solidFill>
                <a:latin typeface="Cambria" pitchFamily="34" charset="0"/>
                <a:ea typeface="Cambria" pitchFamily="34" charset="-122"/>
                <a:cs typeface="Cambria" pitchFamily="34" charset="-120"/>
              </a:rPr>
              <a:t>7 variables</a:t>
            </a:r>
            <a:pPr algn="ctr" indent="0" marL="0">
              <a:buNone/>
            </a:pPr>
            <a:r>
              <a:rPr lang="en-US" sz="2600" dirty="0">
                <a:solidFill>
                  <a:srgbClr val="5C6B63"/>
                </a:solidFill>
                <a:latin typeface="Cambria" pitchFamily="34" charset="0"/>
                <a:ea typeface="Cambria" pitchFamily="34" charset="-122"/>
                <a:cs typeface="Cambria" pitchFamily="34" charset="-120"/>
              </a:rPr>
              <a:t>   =   </a:t>
            </a:r>
            <a:pPr algn="ctr" indent="0" marL="0">
              <a:buNone/>
            </a:pPr>
            <a:r>
              <a:rPr lang="en-US" sz="2600" b="1" dirty="0">
                <a:solidFill>
                  <a:srgbClr val="B9832A"/>
                </a:solidFill>
                <a:latin typeface="Cambria" pitchFamily="34" charset="0"/>
                <a:ea typeface="Cambria" pitchFamily="34" charset="-122"/>
                <a:cs typeface="Cambria" pitchFamily="34" charset="-120"/>
              </a:rPr>
              <a:t>511,336 fact rows</a:t>
            </a:r>
            <a:endParaRPr lang="en-US" sz="2600" dirty="0"/>
          </a:p>
        </p:txBody>
      </p:sp>
      <p:sp>
        <p:nvSpPr>
          <p:cNvPr id="16" name="Text 11"/>
          <p:cNvSpPr txBox="1"/>
          <p:nvPr/>
        </p:nvSpPr>
        <p:spPr>
          <a:xfrm>
            <a:off x="1371600" y="4892040"/>
            <a:ext cx="9448495" cy="365760"/>
          </a:xfrm>
          <a:prstGeom prst="rect">
            <a:avLst/>
          </a:prstGeom>
          <a:noFill/>
          <a:ln/>
        </p:spPr>
        <p:txBody>
          <a:bodyPr wrap="square" lIns="0" tIns="0" rIns="0" bIns="0" rtlCol="0" anchor="ctr"/>
          <a:lstStyle/>
          <a:p>
            <a:pPr algn="ctr" indent="0" marL="0">
              <a:buNone/>
            </a:pPr>
            <a:r>
              <a:rPr lang="en-US" sz="1350" i="1" dirty="0">
                <a:solidFill>
                  <a:srgbClr val="5C6B63"/>
                </a:solidFill>
                <a:latin typeface="Calibri" pitchFamily="34" charset="0"/>
                <a:ea typeface="Calibri" pitchFamily="34" charset="-122"/>
                <a:cs typeface="Calibri" pitchFamily="34" charset="-120"/>
              </a:rPr>
              <a:t>This is a GRAIN change, not duplication — one location-date row with 7 columns becomes 7 separate variable-observation rows.</a:t>
            </a:r>
            <a:endParaRPr lang="en-US" sz="1350" dirty="0"/>
          </a:p>
        </p:txBody>
      </p:sp>
      <p:sp>
        <p:nvSpPr>
          <p:cNvPr id="17" name="Shape 12"/>
          <p:cNvSpPr/>
          <p:nvPr/>
        </p:nvSpPr>
        <p:spPr>
          <a:xfrm>
            <a:off x="1097280" y="5532120"/>
            <a:ext cx="9997135" cy="914400"/>
          </a:xfrm>
          <a:prstGeom prst="roundRect">
            <a:avLst>
              <a:gd name="adj" fmla="val 12000"/>
            </a:avLst>
          </a:prstGeom>
          <a:solidFill>
            <a:srgbClr val="FFFFFF"/>
          </a:solidFill>
          <a:ln w="16510">
            <a:solidFill>
              <a:srgbClr val="D9A441"/>
            </a:solidFill>
            <a:prstDash val="solid"/>
          </a:ln>
        </p:spPr>
      </p:sp>
      <p:sp>
        <p:nvSpPr>
          <p:cNvPr id="18" name="Shape 13"/>
          <p:cNvSpPr/>
          <p:nvPr/>
        </p:nvSpPr>
        <p:spPr>
          <a:xfrm>
            <a:off x="1371600" y="5742432"/>
            <a:ext cx="457200" cy="457200"/>
          </a:xfrm>
          <a:prstGeom prst="ellipse">
            <a:avLst/>
          </a:prstGeom>
          <a:solidFill>
            <a:srgbClr val="1F7A3D"/>
          </a:solidFill>
          <a:ln/>
        </p:spPr>
      </p:sp>
      <p:pic>
        <p:nvPicPr>
          <p:cNvPr id="19" name="Image 1" descr="/home/claude/hydromet_ppt/icons/check.png">    </p:cNvPr>
          <p:cNvPicPr>
            <a:picLocks noChangeAspect="1"/>
          </p:cNvPicPr>
          <p:nvPr/>
        </p:nvPicPr>
        <p:blipFill>
          <a:blip r:embed="rId2"/>
          <a:stretch>
            <a:fillRect/>
          </a:stretch>
        </p:blipFill>
        <p:spPr>
          <a:xfrm>
            <a:off x="1474470" y="5845302"/>
            <a:ext cx="251460" cy="251460"/>
          </a:xfrm>
          <a:prstGeom prst="rect">
            <a:avLst/>
          </a:prstGeom>
        </p:spPr>
      </p:pic>
      <p:sp>
        <p:nvSpPr>
          <p:cNvPr id="20" name="Text 14"/>
          <p:cNvSpPr txBox="1"/>
          <p:nvPr/>
        </p:nvSpPr>
        <p:spPr>
          <a:xfrm>
            <a:off x="1965960" y="5532120"/>
            <a:ext cx="8899855" cy="914400"/>
          </a:xfrm>
          <a:prstGeom prst="rect">
            <a:avLst/>
          </a:prstGeom>
          <a:noFill/>
          <a:ln/>
        </p:spPr>
        <p:txBody>
          <a:bodyPr wrap="square" lIns="0" tIns="0" rIns="0" bIns="0" rtlCol="0" anchor="ctr"/>
          <a:lstStyle/>
          <a:p>
            <a:pPr indent="0" marL="0">
              <a:lnSpc>
                <a:spcPct val="105000"/>
              </a:lnSpc>
              <a:buNone/>
            </a:pPr>
            <a:r>
              <a:rPr lang="en-US" sz="1500" b="1" dirty="0">
                <a:solidFill>
                  <a:srgbClr val="0F3320"/>
                </a:solidFill>
                <a:latin typeface="Calibri" pitchFamily="34" charset="0"/>
                <a:ea typeface="Calibri" pitchFamily="34" charset="-122"/>
                <a:cs typeface="Calibri" pitchFamily="34" charset="-120"/>
              </a:rPr>
              <a:t>511,336 is the EXPECTED result of pivoting 7 variables into rows — not a bug, not duplicated data.</a:t>
            </a:r>
            <a:endParaRPr lang="en-US" sz="1500" dirty="0"/>
          </a:p>
        </p:txBody>
      </p:sp>
      <p:sp>
        <p:nvSpPr>
          <p:cNvPr id="21" name="Text 15"/>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14 / 23</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2</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DATA ARCHITECTURE &amp; RELATIONAL MODELING</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Quality Flags: Preserve, Don't Delete</a:t>
            </a:r>
            <a:endParaRPr lang="en-US" sz="3200" dirty="0"/>
          </a:p>
        </p:txBody>
      </p:sp>
      <p:sp>
        <p:nvSpPr>
          <p:cNvPr id="6" name="Shape 4"/>
          <p:cNvSpPr/>
          <p:nvPr/>
        </p:nvSpPr>
        <p:spPr>
          <a:xfrm>
            <a:off x="548640" y="1691640"/>
            <a:ext cx="11094415" cy="640080"/>
          </a:xfrm>
          <a:prstGeom prst="roundRect">
            <a:avLst>
              <a:gd name="adj" fmla="val 14286"/>
            </a:avLst>
          </a:prstGeom>
          <a:solidFill>
            <a:srgbClr val="D9F0DC"/>
          </a:solidFill>
          <a:ln w="12700">
            <a:solidFill>
              <a:srgbClr val="CFE8D2"/>
            </a:solidFill>
            <a:prstDash val="solid"/>
          </a:ln>
        </p:spPr>
      </p:sp>
      <p:sp>
        <p:nvSpPr>
          <p:cNvPr id="7" name="Text 5"/>
          <p:cNvSpPr txBox="1"/>
          <p:nvPr/>
        </p:nvSpPr>
        <p:spPr>
          <a:xfrm>
            <a:off x="822960" y="1691640"/>
            <a:ext cx="10545775" cy="640080"/>
          </a:xfrm>
          <a:prstGeom prst="rect">
            <a:avLst/>
          </a:prstGeom>
          <a:noFill/>
          <a:ln/>
        </p:spPr>
        <p:txBody>
          <a:bodyPr wrap="square" lIns="0" tIns="0" rIns="0" bIns="0" rtlCol="0" anchor="ctr"/>
          <a:lstStyle/>
          <a:p>
            <a:pPr indent="0" marL="0">
              <a:buNone/>
            </a:pPr>
            <a:r>
              <a:rPr lang="en-US" sz="1600" dirty="0">
                <a:solidFill>
                  <a:srgbClr val="5C6B63"/>
                </a:solidFill>
                <a:latin typeface="Calibri" pitchFamily="34" charset="0"/>
                <a:ea typeface="Calibri" pitchFamily="34" charset="-122"/>
                <a:cs typeface="Calibri" pitchFamily="34" charset="-120"/>
              </a:rPr>
              <a:t>Example: </a:t>
            </a:r>
            <a:pPr indent="0" marL="0">
              <a:buNone/>
            </a:pPr>
            <a:r>
              <a:rPr lang="en-US" sz="1600" b="1" dirty="0">
                <a:solidFill>
                  <a:srgbClr val="0F3320"/>
                </a:solidFill>
                <a:latin typeface="Courier New" pitchFamily="34" charset="0"/>
                <a:ea typeface="Courier New" pitchFamily="34" charset="-122"/>
                <a:cs typeface="Courier New" pitchFamily="34" charset="-120"/>
              </a:rPr>
              <a:t>PRECTOTCORR = 145 mm</a:t>
            </a:r>
            <a:pPr indent="0" marL="0">
              <a:buNone/>
            </a:pPr>
            <a:r>
              <a:rPr lang="en-US" sz="1600" dirty="0">
                <a:solidFill>
                  <a:srgbClr val="5C6B63"/>
                </a:solidFill>
                <a:latin typeface="Calibri" pitchFamily="34" charset="0"/>
                <a:ea typeface="Calibri" pitchFamily="34" charset="-122"/>
                <a:cs typeface="Calibri" pitchFamily="34" charset="-120"/>
              </a:rPr>
              <a:t>  on a single day — flagged as a statistical extreme</a:t>
            </a:r>
            <a:endParaRPr lang="en-US" sz="1600" dirty="0"/>
          </a:p>
        </p:txBody>
      </p:sp>
      <p:sp>
        <p:nvSpPr>
          <p:cNvPr id="8" name="Shape 6"/>
          <p:cNvSpPr/>
          <p:nvPr/>
        </p:nvSpPr>
        <p:spPr>
          <a:xfrm>
            <a:off x="822960" y="2606040"/>
            <a:ext cx="5120640" cy="2148840"/>
          </a:xfrm>
          <a:prstGeom prst="roundRect">
            <a:avLst>
              <a:gd name="adj" fmla="val 5106"/>
            </a:avLst>
          </a:prstGeom>
          <a:solidFill>
            <a:srgbClr val="FFFFFF"/>
          </a:solidFill>
          <a:ln w="16510">
            <a:solidFill>
              <a:srgbClr val="A93226"/>
            </a:solidFill>
            <a:prstDash val="solid"/>
          </a:ln>
        </p:spPr>
      </p:sp>
      <p:sp>
        <p:nvSpPr>
          <p:cNvPr id="9" name="Text 7"/>
          <p:cNvSpPr txBox="1"/>
          <p:nvPr/>
        </p:nvSpPr>
        <p:spPr>
          <a:xfrm>
            <a:off x="1051560" y="2788920"/>
            <a:ext cx="4663440" cy="365760"/>
          </a:xfrm>
          <a:prstGeom prst="rect">
            <a:avLst/>
          </a:prstGeom>
          <a:noFill/>
          <a:ln/>
        </p:spPr>
        <p:txBody>
          <a:bodyPr wrap="square" lIns="0" tIns="0" rIns="0" bIns="0" rtlCol="0" anchor="ctr"/>
          <a:lstStyle/>
          <a:p>
            <a:pPr indent="0" marL="0">
              <a:buNone/>
            </a:pPr>
            <a:r>
              <a:rPr lang="en-US" sz="1500" b="1" dirty="0">
                <a:solidFill>
                  <a:srgbClr val="A93226"/>
                </a:solidFill>
                <a:latin typeface="Calibri" pitchFamily="34" charset="0"/>
                <a:ea typeface="Calibri" pitchFamily="34" charset="-122"/>
                <a:cs typeface="Calibri" pitchFamily="34" charset="-120"/>
              </a:rPr>
              <a:t>✗  TRADITIONAL APPROACH</a:t>
            </a:r>
            <a:endParaRPr lang="en-US" sz="1500" dirty="0"/>
          </a:p>
        </p:txBody>
      </p:sp>
      <p:sp>
        <p:nvSpPr>
          <p:cNvPr id="10" name="Text 8"/>
          <p:cNvSpPr txBox="1"/>
          <p:nvPr/>
        </p:nvSpPr>
        <p:spPr>
          <a:xfrm>
            <a:off x="1051560" y="3291840"/>
            <a:ext cx="4663440" cy="640080"/>
          </a:xfrm>
          <a:prstGeom prst="rect">
            <a:avLst/>
          </a:prstGeom>
          <a:noFill/>
          <a:ln/>
        </p:spPr>
        <p:txBody>
          <a:bodyPr wrap="square" lIns="0" tIns="0" rIns="0" bIns="0" rtlCol="0" anchor="ctr"/>
          <a:lstStyle/>
          <a:p>
            <a:pPr indent="0" marL="0">
              <a:lnSpc>
                <a:spcPct val="115000"/>
              </a:lnSpc>
              <a:buNone/>
            </a:pPr>
            <a:r>
              <a:rPr lang="en-US" sz="1550" dirty="0">
                <a:solidFill>
                  <a:srgbClr val="17241C"/>
                </a:solidFill>
                <a:latin typeface="Calibri" pitchFamily="34" charset="0"/>
                <a:ea typeface="Calibri" pitchFamily="34" charset="-122"/>
                <a:cs typeface="Calibri" pitchFamily="34" charset="-120"/>
              </a:rPr>
              <a:t>Statistical outlier detected  →  DELETE the record</a:t>
            </a:r>
            <a:endParaRPr lang="en-US" sz="1550" dirty="0"/>
          </a:p>
        </p:txBody>
      </p:sp>
      <p:sp>
        <p:nvSpPr>
          <p:cNvPr id="11" name="Text 9"/>
          <p:cNvSpPr txBox="1"/>
          <p:nvPr/>
        </p:nvSpPr>
        <p:spPr>
          <a:xfrm>
            <a:off x="1051560" y="4023360"/>
            <a:ext cx="4663440" cy="594360"/>
          </a:xfrm>
          <a:prstGeom prst="rect">
            <a:avLst/>
          </a:prstGeom>
          <a:noFill/>
          <a:ln/>
        </p:spPr>
        <p:txBody>
          <a:bodyPr wrap="square" lIns="0" tIns="0" rIns="0" bIns="0" rtlCol="0" anchor="ctr"/>
          <a:lstStyle/>
          <a:p>
            <a:pPr indent="0" marL="0">
              <a:lnSpc>
                <a:spcPct val="110000"/>
              </a:lnSpc>
              <a:buNone/>
            </a:pPr>
            <a:r>
              <a:rPr lang="en-US" sz="1300" i="1" dirty="0">
                <a:solidFill>
                  <a:srgbClr val="5C6B63"/>
                </a:solidFill>
                <a:latin typeface="Calibri" pitchFamily="34" charset="0"/>
                <a:ea typeface="Calibri" pitchFamily="34" charset="-122"/>
                <a:cs typeface="Calibri" pitchFamily="34" charset="-120"/>
              </a:rPr>
              <a:t>Problem: real extreme weather events are silently erased from the dataset.</a:t>
            </a:r>
            <a:endParaRPr lang="en-US" sz="1300" dirty="0"/>
          </a:p>
        </p:txBody>
      </p:sp>
      <p:sp>
        <p:nvSpPr>
          <p:cNvPr id="12" name="Shape 10"/>
          <p:cNvSpPr/>
          <p:nvPr/>
        </p:nvSpPr>
        <p:spPr>
          <a:xfrm>
            <a:off x="6263640" y="2606040"/>
            <a:ext cx="5120640" cy="2148840"/>
          </a:xfrm>
          <a:prstGeom prst="roundRect">
            <a:avLst>
              <a:gd name="adj" fmla="val 5106"/>
            </a:avLst>
          </a:prstGeom>
          <a:solidFill>
            <a:srgbClr val="FFFFFF"/>
          </a:solidFill>
          <a:ln w="16510">
            <a:solidFill>
              <a:srgbClr val="3FA34D"/>
            </a:solidFill>
            <a:prstDash val="solid"/>
          </a:ln>
        </p:spPr>
      </p:sp>
      <p:sp>
        <p:nvSpPr>
          <p:cNvPr id="13" name="Text 11"/>
          <p:cNvSpPr txBox="1"/>
          <p:nvPr/>
        </p:nvSpPr>
        <p:spPr>
          <a:xfrm>
            <a:off x="6492240" y="2788920"/>
            <a:ext cx="4663440" cy="365760"/>
          </a:xfrm>
          <a:prstGeom prst="rect">
            <a:avLst/>
          </a:prstGeom>
          <a:noFill/>
          <a:ln/>
        </p:spPr>
        <p:txBody>
          <a:bodyPr wrap="square" lIns="0" tIns="0" rIns="0" bIns="0" rtlCol="0" anchor="ctr"/>
          <a:lstStyle/>
          <a:p>
            <a:pPr indent="0" marL="0">
              <a:buNone/>
            </a:pPr>
            <a:r>
              <a:rPr lang="en-US" sz="1500" b="1" dirty="0">
                <a:solidFill>
                  <a:srgbClr val="175C2E"/>
                </a:solidFill>
                <a:latin typeface="Calibri" pitchFamily="34" charset="0"/>
                <a:ea typeface="Calibri" pitchFamily="34" charset="-122"/>
                <a:cs typeface="Calibri" pitchFamily="34" charset="-120"/>
              </a:rPr>
              <a:t>✓  HYDROMET-ETL APPROACH</a:t>
            </a:r>
            <a:endParaRPr lang="en-US" sz="1500" dirty="0"/>
          </a:p>
        </p:txBody>
      </p:sp>
      <p:sp>
        <p:nvSpPr>
          <p:cNvPr id="14" name="Text 12"/>
          <p:cNvSpPr txBox="1"/>
          <p:nvPr/>
        </p:nvSpPr>
        <p:spPr>
          <a:xfrm>
            <a:off x="6492240" y="3291840"/>
            <a:ext cx="4663440" cy="640080"/>
          </a:xfrm>
          <a:prstGeom prst="rect">
            <a:avLst/>
          </a:prstGeom>
          <a:noFill/>
          <a:ln/>
        </p:spPr>
        <p:txBody>
          <a:bodyPr wrap="square" lIns="0" tIns="0" rIns="0" bIns="0" rtlCol="0" anchor="ctr"/>
          <a:lstStyle/>
          <a:p>
            <a:pPr indent="0" marL="0">
              <a:lnSpc>
                <a:spcPct val="115000"/>
              </a:lnSpc>
              <a:buNone/>
            </a:pPr>
            <a:r>
              <a:rPr lang="en-US" sz="1550" dirty="0">
                <a:solidFill>
                  <a:srgbClr val="17241C"/>
                </a:solidFill>
                <a:latin typeface="Calibri" pitchFamily="34" charset="0"/>
                <a:ea typeface="Calibri" pitchFamily="34" charset="-122"/>
                <a:cs typeface="Calibri" pitchFamily="34" charset="-120"/>
              </a:rPr>
              <a:t>Observation stays = 145 mm</a:t>
            </a:r>
            <a:endParaRPr lang="en-US" sz="1550" dirty="0"/>
          </a:p>
          <a:p>
            <a:pPr indent="0" marL="0">
              <a:lnSpc>
                <a:spcPct val="115000"/>
              </a:lnSpc>
              <a:buNone/>
            </a:pPr>
            <a:r>
              <a:rPr lang="en-US" sz="1550" dirty="0">
                <a:solidFill>
                  <a:srgbClr val="17241C"/>
                </a:solidFill>
                <a:latin typeface="Calibri" pitchFamily="34" charset="0"/>
                <a:ea typeface="Calibri" pitchFamily="34" charset="-122"/>
                <a:cs typeface="Calibri" pitchFamily="34" charset="-120"/>
              </a:rPr>
              <a:t>Quality flag attached instead</a:t>
            </a:r>
            <a:endParaRPr lang="en-US" sz="1550" dirty="0"/>
          </a:p>
        </p:txBody>
      </p:sp>
      <p:sp>
        <p:nvSpPr>
          <p:cNvPr id="15" name="Shape 13"/>
          <p:cNvSpPr/>
          <p:nvPr/>
        </p:nvSpPr>
        <p:spPr>
          <a:xfrm>
            <a:off x="6492240" y="4023360"/>
            <a:ext cx="4663440" cy="457200"/>
          </a:xfrm>
          <a:prstGeom prst="roundRect">
            <a:avLst>
              <a:gd name="adj" fmla="val 50000"/>
            </a:avLst>
          </a:prstGeom>
          <a:solidFill>
            <a:srgbClr val="D9F0DC"/>
          </a:solidFill>
          <a:ln/>
        </p:spPr>
      </p:sp>
      <p:sp>
        <p:nvSpPr>
          <p:cNvPr id="16" name="Text 14"/>
          <p:cNvSpPr txBox="1"/>
          <p:nvPr/>
        </p:nvSpPr>
        <p:spPr>
          <a:xfrm>
            <a:off x="6537960" y="4023360"/>
            <a:ext cx="4572000" cy="457200"/>
          </a:xfrm>
          <a:prstGeom prst="rect">
            <a:avLst/>
          </a:prstGeom>
          <a:noFill/>
          <a:ln/>
        </p:spPr>
        <p:txBody>
          <a:bodyPr wrap="square" lIns="0" tIns="0" rIns="0" bIns="0" rtlCol="0" anchor="ctr"/>
          <a:lstStyle/>
          <a:p>
            <a:pPr algn="ctr" indent="0" marL="0">
              <a:buNone/>
            </a:pPr>
            <a:r>
              <a:rPr lang="en-US" sz="1250" b="1" dirty="0">
                <a:solidFill>
                  <a:srgbClr val="175C2E"/>
                </a:solidFill>
                <a:latin typeface="Calibri" pitchFamily="34" charset="0"/>
                <a:ea typeface="Calibri" pitchFamily="34" charset="-122"/>
                <a:cs typeface="Calibri" pitchFamily="34" charset="-120"/>
              </a:rPr>
              <a:t>flag_type = statistical_extreme   |   severity = warning</a:t>
            </a:r>
            <a:endParaRPr lang="en-US" sz="1250" dirty="0"/>
          </a:p>
        </p:txBody>
      </p:sp>
      <p:sp>
        <p:nvSpPr>
          <p:cNvPr id="17" name="Text 15"/>
          <p:cNvSpPr txBox="1"/>
          <p:nvPr/>
        </p:nvSpPr>
        <p:spPr>
          <a:xfrm>
            <a:off x="822960" y="4937760"/>
            <a:ext cx="3657600" cy="320040"/>
          </a:xfrm>
          <a:prstGeom prst="rect">
            <a:avLst/>
          </a:prstGeom>
          <a:noFill/>
          <a:ln/>
        </p:spPr>
        <p:txBody>
          <a:bodyPr wrap="square" lIns="0" tIns="0" rIns="0" bIns="0" rtlCol="0" anchor="ctr"/>
          <a:lstStyle/>
          <a:p>
            <a:pPr indent="0" marL="0">
              <a:buNone/>
            </a:pPr>
            <a:r>
              <a:rPr lang="en-US" sz="1300" b="1" dirty="0">
                <a:solidFill>
                  <a:srgbClr val="5C6B63"/>
                </a:solidFill>
                <a:latin typeface="Calibri" pitchFamily="34" charset="0"/>
                <a:ea typeface="Calibri" pitchFamily="34" charset="-122"/>
                <a:cs typeface="Calibri" pitchFamily="34" charset="-120"/>
              </a:rPr>
              <a:t>fact_quality_flag  key fields:</a:t>
            </a:r>
            <a:endParaRPr lang="en-US" sz="1300" dirty="0"/>
          </a:p>
        </p:txBody>
      </p:sp>
      <p:sp>
        <p:nvSpPr>
          <p:cNvPr id="18" name="Shape 16"/>
          <p:cNvSpPr/>
          <p:nvPr/>
        </p:nvSpPr>
        <p:spPr>
          <a:xfrm>
            <a:off x="822960" y="5285232"/>
            <a:ext cx="1691640" cy="384048"/>
          </a:xfrm>
          <a:prstGeom prst="roundRect">
            <a:avLst>
              <a:gd name="adj" fmla="val 50000"/>
            </a:avLst>
          </a:prstGeom>
          <a:solidFill>
            <a:srgbClr val="EAF6EC"/>
          </a:solidFill>
          <a:ln/>
        </p:spPr>
      </p:sp>
      <p:sp>
        <p:nvSpPr>
          <p:cNvPr id="19" name="Text 17"/>
          <p:cNvSpPr txBox="1"/>
          <p:nvPr/>
        </p:nvSpPr>
        <p:spPr>
          <a:xfrm>
            <a:off x="868680" y="5285232"/>
            <a:ext cx="1600200" cy="384048"/>
          </a:xfrm>
          <a:prstGeom prst="rect">
            <a:avLst/>
          </a:prstGeom>
          <a:noFill/>
          <a:ln/>
        </p:spPr>
        <p:txBody>
          <a:bodyPr wrap="square" lIns="0" tIns="0" rIns="0" bIns="0" rtlCol="0" anchor="ctr"/>
          <a:lstStyle/>
          <a:p>
            <a:pPr algn="ctr" indent="0" marL="0">
              <a:buNone/>
            </a:pPr>
            <a:r>
              <a:rPr lang="en-US" sz="1200" b="1" dirty="0">
                <a:solidFill>
                  <a:srgbClr val="175C2E"/>
                </a:solidFill>
                <a:latin typeface="Calibri" pitchFamily="34" charset="0"/>
                <a:ea typeface="Calibri" pitchFamily="34" charset="-122"/>
                <a:cs typeface="Calibri" pitchFamily="34" charset="-120"/>
              </a:rPr>
              <a:t>rule_name</a:t>
            </a:r>
            <a:endParaRPr lang="en-US" sz="1200" dirty="0"/>
          </a:p>
        </p:txBody>
      </p:sp>
      <p:sp>
        <p:nvSpPr>
          <p:cNvPr id="20" name="Shape 18"/>
          <p:cNvSpPr/>
          <p:nvPr/>
        </p:nvSpPr>
        <p:spPr>
          <a:xfrm>
            <a:off x="2651760" y="5285232"/>
            <a:ext cx="1691640" cy="384048"/>
          </a:xfrm>
          <a:prstGeom prst="roundRect">
            <a:avLst>
              <a:gd name="adj" fmla="val 50000"/>
            </a:avLst>
          </a:prstGeom>
          <a:solidFill>
            <a:srgbClr val="EAF6EC"/>
          </a:solidFill>
          <a:ln/>
        </p:spPr>
      </p:sp>
      <p:sp>
        <p:nvSpPr>
          <p:cNvPr id="21" name="Text 19"/>
          <p:cNvSpPr txBox="1"/>
          <p:nvPr/>
        </p:nvSpPr>
        <p:spPr>
          <a:xfrm>
            <a:off x="2697480" y="5285232"/>
            <a:ext cx="1600200" cy="384048"/>
          </a:xfrm>
          <a:prstGeom prst="rect">
            <a:avLst/>
          </a:prstGeom>
          <a:noFill/>
          <a:ln/>
        </p:spPr>
        <p:txBody>
          <a:bodyPr wrap="square" lIns="0" tIns="0" rIns="0" bIns="0" rtlCol="0" anchor="ctr"/>
          <a:lstStyle/>
          <a:p>
            <a:pPr algn="ctr" indent="0" marL="0">
              <a:buNone/>
            </a:pPr>
            <a:r>
              <a:rPr lang="en-US" sz="1200" b="1" dirty="0">
                <a:solidFill>
                  <a:srgbClr val="175C2E"/>
                </a:solidFill>
                <a:latin typeface="Calibri" pitchFamily="34" charset="0"/>
                <a:ea typeface="Calibri" pitchFamily="34" charset="-122"/>
                <a:cs typeface="Calibri" pitchFamily="34" charset="-120"/>
              </a:rPr>
              <a:t>flag_type</a:t>
            </a:r>
            <a:endParaRPr lang="en-US" sz="1200" dirty="0"/>
          </a:p>
        </p:txBody>
      </p:sp>
      <p:sp>
        <p:nvSpPr>
          <p:cNvPr id="22" name="Shape 20"/>
          <p:cNvSpPr/>
          <p:nvPr/>
        </p:nvSpPr>
        <p:spPr>
          <a:xfrm>
            <a:off x="4480560" y="5285232"/>
            <a:ext cx="1691640" cy="384048"/>
          </a:xfrm>
          <a:prstGeom prst="roundRect">
            <a:avLst>
              <a:gd name="adj" fmla="val 50000"/>
            </a:avLst>
          </a:prstGeom>
          <a:solidFill>
            <a:srgbClr val="EAF6EC"/>
          </a:solidFill>
          <a:ln/>
        </p:spPr>
      </p:sp>
      <p:sp>
        <p:nvSpPr>
          <p:cNvPr id="23" name="Text 21"/>
          <p:cNvSpPr txBox="1"/>
          <p:nvPr/>
        </p:nvSpPr>
        <p:spPr>
          <a:xfrm>
            <a:off x="4526280" y="5285232"/>
            <a:ext cx="1600200" cy="384048"/>
          </a:xfrm>
          <a:prstGeom prst="rect">
            <a:avLst/>
          </a:prstGeom>
          <a:noFill/>
          <a:ln/>
        </p:spPr>
        <p:txBody>
          <a:bodyPr wrap="square" lIns="0" tIns="0" rIns="0" bIns="0" rtlCol="0" anchor="ctr"/>
          <a:lstStyle/>
          <a:p>
            <a:pPr algn="ctr" indent="0" marL="0">
              <a:buNone/>
            </a:pPr>
            <a:r>
              <a:rPr lang="en-US" sz="1200" b="1" dirty="0">
                <a:solidFill>
                  <a:srgbClr val="175C2E"/>
                </a:solidFill>
                <a:latin typeface="Calibri" pitchFamily="34" charset="0"/>
                <a:ea typeface="Calibri" pitchFamily="34" charset="-122"/>
                <a:cs typeface="Calibri" pitchFamily="34" charset="-120"/>
              </a:rPr>
              <a:t>severity</a:t>
            </a:r>
            <a:endParaRPr lang="en-US" sz="1200" dirty="0"/>
          </a:p>
        </p:txBody>
      </p:sp>
      <p:sp>
        <p:nvSpPr>
          <p:cNvPr id="24" name="Shape 22"/>
          <p:cNvSpPr/>
          <p:nvPr/>
        </p:nvSpPr>
        <p:spPr>
          <a:xfrm>
            <a:off x="6309360" y="5285232"/>
            <a:ext cx="1691640" cy="384048"/>
          </a:xfrm>
          <a:prstGeom prst="roundRect">
            <a:avLst>
              <a:gd name="adj" fmla="val 50000"/>
            </a:avLst>
          </a:prstGeom>
          <a:solidFill>
            <a:srgbClr val="EAF6EC"/>
          </a:solidFill>
          <a:ln/>
        </p:spPr>
      </p:sp>
      <p:sp>
        <p:nvSpPr>
          <p:cNvPr id="25" name="Text 23"/>
          <p:cNvSpPr txBox="1"/>
          <p:nvPr/>
        </p:nvSpPr>
        <p:spPr>
          <a:xfrm>
            <a:off x="6355080" y="5285232"/>
            <a:ext cx="1600200" cy="384048"/>
          </a:xfrm>
          <a:prstGeom prst="rect">
            <a:avLst/>
          </a:prstGeom>
          <a:noFill/>
          <a:ln/>
        </p:spPr>
        <p:txBody>
          <a:bodyPr wrap="square" lIns="0" tIns="0" rIns="0" bIns="0" rtlCol="0" anchor="ctr"/>
          <a:lstStyle/>
          <a:p>
            <a:pPr algn="ctr" indent="0" marL="0">
              <a:buNone/>
            </a:pPr>
            <a:r>
              <a:rPr lang="en-US" sz="1200" b="1" dirty="0">
                <a:solidFill>
                  <a:srgbClr val="175C2E"/>
                </a:solidFill>
                <a:latin typeface="Calibri" pitchFamily="34" charset="0"/>
                <a:ea typeface="Calibri" pitchFamily="34" charset="-122"/>
                <a:cs typeface="Calibri" pitchFamily="34" charset="-120"/>
              </a:rPr>
              <a:t>flagged_at</a:t>
            </a:r>
            <a:endParaRPr lang="en-US" sz="1200" dirty="0"/>
          </a:p>
        </p:txBody>
      </p:sp>
      <p:sp>
        <p:nvSpPr>
          <p:cNvPr id="26" name="Shape 24"/>
          <p:cNvSpPr/>
          <p:nvPr/>
        </p:nvSpPr>
        <p:spPr>
          <a:xfrm>
            <a:off x="8138160" y="5285232"/>
            <a:ext cx="1691640" cy="384048"/>
          </a:xfrm>
          <a:prstGeom prst="roundRect">
            <a:avLst>
              <a:gd name="adj" fmla="val 50000"/>
            </a:avLst>
          </a:prstGeom>
          <a:solidFill>
            <a:srgbClr val="EAF6EC"/>
          </a:solidFill>
          <a:ln/>
        </p:spPr>
      </p:sp>
      <p:sp>
        <p:nvSpPr>
          <p:cNvPr id="27" name="Text 25"/>
          <p:cNvSpPr txBox="1"/>
          <p:nvPr/>
        </p:nvSpPr>
        <p:spPr>
          <a:xfrm>
            <a:off x="8183880" y="5285232"/>
            <a:ext cx="1600200" cy="384048"/>
          </a:xfrm>
          <a:prstGeom prst="rect">
            <a:avLst/>
          </a:prstGeom>
          <a:noFill/>
          <a:ln/>
        </p:spPr>
        <p:txBody>
          <a:bodyPr wrap="square" lIns="0" tIns="0" rIns="0" bIns="0" rtlCol="0" anchor="ctr"/>
          <a:lstStyle/>
          <a:p>
            <a:pPr algn="ctr" indent="0" marL="0">
              <a:buNone/>
            </a:pPr>
            <a:r>
              <a:rPr lang="en-US" sz="1200" b="1" dirty="0">
                <a:solidFill>
                  <a:srgbClr val="175C2E"/>
                </a:solidFill>
                <a:latin typeface="Calibri" pitchFamily="34" charset="0"/>
                <a:ea typeface="Calibri" pitchFamily="34" charset="-122"/>
                <a:cs typeface="Calibri" pitchFamily="34" charset="-120"/>
              </a:rPr>
              <a:t>notes</a:t>
            </a:r>
            <a:endParaRPr lang="en-US" sz="1200" dirty="0"/>
          </a:p>
        </p:txBody>
      </p:sp>
      <p:sp>
        <p:nvSpPr>
          <p:cNvPr id="28" name="Shape 26"/>
          <p:cNvSpPr/>
          <p:nvPr/>
        </p:nvSpPr>
        <p:spPr>
          <a:xfrm>
            <a:off x="822960" y="5943600"/>
            <a:ext cx="10545775" cy="594360"/>
          </a:xfrm>
          <a:prstGeom prst="roundRect">
            <a:avLst>
              <a:gd name="adj" fmla="val 15385"/>
            </a:avLst>
          </a:prstGeom>
          <a:solidFill>
            <a:srgbClr val="D9A441"/>
          </a:solidFill>
          <a:ln/>
        </p:spPr>
      </p:sp>
      <p:sp>
        <p:nvSpPr>
          <p:cNvPr id="29" name="Text 27"/>
          <p:cNvSpPr txBox="1"/>
          <p:nvPr/>
        </p:nvSpPr>
        <p:spPr>
          <a:xfrm>
            <a:off x="1097280" y="5943600"/>
            <a:ext cx="9997135" cy="594360"/>
          </a:xfrm>
          <a:prstGeom prst="rect">
            <a:avLst/>
          </a:prstGeom>
          <a:noFill/>
          <a:ln/>
        </p:spPr>
        <p:txBody>
          <a:bodyPr wrap="square" lIns="0" tIns="0" rIns="0" bIns="0" rtlCol="0" anchor="ctr"/>
          <a:lstStyle/>
          <a:p>
            <a:pPr indent="0" marL="0">
              <a:buNone/>
            </a:pPr>
            <a:r>
              <a:rPr lang="en-US" sz="1400" b="1" dirty="0">
                <a:solidFill>
                  <a:srgbClr val="0F3320"/>
                </a:solidFill>
                <a:latin typeface="Calibri" pitchFamily="34" charset="0"/>
                <a:ea typeface="Calibri" pitchFamily="34" charset="-122"/>
                <a:cs typeface="Calibri" pitchFamily="34" charset="-120"/>
              </a:rPr>
              <a:t>This design decision came directly from Week 1, Problem 3 — extreme observations require domain-aware QA.</a:t>
            </a:r>
            <a:endParaRPr lang="en-US" sz="1400" dirty="0"/>
          </a:p>
        </p:txBody>
      </p:sp>
      <p:sp>
        <p:nvSpPr>
          <p:cNvPr id="30" name="Text 28"/>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15 / 23</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3</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IDEMPOTENT DATA INGESTION</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What Is Idempotency?</a:t>
            </a:r>
            <a:endParaRPr lang="en-US" sz="3200" dirty="0"/>
          </a:p>
        </p:txBody>
      </p:sp>
      <p:sp>
        <p:nvSpPr>
          <p:cNvPr id="6" name="Shape 4"/>
          <p:cNvSpPr/>
          <p:nvPr/>
        </p:nvSpPr>
        <p:spPr>
          <a:xfrm>
            <a:off x="3718408" y="1645920"/>
            <a:ext cx="4754880" cy="1051560"/>
          </a:xfrm>
          <a:prstGeom prst="roundRect">
            <a:avLst>
              <a:gd name="adj" fmla="val 12174"/>
            </a:avLst>
          </a:prstGeom>
          <a:solidFill>
            <a:srgbClr val="0F3320"/>
          </a:solidFill>
          <a:ln/>
        </p:spPr>
      </p:sp>
      <p:sp>
        <p:nvSpPr>
          <p:cNvPr id="7" name="Text 5"/>
          <p:cNvSpPr txBox="1"/>
          <p:nvPr/>
        </p:nvSpPr>
        <p:spPr>
          <a:xfrm>
            <a:off x="3718408" y="1645920"/>
            <a:ext cx="4754880" cy="1051560"/>
          </a:xfrm>
          <a:prstGeom prst="rect">
            <a:avLst/>
          </a:prstGeom>
          <a:noFill/>
          <a:ln/>
        </p:spPr>
        <p:txBody>
          <a:bodyPr wrap="square" lIns="0" tIns="0" rIns="0" bIns="0" rtlCol="0" anchor="ctr"/>
          <a:lstStyle/>
          <a:p>
            <a:pPr algn="ctr" indent="0" marL="0">
              <a:buNone/>
            </a:pPr>
            <a:r>
              <a:rPr lang="en-US" sz="3400" b="1" dirty="0">
                <a:solidFill>
                  <a:srgbClr val="D9A441"/>
                </a:solidFill>
                <a:latin typeface="Courier New" pitchFamily="34" charset="0"/>
                <a:ea typeface="Courier New" pitchFamily="34" charset="-122"/>
                <a:cs typeface="Courier New" pitchFamily="34" charset="-120"/>
              </a:rPr>
              <a:t>f( f(x) )  =  f(x)</a:t>
            </a:r>
            <a:endParaRPr lang="en-US" sz="3400" dirty="0"/>
          </a:p>
        </p:txBody>
      </p:sp>
      <p:sp>
        <p:nvSpPr>
          <p:cNvPr id="8" name="Text 6"/>
          <p:cNvSpPr txBox="1"/>
          <p:nvPr/>
        </p:nvSpPr>
        <p:spPr>
          <a:xfrm>
            <a:off x="1371600" y="2788920"/>
            <a:ext cx="9448495" cy="365760"/>
          </a:xfrm>
          <a:prstGeom prst="rect">
            <a:avLst/>
          </a:prstGeom>
          <a:noFill/>
          <a:ln/>
        </p:spPr>
        <p:txBody>
          <a:bodyPr wrap="square" lIns="0" tIns="0" rIns="0" bIns="0" rtlCol="0" anchor="ctr"/>
          <a:lstStyle/>
          <a:p>
            <a:pPr algn="ctr" indent="0" marL="0">
              <a:buNone/>
            </a:pPr>
            <a:r>
              <a:rPr lang="en-US" sz="1600" i="1" dirty="0">
                <a:solidFill>
                  <a:srgbClr val="5C6B63"/>
                </a:solidFill>
                <a:latin typeface="Calibri" pitchFamily="34" charset="0"/>
                <a:ea typeface="Calibri" pitchFamily="34" charset="-122"/>
                <a:cs typeface="Calibri" pitchFamily="34" charset="-120"/>
              </a:rPr>
              <a:t>Running the pipeline again must never duplicate data.</a:t>
            </a:r>
            <a:endParaRPr lang="en-US" sz="1600" dirty="0"/>
          </a:p>
        </p:txBody>
      </p:sp>
      <p:sp>
        <p:nvSpPr>
          <p:cNvPr id="9" name="Shape 7"/>
          <p:cNvSpPr/>
          <p:nvPr/>
        </p:nvSpPr>
        <p:spPr>
          <a:xfrm>
            <a:off x="822960" y="3383280"/>
            <a:ext cx="5120640" cy="2423160"/>
          </a:xfrm>
          <a:prstGeom prst="roundRect">
            <a:avLst>
              <a:gd name="adj" fmla="val 4528"/>
            </a:avLst>
          </a:prstGeom>
          <a:solidFill>
            <a:srgbClr val="FFFFFF"/>
          </a:solidFill>
          <a:ln w="17780">
            <a:solidFill>
              <a:srgbClr val="3FA34D"/>
            </a:solidFill>
            <a:prstDash val="solid"/>
          </a:ln>
        </p:spPr>
      </p:sp>
      <p:sp>
        <p:nvSpPr>
          <p:cNvPr id="10" name="Text 8"/>
          <p:cNvSpPr txBox="1"/>
          <p:nvPr/>
        </p:nvSpPr>
        <p:spPr>
          <a:xfrm>
            <a:off x="1051560" y="3566160"/>
            <a:ext cx="4663440" cy="365760"/>
          </a:xfrm>
          <a:prstGeom prst="rect">
            <a:avLst/>
          </a:prstGeom>
          <a:noFill/>
          <a:ln/>
        </p:spPr>
        <p:txBody>
          <a:bodyPr wrap="square" lIns="0" tIns="0" rIns="0" bIns="0" rtlCol="0" anchor="ctr"/>
          <a:lstStyle/>
          <a:p>
            <a:pPr indent="0" marL="0">
              <a:buNone/>
            </a:pPr>
            <a:r>
              <a:rPr lang="en-US" sz="1550" b="1" dirty="0">
                <a:solidFill>
                  <a:srgbClr val="175C2E"/>
                </a:solidFill>
                <a:latin typeface="Calibri" pitchFamily="34" charset="0"/>
                <a:ea typeface="Calibri" pitchFamily="34" charset="-122"/>
                <a:cs typeface="Calibri" pitchFamily="34" charset="-120"/>
              </a:rPr>
              <a:t>✓  IDEMPOTENT (what we built)</a:t>
            </a:r>
            <a:endParaRPr lang="en-US" sz="1550" dirty="0"/>
          </a:p>
        </p:txBody>
      </p:sp>
      <p:sp>
        <p:nvSpPr>
          <p:cNvPr id="11" name="Text 9"/>
          <p:cNvSpPr txBox="1"/>
          <p:nvPr/>
        </p:nvSpPr>
        <p:spPr>
          <a:xfrm>
            <a:off x="1188720" y="4069080"/>
            <a:ext cx="1280160" cy="384048"/>
          </a:xfrm>
          <a:prstGeom prst="rect">
            <a:avLst/>
          </a:prstGeom>
          <a:noFill/>
          <a:ln/>
        </p:spPr>
        <p:txBody>
          <a:bodyPr wrap="square" lIns="0" tIns="0" rIns="0" bIns="0" rtlCol="0" anchor="ctr"/>
          <a:lstStyle/>
          <a:p>
            <a:pPr indent="0" marL="0">
              <a:buNone/>
            </a:pPr>
            <a:r>
              <a:rPr lang="en-US" sz="1500" b="1" dirty="0">
                <a:solidFill>
                  <a:srgbClr val="17241C"/>
                </a:solidFill>
                <a:latin typeface="Courier New" pitchFamily="34" charset="0"/>
                <a:ea typeface="Courier New" pitchFamily="34" charset="-122"/>
                <a:cs typeface="Courier New" pitchFamily="34" charset="-120"/>
              </a:rPr>
              <a:t>Run 1</a:t>
            </a:r>
            <a:endParaRPr lang="en-US" sz="1500" dirty="0"/>
          </a:p>
        </p:txBody>
      </p:sp>
      <p:sp>
        <p:nvSpPr>
          <p:cNvPr id="12" name="Text 10"/>
          <p:cNvSpPr txBox="1"/>
          <p:nvPr/>
        </p:nvSpPr>
        <p:spPr>
          <a:xfrm>
            <a:off x="2743200" y="4069080"/>
            <a:ext cx="2743200" cy="384048"/>
          </a:xfrm>
          <a:prstGeom prst="rect">
            <a:avLst/>
          </a:prstGeom>
          <a:noFill/>
          <a:ln/>
        </p:spPr>
        <p:txBody>
          <a:bodyPr wrap="square" lIns="0" tIns="0" rIns="0" bIns="0" rtlCol="0" anchor="ctr"/>
          <a:lstStyle/>
          <a:p>
            <a:pPr indent="0" marL="0">
              <a:buNone/>
            </a:pPr>
            <a:r>
              <a:rPr lang="en-US" sz="1500" b="1" dirty="0">
                <a:solidFill>
                  <a:srgbClr val="175C2E"/>
                </a:solidFill>
                <a:latin typeface="Courier New" pitchFamily="34" charset="0"/>
                <a:ea typeface="Courier New" pitchFamily="34" charset="-122"/>
                <a:cs typeface="Courier New" pitchFamily="34" charset="-120"/>
              </a:rPr>
              <a:t>73,048 rows</a:t>
            </a:r>
            <a:endParaRPr lang="en-US" sz="1500" dirty="0"/>
          </a:p>
        </p:txBody>
      </p:sp>
      <p:sp>
        <p:nvSpPr>
          <p:cNvPr id="13" name="Text 11"/>
          <p:cNvSpPr txBox="1"/>
          <p:nvPr/>
        </p:nvSpPr>
        <p:spPr>
          <a:xfrm>
            <a:off x="1188720" y="4526280"/>
            <a:ext cx="1280160" cy="384048"/>
          </a:xfrm>
          <a:prstGeom prst="rect">
            <a:avLst/>
          </a:prstGeom>
          <a:noFill/>
          <a:ln/>
        </p:spPr>
        <p:txBody>
          <a:bodyPr wrap="square" lIns="0" tIns="0" rIns="0" bIns="0" rtlCol="0" anchor="ctr"/>
          <a:lstStyle/>
          <a:p>
            <a:pPr indent="0" marL="0">
              <a:buNone/>
            </a:pPr>
            <a:r>
              <a:rPr lang="en-US" sz="1500" b="1" dirty="0">
                <a:solidFill>
                  <a:srgbClr val="17241C"/>
                </a:solidFill>
                <a:latin typeface="Courier New" pitchFamily="34" charset="0"/>
                <a:ea typeface="Courier New" pitchFamily="34" charset="-122"/>
                <a:cs typeface="Courier New" pitchFamily="34" charset="-120"/>
              </a:rPr>
              <a:t>Run 2</a:t>
            </a:r>
            <a:endParaRPr lang="en-US" sz="1500" dirty="0"/>
          </a:p>
        </p:txBody>
      </p:sp>
      <p:sp>
        <p:nvSpPr>
          <p:cNvPr id="14" name="Text 12"/>
          <p:cNvSpPr txBox="1"/>
          <p:nvPr/>
        </p:nvSpPr>
        <p:spPr>
          <a:xfrm>
            <a:off x="2743200" y="4526280"/>
            <a:ext cx="2743200" cy="384048"/>
          </a:xfrm>
          <a:prstGeom prst="rect">
            <a:avLst/>
          </a:prstGeom>
          <a:noFill/>
          <a:ln/>
        </p:spPr>
        <p:txBody>
          <a:bodyPr wrap="square" lIns="0" tIns="0" rIns="0" bIns="0" rtlCol="0" anchor="ctr"/>
          <a:lstStyle/>
          <a:p>
            <a:pPr indent="0" marL="0">
              <a:buNone/>
            </a:pPr>
            <a:r>
              <a:rPr lang="en-US" sz="1500" b="1" dirty="0">
                <a:solidFill>
                  <a:srgbClr val="175C2E"/>
                </a:solidFill>
                <a:latin typeface="Courier New" pitchFamily="34" charset="0"/>
                <a:ea typeface="Courier New" pitchFamily="34" charset="-122"/>
                <a:cs typeface="Courier New" pitchFamily="34" charset="-120"/>
              </a:rPr>
              <a:t>73,048 rows</a:t>
            </a:r>
            <a:endParaRPr lang="en-US" sz="1500" dirty="0"/>
          </a:p>
        </p:txBody>
      </p:sp>
      <p:sp>
        <p:nvSpPr>
          <p:cNvPr id="15" name="Text 13"/>
          <p:cNvSpPr txBox="1"/>
          <p:nvPr/>
        </p:nvSpPr>
        <p:spPr>
          <a:xfrm>
            <a:off x="1188720" y="4983480"/>
            <a:ext cx="1280160" cy="384048"/>
          </a:xfrm>
          <a:prstGeom prst="rect">
            <a:avLst/>
          </a:prstGeom>
          <a:noFill/>
          <a:ln/>
        </p:spPr>
        <p:txBody>
          <a:bodyPr wrap="square" lIns="0" tIns="0" rIns="0" bIns="0" rtlCol="0" anchor="ctr"/>
          <a:lstStyle/>
          <a:p>
            <a:pPr indent="0" marL="0">
              <a:buNone/>
            </a:pPr>
            <a:r>
              <a:rPr lang="en-US" sz="1500" b="1" dirty="0">
                <a:solidFill>
                  <a:srgbClr val="17241C"/>
                </a:solidFill>
                <a:latin typeface="Courier New" pitchFamily="34" charset="0"/>
                <a:ea typeface="Courier New" pitchFamily="34" charset="-122"/>
                <a:cs typeface="Courier New" pitchFamily="34" charset="-120"/>
              </a:rPr>
              <a:t>Run 3</a:t>
            </a:r>
            <a:endParaRPr lang="en-US" sz="1500" dirty="0"/>
          </a:p>
        </p:txBody>
      </p:sp>
      <p:sp>
        <p:nvSpPr>
          <p:cNvPr id="16" name="Text 14"/>
          <p:cNvSpPr txBox="1"/>
          <p:nvPr/>
        </p:nvSpPr>
        <p:spPr>
          <a:xfrm>
            <a:off x="2743200" y="4983480"/>
            <a:ext cx="2743200" cy="384048"/>
          </a:xfrm>
          <a:prstGeom prst="rect">
            <a:avLst/>
          </a:prstGeom>
          <a:noFill/>
          <a:ln/>
        </p:spPr>
        <p:txBody>
          <a:bodyPr wrap="square" lIns="0" tIns="0" rIns="0" bIns="0" rtlCol="0" anchor="ctr"/>
          <a:lstStyle/>
          <a:p>
            <a:pPr indent="0" marL="0">
              <a:buNone/>
            </a:pPr>
            <a:r>
              <a:rPr lang="en-US" sz="1500" b="1" dirty="0">
                <a:solidFill>
                  <a:srgbClr val="175C2E"/>
                </a:solidFill>
                <a:latin typeface="Courier New" pitchFamily="34" charset="0"/>
                <a:ea typeface="Courier New" pitchFamily="34" charset="-122"/>
                <a:cs typeface="Courier New" pitchFamily="34" charset="-120"/>
              </a:rPr>
              <a:t>73,048 rows</a:t>
            </a:r>
            <a:endParaRPr lang="en-US" sz="1500" dirty="0"/>
          </a:p>
        </p:txBody>
      </p:sp>
      <p:sp>
        <p:nvSpPr>
          <p:cNvPr id="17" name="Text 15"/>
          <p:cNvSpPr txBox="1"/>
          <p:nvPr/>
        </p:nvSpPr>
        <p:spPr>
          <a:xfrm>
            <a:off x="1051560" y="5486400"/>
            <a:ext cx="4663440" cy="292608"/>
          </a:xfrm>
          <a:prstGeom prst="rect">
            <a:avLst/>
          </a:prstGeom>
          <a:noFill/>
          <a:ln/>
        </p:spPr>
        <p:txBody>
          <a:bodyPr wrap="square" lIns="0" tIns="0" rIns="0" bIns="0" rtlCol="0" anchor="ctr"/>
          <a:lstStyle/>
          <a:p>
            <a:pPr indent="0" marL="0">
              <a:buNone/>
            </a:pPr>
            <a:r>
              <a:rPr lang="en-US" sz="1250" i="1" dirty="0">
                <a:solidFill>
                  <a:srgbClr val="5C6B63"/>
                </a:solidFill>
                <a:latin typeface="Calibri" pitchFamily="34" charset="0"/>
                <a:ea typeface="Calibri" pitchFamily="34" charset="-122"/>
                <a:cs typeface="Calibri" pitchFamily="34" charset="-120"/>
              </a:rPr>
              <a:t>Stable. Rerun-safe.</a:t>
            </a:r>
            <a:endParaRPr lang="en-US" sz="1250" dirty="0"/>
          </a:p>
        </p:txBody>
      </p:sp>
      <p:sp>
        <p:nvSpPr>
          <p:cNvPr id="18" name="Shape 16"/>
          <p:cNvSpPr/>
          <p:nvPr/>
        </p:nvSpPr>
        <p:spPr>
          <a:xfrm>
            <a:off x="6263640" y="3383280"/>
            <a:ext cx="5120640" cy="2423160"/>
          </a:xfrm>
          <a:prstGeom prst="roundRect">
            <a:avLst>
              <a:gd name="adj" fmla="val 4528"/>
            </a:avLst>
          </a:prstGeom>
          <a:solidFill>
            <a:srgbClr val="FFFFFF"/>
          </a:solidFill>
          <a:ln w="17780">
            <a:solidFill>
              <a:srgbClr val="A93226"/>
            </a:solidFill>
            <a:prstDash val="solid"/>
          </a:ln>
        </p:spPr>
      </p:sp>
      <p:sp>
        <p:nvSpPr>
          <p:cNvPr id="19" name="Text 17"/>
          <p:cNvSpPr txBox="1"/>
          <p:nvPr/>
        </p:nvSpPr>
        <p:spPr>
          <a:xfrm>
            <a:off x="6492240" y="3566160"/>
            <a:ext cx="4663440" cy="365760"/>
          </a:xfrm>
          <a:prstGeom prst="rect">
            <a:avLst/>
          </a:prstGeom>
          <a:noFill/>
          <a:ln/>
        </p:spPr>
        <p:txBody>
          <a:bodyPr wrap="square" lIns="0" tIns="0" rIns="0" bIns="0" rtlCol="0" anchor="ctr"/>
          <a:lstStyle/>
          <a:p>
            <a:pPr indent="0" marL="0">
              <a:buNone/>
            </a:pPr>
            <a:r>
              <a:rPr lang="en-US" sz="1550" b="1" dirty="0">
                <a:solidFill>
                  <a:srgbClr val="A93226"/>
                </a:solidFill>
                <a:latin typeface="Calibri" pitchFamily="34" charset="0"/>
                <a:ea typeface="Calibri" pitchFamily="34" charset="-122"/>
                <a:cs typeface="Calibri" pitchFamily="34" charset="-120"/>
              </a:rPr>
              <a:t>✗  NON-IDEMPOTENT (avoided)</a:t>
            </a:r>
            <a:endParaRPr lang="en-US" sz="1550" dirty="0"/>
          </a:p>
        </p:txBody>
      </p:sp>
      <p:sp>
        <p:nvSpPr>
          <p:cNvPr id="20" name="Text 18"/>
          <p:cNvSpPr txBox="1"/>
          <p:nvPr/>
        </p:nvSpPr>
        <p:spPr>
          <a:xfrm>
            <a:off x="6629400" y="4069080"/>
            <a:ext cx="1280160" cy="384048"/>
          </a:xfrm>
          <a:prstGeom prst="rect">
            <a:avLst/>
          </a:prstGeom>
          <a:noFill/>
          <a:ln/>
        </p:spPr>
        <p:txBody>
          <a:bodyPr wrap="square" lIns="0" tIns="0" rIns="0" bIns="0" rtlCol="0" anchor="ctr"/>
          <a:lstStyle/>
          <a:p>
            <a:pPr indent="0" marL="0">
              <a:buNone/>
            </a:pPr>
            <a:r>
              <a:rPr lang="en-US" sz="1500" b="1" dirty="0">
                <a:solidFill>
                  <a:srgbClr val="17241C"/>
                </a:solidFill>
                <a:latin typeface="Courier New" pitchFamily="34" charset="0"/>
                <a:ea typeface="Courier New" pitchFamily="34" charset="-122"/>
                <a:cs typeface="Courier New" pitchFamily="34" charset="-120"/>
              </a:rPr>
              <a:t>Run 1</a:t>
            </a:r>
            <a:endParaRPr lang="en-US" sz="1500" dirty="0"/>
          </a:p>
        </p:txBody>
      </p:sp>
      <p:sp>
        <p:nvSpPr>
          <p:cNvPr id="21" name="Text 19"/>
          <p:cNvSpPr txBox="1"/>
          <p:nvPr/>
        </p:nvSpPr>
        <p:spPr>
          <a:xfrm>
            <a:off x="8183880" y="4069080"/>
            <a:ext cx="2743200" cy="384048"/>
          </a:xfrm>
          <a:prstGeom prst="rect">
            <a:avLst/>
          </a:prstGeom>
          <a:noFill/>
          <a:ln/>
        </p:spPr>
        <p:txBody>
          <a:bodyPr wrap="square" lIns="0" tIns="0" rIns="0" bIns="0" rtlCol="0" anchor="ctr"/>
          <a:lstStyle/>
          <a:p>
            <a:pPr indent="0" marL="0">
              <a:buNone/>
            </a:pPr>
            <a:r>
              <a:rPr lang="en-US" sz="1500" b="1" dirty="0">
                <a:solidFill>
                  <a:srgbClr val="A93226"/>
                </a:solidFill>
                <a:latin typeface="Courier New" pitchFamily="34" charset="0"/>
                <a:ea typeface="Courier New" pitchFamily="34" charset="-122"/>
                <a:cs typeface="Courier New" pitchFamily="34" charset="-120"/>
              </a:rPr>
              <a:t>73,048</a:t>
            </a:r>
            <a:endParaRPr lang="en-US" sz="1500" dirty="0"/>
          </a:p>
        </p:txBody>
      </p:sp>
      <p:sp>
        <p:nvSpPr>
          <p:cNvPr id="22" name="Text 20"/>
          <p:cNvSpPr txBox="1"/>
          <p:nvPr/>
        </p:nvSpPr>
        <p:spPr>
          <a:xfrm>
            <a:off x="6629400" y="4526280"/>
            <a:ext cx="1280160" cy="384048"/>
          </a:xfrm>
          <a:prstGeom prst="rect">
            <a:avLst/>
          </a:prstGeom>
          <a:noFill/>
          <a:ln/>
        </p:spPr>
        <p:txBody>
          <a:bodyPr wrap="square" lIns="0" tIns="0" rIns="0" bIns="0" rtlCol="0" anchor="ctr"/>
          <a:lstStyle/>
          <a:p>
            <a:pPr indent="0" marL="0">
              <a:buNone/>
            </a:pPr>
            <a:r>
              <a:rPr lang="en-US" sz="1500" b="1" dirty="0">
                <a:solidFill>
                  <a:srgbClr val="17241C"/>
                </a:solidFill>
                <a:latin typeface="Courier New" pitchFamily="34" charset="0"/>
                <a:ea typeface="Courier New" pitchFamily="34" charset="-122"/>
                <a:cs typeface="Courier New" pitchFamily="34" charset="-120"/>
              </a:rPr>
              <a:t>Run 2</a:t>
            </a:r>
            <a:endParaRPr lang="en-US" sz="1500" dirty="0"/>
          </a:p>
        </p:txBody>
      </p:sp>
      <p:sp>
        <p:nvSpPr>
          <p:cNvPr id="23" name="Text 21"/>
          <p:cNvSpPr txBox="1"/>
          <p:nvPr/>
        </p:nvSpPr>
        <p:spPr>
          <a:xfrm>
            <a:off x="8183880" y="4526280"/>
            <a:ext cx="2743200" cy="384048"/>
          </a:xfrm>
          <a:prstGeom prst="rect">
            <a:avLst/>
          </a:prstGeom>
          <a:noFill/>
          <a:ln/>
        </p:spPr>
        <p:txBody>
          <a:bodyPr wrap="square" lIns="0" tIns="0" rIns="0" bIns="0" rtlCol="0" anchor="ctr"/>
          <a:lstStyle/>
          <a:p>
            <a:pPr indent="0" marL="0">
              <a:buNone/>
            </a:pPr>
            <a:r>
              <a:rPr lang="en-US" sz="1500" b="1" dirty="0">
                <a:solidFill>
                  <a:srgbClr val="A93226"/>
                </a:solidFill>
                <a:latin typeface="Courier New" pitchFamily="34" charset="0"/>
                <a:ea typeface="Courier New" pitchFamily="34" charset="-122"/>
                <a:cs typeface="Courier New" pitchFamily="34" charset="-120"/>
              </a:rPr>
              <a:t>146,096</a:t>
            </a:r>
            <a:endParaRPr lang="en-US" sz="1500" dirty="0"/>
          </a:p>
        </p:txBody>
      </p:sp>
      <p:sp>
        <p:nvSpPr>
          <p:cNvPr id="24" name="Text 22"/>
          <p:cNvSpPr txBox="1"/>
          <p:nvPr/>
        </p:nvSpPr>
        <p:spPr>
          <a:xfrm>
            <a:off x="6629400" y="4983480"/>
            <a:ext cx="1280160" cy="384048"/>
          </a:xfrm>
          <a:prstGeom prst="rect">
            <a:avLst/>
          </a:prstGeom>
          <a:noFill/>
          <a:ln/>
        </p:spPr>
        <p:txBody>
          <a:bodyPr wrap="square" lIns="0" tIns="0" rIns="0" bIns="0" rtlCol="0" anchor="ctr"/>
          <a:lstStyle/>
          <a:p>
            <a:pPr indent="0" marL="0">
              <a:buNone/>
            </a:pPr>
            <a:r>
              <a:rPr lang="en-US" sz="1500" b="1" dirty="0">
                <a:solidFill>
                  <a:srgbClr val="17241C"/>
                </a:solidFill>
                <a:latin typeface="Courier New" pitchFamily="34" charset="0"/>
                <a:ea typeface="Courier New" pitchFamily="34" charset="-122"/>
                <a:cs typeface="Courier New" pitchFamily="34" charset="-120"/>
              </a:rPr>
              <a:t>Run 3</a:t>
            </a:r>
            <a:endParaRPr lang="en-US" sz="1500" dirty="0"/>
          </a:p>
        </p:txBody>
      </p:sp>
      <p:sp>
        <p:nvSpPr>
          <p:cNvPr id="25" name="Text 23"/>
          <p:cNvSpPr txBox="1"/>
          <p:nvPr/>
        </p:nvSpPr>
        <p:spPr>
          <a:xfrm>
            <a:off x="8183880" y="4983480"/>
            <a:ext cx="2743200" cy="384048"/>
          </a:xfrm>
          <a:prstGeom prst="rect">
            <a:avLst/>
          </a:prstGeom>
          <a:noFill/>
          <a:ln/>
        </p:spPr>
        <p:txBody>
          <a:bodyPr wrap="square" lIns="0" tIns="0" rIns="0" bIns="0" rtlCol="0" anchor="ctr"/>
          <a:lstStyle/>
          <a:p>
            <a:pPr indent="0" marL="0">
              <a:buNone/>
            </a:pPr>
            <a:r>
              <a:rPr lang="en-US" sz="1500" b="1" dirty="0">
                <a:solidFill>
                  <a:srgbClr val="A93226"/>
                </a:solidFill>
                <a:latin typeface="Courier New" pitchFamily="34" charset="0"/>
                <a:ea typeface="Courier New" pitchFamily="34" charset="-122"/>
                <a:cs typeface="Courier New" pitchFamily="34" charset="-120"/>
              </a:rPr>
              <a:t>219,144</a:t>
            </a:r>
            <a:endParaRPr lang="en-US" sz="1500" dirty="0"/>
          </a:p>
        </p:txBody>
      </p:sp>
      <p:sp>
        <p:nvSpPr>
          <p:cNvPr id="26" name="Text 24"/>
          <p:cNvSpPr txBox="1"/>
          <p:nvPr/>
        </p:nvSpPr>
        <p:spPr>
          <a:xfrm>
            <a:off x="6492240" y="5486400"/>
            <a:ext cx="4663440" cy="292608"/>
          </a:xfrm>
          <a:prstGeom prst="rect">
            <a:avLst/>
          </a:prstGeom>
          <a:noFill/>
          <a:ln/>
        </p:spPr>
        <p:txBody>
          <a:bodyPr wrap="square" lIns="0" tIns="0" rIns="0" bIns="0" rtlCol="0" anchor="ctr"/>
          <a:lstStyle/>
          <a:p>
            <a:pPr indent="0" marL="0">
              <a:buNone/>
            </a:pPr>
            <a:r>
              <a:rPr lang="en-US" sz="1250" i="1" dirty="0">
                <a:solidFill>
                  <a:srgbClr val="5C6B63"/>
                </a:solidFill>
                <a:latin typeface="Calibri" pitchFamily="34" charset="0"/>
                <a:ea typeface="Calibri" pitchFamily="34" charset="-122"/>
                <a:cs typeface="Calibri" pitchFamily="34" charset="-120"/>
              </a:rPr>
              <a:t>Grows every run. Unsafe.</a:t>
            </a:r>
            <a:endParaRPr lang="en-US" sz="1250" dirty="0"/>
          </a:p>
        </p:txBody>
      </p:sp>
      <p:sp>
        <p:nvSpPr>
          <p:cNvPr id="27" name="Text 25"/>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16 / 23</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3</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IDEMPOTENT DATA INGESTION</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Engineering Components of Reliable Ingestion</a:t>
            </a:r>
            <a:endParaRPr lang="en-US" sz="3200" dirty="0"/>
          </a:p>
        </p:txBody>
      </p:sp>
      <p:sp>
        <p:nvSpPr>
          <p:cNvPr id="6" name="Shape 4"/>
          <p:cNvSpPr/>
          <p:nvPr/>
        </p:nvSpPr>
        <p:spPr>
          <a:xfrm>
            <a:off x="495148" y="1691640"/>
            <a:ext cx="3611880" cy="868680"/>
          </a:xfrm>
          <a:prstGeom prst="roundRect">
            <a:avLst>
              <a:gd name="adj" fmla="val 10526"/>
            </a:avLst>
          </a:prstGeom>
          <a:solidFill>
            <a:srgbClr val="EAF6EC"/>
          </a:solidFill>
          <a:ln w="12700">
            <a:solidFill>
              <a:srgbClr val="CFE8D2"/>
            </a:solidFill>
            <a:prstDash val="solid"/>
          </a:ln>
        </p:spPr>
      </p:sp>
      <p:sp>
        <p:nvSpPr>
          <p:cNvPr id="7" name="Shape 5"/>
          <p:cNvSpPr/>
          <p:nvPr/>
        </p:nvSpPr>
        <p:spPr>
          <a:xfrm>
            <a:off x="659740" y="1879092"/>
            <a:ext cx="493776" cy="493776"/>
          </a:xfrm>
          <a:prstGeom prst="ellipse">
            <a:avLst/>
          </a:prstGeom>
          <a:solidFill>
            <a:srgbClr val="1F7A3D"/>
          </a:solidFill>
          <a:ln/>
        </p:spPr>
      </p:sp>
      <p:pic>
        <p:nvPicPr>
          <p:cNvPr id="8" name="Image 0" descr="/home/claude/hydromet_ppt/icons/fingerprint.png">    </p:cNvPr>
          <p:cNvPicPr>
            <a:picLocks noChangeAspect="1"/>
          </p:cNvPicPr>
          <p:nvPr/>
        </p:nvPicPr>
        <p:blipFill>
          <a:blip r:embed="rId1"/>
          <a:stretch>
            <a:fillRect/>
          </a:stretch>
        </p:blipFill>
        <p:spPr>
          <a:xfrm>
            <a:off x="770839" y="1990192"/>
            <a:ext cx="271577" cy="271577"/>
          </a:xfrm>
          <a:prstGeom prst="rect">
            <a:avLst/>
          </a:prstGeom>
        </p:spPr>
      </p:pic>
      <p:sp>
        <p:nvSpPr>
          <p:cNvPr id="9" name="Text 6"/>
          <p:cNvSpPr txBox="1"/>
          <p:nvPr/>
        </p:nvSpPr>
        <p:spPr>
          <a:xfrm>
            <a:off x="1281532" y="1691640"/>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Deterministic request IDs</a:t>
            </a:r>
            <a:endParaRPr lang="en-US" sz="1450" dirty="0"/>
          </a:p>
        </p:txBody>
      </p:sp>
      <p:sp>
        <p:nvSpPr>
          <p:cNvPr id="10" name="Shape 7"/>
          <p:cNvSpPr/>
          <p:nvPr/>
        </p:nvSpPr>
        <p:spPr>
          <a:xfrm>
            <a:off x="4289908" y="1691640"/>
            <a:ext cx="3611880" cy="868680"/>
          </a:xfrm>
          <a:prstGeom prst="roundRect">
            <a:avLst>
              <a:gd name="adj" fmla="val 10526"/>
            </a:avLst>
          </a:prstGeom>
          <a:solidFill>
            <a:srgbClr val="EAF6EC"/>
          </a:solidFill>
          <a:ln w="12700">
            <a:solidFill>
              <a:srgbClr val="CFE8D2"/>
            </a:solidFill>
            <a:prstDash val="solid"/>
          </a:ln>
        </p:spPr>
      </p:sp>
      <p:sp>
        <p:nvSpPr>
          <p:cNvPr id="11" name="Shape 8"/>
          <p:cNvSpPr/>
          <p:nvPr/>
        </p:nvSpPr>
        <p:spPr>
          <a:xfrm>
            <a:off x="4454500" y="1879092"/>
            <a:ext cx="493776" cy="493776"/>
          </a:xfrm>
          <a:prstGeom prst="ellipse">
            <a:avLst/>
          </a:prstGeom>
          <a:solidFill>
            <a:srgbClr val="1F7A3D"/>
          </a:solidFill>
          <a:ln/>
        </p:spPr>
      </p:sp>
      <p:pic>
        <p:nvPicPr>
          <p:cNvPr id="12" name="Image 1" descr="/home/claude/hydromet_ppt/icons/clipboard.png">    </p:cNvPr>
          <p:cNvPicPr>
            <a:picLocks noChangeAspect="1"/>
          </p:cNvPicPr>
          <p:nvPr/>
        </p:nvPicPr>
        <p:blipFill>
          <a:blip r:embed="rId2"/>
          <a:stretch>
            <a:fillRect/>
          </a:stretch>
        </p:blipFill>
        <p:spPr>
          <a:xfrm>
            <a:off x="4565599" y="1990192"/>
            <a:ext cx="271577" cy="271577"/>
          </a:xfrm>
          <a:prstGeom prst="rect">
            <a:avLst/>
          </a:prstGeom>
        </p:spPr>
      </p:pic>
      <p:sp>
        <p:nvSpPr>
          <p:cNvPr id="13" name="Text 9"/>
          <p:cNvSpPr txBox="1"/>
          <p:nvPr/>
        </p:nvSpPr>
        <p:spPr>
          <a:xfrm>
            <a:off x="5076292" y="1691640"/>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Ingestion manifest</a:t>
            </a:r>
            <a:endParaRPr lang="en-US" sz="1450" dirty="0"/>
          </a:p>
        </p:txBody>
      </p:sp>
      <p:sp>
        <p:nvSpPr>
          <p:cNvPr id="14" name="Shape 10"/>
          <p:cNvSpPr/>
          <p:nvPr/>
        </p:nvSpPr>
        <p:spPr>
          <a:xfrm>
            <a:off x="8084668" y="1691640"/>
            <a:ext cx="3611880" cy="868680"/>
          </a:xfrm>
          <a:prstGeom prst="roundRect">
            <a:avLst>
              <a:gd name="adj" fmla="val 10526"/>
            </a:avLst>
          </a:prstGeom>
          <a:solidFill>
            <a:srgbClr val="EAF6EC"/>
          </a:solidFill>
          <a:ln w="12700">
            <a:solidFill>
              <a:srgbClr val="CFE8D2"/>
            </a:solidFill>
            <a:prstDash val="solid"/>
          </a:ln>
        </p:spPr>
      </p:sp>
      <p:sp>
        <p:nvSpPr>
          <p:cNvPr id="15" name="Shape 11"/>
          <p:cNvSpPr/>
          <p:nvPr/>
        </p:nvSpPr>
        <p:spPr>
          <a:xfrm>
            <a:off x="8249260" y="1879092"/>
            <a:ext cx="493776" cy="493776"/>
          </a:xfrm>
          <a:prstGeom prst="ellipse">
            <a:avLst/>
          </a:prstGeom>
          <a:solidFill>
            <a:srgbClr val="1F7A3D"/>
          </a:solidFill>
          <a:ln/>
        </p:spPr>
      </p:sp>
      <p:pic>
        <p:nvPicPr>
          <p:cNvPr id="16" name="Image 2" descr="/home/claude/hydromet_ppt/icons/layers.png">    </p:cNvPr>
          <p:cNvPicPr>
            <a:picLocks noChangeAspect="1"/>
          </p:cNvPicPr>
          <p:nvPr/>
        </p:nvPicPr>
        <p:blipFill>
          <a:blip r:embed="rId3"/>
          <a:stretch>
            <a:fillRect/>
          </a:stretch>
        </p:blipFill>
        <p:spPr>
          <a:xfrm>
            <a:off x="8360359" y="1990192"/>
            <a:ext cx="271577" cy="271577"/>
          </a:xfrm>
          <a:prstGeom prst="rect">
            <a:avLst/>
          </a:prstGeom>
        </p:spPr>
      </p:pic>
      <p:sp>
        <p:nvSpPr>
          <p:cNvPr id="17" name="Text 12"/>
          <p:cNvSpPr txBox="1"/>
          <p:nvPr/>
        </p:nvSpPr>
        <p:spPr>
          <a:xfrm>
            <a:off x="8871052" y="1691640"/>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Immutable raw-data preservation</a:t>
            </a:r>
            <a:endParaRPr lang="en-US" sz="1450" dirty="0"/>
          </a:p>
        </p:txBody>
      </p:sp>
      <p:sp>
        <p:nvSpPr>
          <p:cNvPr id="18" name="Shape 13"/>
          <p:cNvSpPr/>
          <p:nvPr/>
        </p:nvSpPr>
        <p:spPr>
          <a:xfrm>
            <a:off x="495148" y="2724912"/>
            <a:ext cx="3611880" cy="868680"/>
          </a:xfrm>
          <a:prstGeom prst="roundRect">
            <a:avLst>
              <a:gd name="adj" fmla="val 10526"/>
            </a:avLst>
          </a:prstGeom>
          <a:solidFill>
            <a:srgbClr val="EAF6EC"/>
          </a:solidFill>
          <a:ln w="12700">
            <a:solidFill>
              <a:srgbClr val="CFE8D2"/>
            </a:solidFill>
            <a:prstDash val="solid"/>
          </a:ln>
        </p:spPr>
      </p:sp>
      <p:sp>
        <p:nvSpPr>
          <p:cNvPr id="19" name="Shape 14"/>
          <p:cNvSpPr/>
          <p:nvPr/>
        </p:nvSpPr>
        <p:spPr>
          <a:xfrm>
            <a:off x="659740" y="2912364"/>
            <a:ext cx="493776" cy="493776"/>
          </a:xfrm>
          <a:prstGeom prst="ellipse">
            <a:avLst/>
          </a:prstGeom>
          <a:solidFill>
            <a:srgbClr val="1F7A3D"/>
          </a:solidFill>
          <a:ln/>
        </p:spPr>
      </p:sp>
      <p:pic>
        <p:nvPicPr>
          <p:cNvPr id="20" name="Image 3" descr="/home/claude/hydromet_ppt/icons/shield.png">    </p:cNvPr>
          <p:cNvPicPr>
            <a:picLocks noChangeAspect="1"/>
          </p:cNvPicPr>
          <p:nvPr/>
        </p:nvPicPr>
        <p:blipFill>
          <a:blip r:embed="rId4"/>
          <a:stretch>
            <a:fillRect/>
          </a:stretch>
        </p:blipFill>
        <p:spPr>
          <a:xfrm>
            <a:off x="770839" y="3023464"/>
            <a:ext cx="271577" cy="271577"/>
          </a:xfrm>
          <a:prstGeom prst="rect">
            <a:avLst/>
          </a:prstGeom>
        </p:spPr>
      </p:pic>
      <p:sp>
        <p:nvSpPr>
          <p:cNvPr id="21" name="Text 15"/>
          <p:cNvSpPr txBox="1"/>
          <p:nvPr/>
        </p:nvSpPr>
        <p:spPr>
          <a:xfrm>
            <a:off x="1281532" y="2724912"/>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SHA-256 integrity checks</a:t>
            </a:r>
            <a:endParaRPr lang="en-US" sz="1450" dirty="0"/>
          </a:p>
        </p:txBody>
      </p:sp>
      <p:sp>
        <p:nvSpPr>
          <p:cNvPr id="22" name="Shape 16"/>
          <p:cNvSpPr/>
          <p:nvPr/>
        </p:nvSpPr>
        <p:spPr>
          <a:xfrm>
            <a:off x="4289908" y="2724912"/>
            <a:ext cx="3611880" cy="868680"/>
          </a:xfrm>
          <a:prstGeom prst="roundRect">
            <a:avLst>
              <a:gd name="adj" fmla="val 10526"/>
            </a:avLst>
          </a:prstGeom>
          <a:solidFill>
            <a:srgbClr val="EAF6EC"/>
          </a:solidFill>
          <a:ln w="12700">
            <a:solidFill>
              <a:srgbClr val="CFE8D2"/>
            </a:solidFill>
            <a:prstDash val="solid"/>
          </a:ln>
        </p:spPr>
      </p:sp>
      <p:sp>
        <p:nvSpPr>
          <p:cNvPr id="23" name="Shape 17"/>
          <p:cNvSpPr/>
          <p:nvPr/>
        </p:nvSpPr>
        <p:spPr>
          <a:xfrm>
            <a:off x="4454500" y="2912364"/>
            <a:ext cx="493776" cy="493776"/>
          </a:xfrm>
          <a:prstGeom prst="ellipse">
            <a:avLst/>
          </a:prstGeom>
          <a:solidFill>
            <a:srgbClr val="1F7A3D"/>
          </a:solidFill>
          <a:ln/>
        </p:spPr>
      </p:sp>
      <p:pic>
        <p:nvPicPr>
          <p:cNvPr id="24" name="Image 4" descr="/home/claude/hydromet_ppt/icons/sync.png">    </p:cNvPr>
          <p:cNvPicPr>
            <a:picLocks noChangeAspect="1"/>
          </p:cNvPicPr>
          <p:nvPr/>
        </p:nvPicPr>
        <p:blipFill>
          <a:blip r:embed="rId5"/>
          <a:stretch>
            <a:fillRect/>
          </a:stretch>
        </p:blipFill>
        <p:spPr>
          <a:xfrm>
            <a:off x="4565599" y="3023464"/>
            <a:ext cx="271577" cy="271577"/>
          </a:xfrm>
          <a:prstGeom prst="rect">
            <a:avLst/>
          </a:prstGeom>
        </p:spPr>
      </p:pic>
      <p:sp>
        <p:nvSpPr>
          <p:cNvPr id="25" name="Text 18"/>
          <p:cNvSpPr txBox="1"/>
          <p:nvPr/>
        </p:nvSpPr>
        <p:spPr>
          <a:xfrm>
            <a:off x="5076292" y="2724912"/>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API retry + exponential backoff</a:t>
            </a:r>
            <a:endParaRPr lang="en-US" sz="1450" dirty="0"/>
          </a:p>
        </p:txBody>
      </p:sp>
      <p:sp>
        <p:nvSpPr>
          <p:cNvPr id="26" name="Shape 19"/>
          <p:cNvSpPr/>
          <p:nvPr/>
        </p:nvSpPr>
        <p:spPr>
          <a:xfrm>
            <a:off x="8084668" y="2724912"/>
            <a:ext cx="3611880" cy="868680"/>
          </a:xfrm>
          <a:prstGeom prst="roundRect">
            <a:avLst>
              <a:gd name="adj" fmla="val 10526"/>
            </a:avLst>
          </a:prstGeom>
          <a:solidFill>
            <a:srgbClr val="EAF6EC"/>
          </a:solidFill>
          <a:ln w="12700">
            <a:solidFill>
              <a:srgbClr val="CFE8D2"/>
            </a:solidFill>
            <a:prstDash val="solid"/>
          </a:ln>
        </p:spPr>
      </p:sp>
      <p:sp>
        <p:nvSpPr>
          <p:cNvPr id="27" name="Shape 20"/>
          <p:cNvSpPr/>
          <p:nvPr/>
        </p:nvSpPr>
        <p:spPr>
          <a:xfrm>
            <a:off x="8249260" y="2912364"/>
            <a:ext cx="493776" cy="493776"/>
          </a:xfrm>
          <a:prstGeom prst="ellipse">
            <a:avLst/>
          </a:prstGeom>
          <a:solidFill>
            <a:srgbClr val="1F7A3D"/>
          </a:solidFill>
          <a:ln/>
        </p:spPr>
      </p:sp>
      <p:pic>
        <p:nvPicPr>
          <p:cNvPr id="28" name="Image 5" descr="/home/claude/hydromet_ppt/icons/check.png">    </p:cNvPr>
          <p:cNvPicPr>
            <a:picLocks noChangeAspect="1"/>
          </p:cNvPicPr>
          <p:nvPr/>
        </p:nvPicPr>
        <p:blipFill>
          <a:blip r:embed="rId6"/>
          <a:stretch>
            <a:fillRect/>
          </a:stretch>
        </p:blipFill>
        <p:spPr>
          <a:xfrm>
            <a:off x="8360359" y="3023464"/>
            <a:ext cx="271577" cy="271577"/>
          </a:xfrm>
          <a:prstGeom prst="rect">
            <a:avLst/>
          </a:prstGeom>
        </p:spPr>
      </p:pic>
      <p:sp>
        <p:nvSpPr>
          <p:cNvPr id="29" name="Text 21"/>
          <p:cNvSpPr txBox="1"/>
          <p:nvPr/>
        </p:nvSpPr>
        <p:spPr>
          <a:xfrm>
            <a:off x="8871052" y="2724912"/>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Raw &amp; transformed validation</a:t>
            </a:r>
            <a:endParaRPr lang="en-US" sz="1450" dirty="0"/>
          </a:p>
        </p:txBody>
      </p:sp>
      <p:sp>
        <p:nvSpPr>
          <p:cNvPr id="30" name="Shape 22"/>
          <p:cNvSpPr/>
          <p:nvPr/>
        </p:nvSpPr>
        <p:spPr>
          <a:xfrm>
            <a:off x="495148" y="3758184"/>
            <a:ext cx="3611880" cy="868680"/>
          </a:xfrm>
          <a:prstGeom prst="roundRect">
            <a:avLst>
              <a:gd name="adj" fmla="val 10526"/>
            </a:avLst>
          </a:prstGeom>
          <a:solidFill>
            <a:srgbClr val="EAF6EC"/>
          </a:solidFill>
          <a:ln w="12700">
            <a:solidFill>
              <a:srgbClr val="CFE8D2"/>
            </a:solidFill>
            <a:prstDash val="solid"/>
          </a:ln>
        </p:spPr>
      </p:sp>
      <p:sp>
        <p:nvSpPr>
          <p:cNvPr id="31" name="Shape 23"/>
          <p:cNvSpPr/>
          <p:nvPr/>
        </p:nvSpPr>
        <p:spPr>
          <a:xfrm>
            <a:off x="659740" y="3945636"/>
            <a:ext cx="493776" cy="493776"/>
          </a:xfrm>
          <a:prstGeom prst="ellipse">
            <a:avLst/>
          </a:prstGeom>
          <a:solidFill>
            <a:srgbClr val="1F7A3D"/>
          </a:solidFill>
          <a:ln/>
        </p:spPr>
      </p:sp>
      <p:pic>
        <p:nvPicPr>
          <p:cNvPr id="32" name="Image 6" descr="/home/claude/hydromet_ppt/icons/table.png">    </p:cNvPr>
          <p:cNvPicPr>
            <a:picLocks noChangeAspect="1"/>
          </p:cNvPicPr>
          <p:nvPr/>
        </p:nvPicPr>
        <p:blipFill>
          <a:blip r:embed="rId7"/>
          <a:stretch>
            <a:fillRect/>
          </a:stretch>
        </p:blipFill>
        <p:spPr>
          <a:xfrm>
            <a:off x="770839" y="4056736"/>
            <a:ext cx="271577" cy="271577"/>
          </a:xfrm>
          <a:prstGeom prst="rect">
            <a:avLst/>
          </a:prstGeom>
        </p:spPr>
      </p:pic>
      <p:sp>
        <p:nvSpPr>
          <p:cNvPr id="33" name="Text 24"/>
          <p:cNvSpPr txBox="1"/>
          <p:nvPr/>
        </p:nvSpPr>
        <p:spPr>
          <a:xfrm>
            <a:off x="1281532" y="3758184"/>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Safe / temp-file writes</a:t>
            </a:r>
            <a:endParaRPr lang="en-US" sz="1450" dirty="0"/>
          </a:p>
        </p:txBody>
      </p:sp>
      <p:sp>
        <p:nvSpPr>
          <p:cNvPr id="34" name="Shape 25"/>
          <p:cNvSpPr/>
          <p:nvPr/>
        </p:nvSpPr>
        <p:spPr>
          <a:xfrm>
            <a:off x="4289908" y="3758184"/>
            <a:ext cx="3611880" cy="868680"/>
          </a:xfrm>
          <a:prstGeom prst="roundRect">
            <a:avLst>
              <a:gd name="adj" fmla="val 10526"/>
            </a:avLst>
          </a:prstGeom>
          <a:solidFill>
            <a:srgbClr val="EAF6EC"/>
          </a:solidFill>
          <a:ln w="12700">
            <a:solidFill>
              <a:srgbClr val="CFE8D2"/>
            </a:solidFill>
            <a:prstDash val="solid"/>
          </a:ln>
        </p:spPr>
      </p:sp>
      <p:sp>
        <p:nvSpPr>
          <p:cNvPr id="35" name="Shape 26"/>
          <p:cNvSpPr/>
          <p:nvPr/>
        </p:nvSpPr>
        <p:spPr>
          <a:xfrm>
            <a:off x="4454500" y="3945636"/>
            <a:ext cx="493776" cy="493776"/>
          </a:xfrm>
          <a:prstGeom prst="ellipse">
            <a:avLst/>
          </a:prstGeom>
          <a:solidFill>
            <a:srgbClr val="1F7A3D"/>
          </a:solidFill>
          <a:ln/>
        </p:spPr>
      </p:sp>
      <p:pic>
        <p:nvPicPr>
          <p:cNvPr id="36" name="Image 7" descr="/home/claude/hydromet_ppt/icons/warning.png">    </p:cNvPr>
          <p:cNvPicPr>
            <a:picLocks noChangeAspect="1"/>
          </p:cNvPicPr>
          <p:nvPr/>
        </p:nvPicPr>
        <p:blipFill>
          <a:blip r:embed="rId8"/>
          <a:stretch>
            <a:fillRect/>
          </a:stretch>
        </p:blipFill>
        <p:spPr>
          <a:xfrm>
            <a:off x="4565599" y="4056736"/>
            <a:ext cx="271577" cy="271577"/>
          </a:xfrm>
          <a:prstGeom prst="rect">
            <a:avLst/>
          </a:prstGeom>
        </p:spPr>
      </p:pic>
      <p:sp>
        <p:nvSpPr>
          <p:cNvPr id="37" name="Text 27"/>
          <p:cNvSpPr txBox="1"/>
          <p:nvPr/>
        </p:nvSpPr>
        <p:spPr>
          <a:xfrm>
            <a:off x="5076292" y="3758184"/>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Duplicate checks</a:t>
            </a:r>
            <a:endParaRPr lang="en-US" sz="1450" dirty="0"/>
          </a:p>
        </p:txBody>
      </p:sp>
      <p:sp>
        <p:nvSpPr>
          <p:cNvPr id="38" name="Shape 28"/>
          <p:cNvSpPr/>
          <p:nvPr/>
        </p:nvSpPr>
        <p:spPr>
          <a:xfrm>
            <a:off x="8084668" y="3758184"/>
            <a:ext cx="3611880" cy="868680"/>
          </a:xfrm>
          <a:prstGeom prst="roundRect">
            <a:avLst>
              <a:gd name="adj" fmla="val 10526"/>
            </a:avLst>
          </a:prstGeom>
          <a:solidFill>
            <a:srgbClr val="EAF6EC"/>
          </a:solidFill>
          <a:ln w="12700">
            <a:solidFill>
              <a:srgbClr val="CFE8D2"/>
            </a:solidFill>
            <a:prstDash val="solid"/>
          </a:ln>
        </p:spPr>
      </p:sp>
      <p:sp>
        <p:nvSpPr>
          <p:cNvPr id="39" name="Shape 29"/>
          <p:cNvSpPr/>
          <p:nvPr/>
        </p:nvSpPr>
        <p:spPr>
          <a:xfrm>
            <a:off x="8249260" y="3945636"/>
            <a:ext cx="493776" cy="493776"/>
          </a:xfrm>
          <a:prstGeom prst="ellipse">
            <a:avLst/>
          </a:prstGeom>
          <a:solidFill>
            <a:srgbClr val="1F7A3D"/>
          </a:solidFill>
          <a:ln/>
        </p:spPr>
      </p:sp>
      <p:pic>
        <p:nvPicPr>
          <p:cNvPr id="40" name="Image 8" descr="/home/claude/hydromet_ppt/icons/database.png">    </p:cNvPr>
          <p:cNvPicPr>
            <a:picLocks noChangeAspect="1"/>
          </p:cNvPicPr>
          <p:nvPr/>
        </p:nvPicPr>
        <p:blipFill>
          <a:blip r:embed="rId9"/>
          <a:stretch>
            <a:fillRect/>
          </a:stretch>
        </p:blipFill>
        <p:spPr>
          <a:xfrm>
            <a:off x="8360359" y="4056736"/>
            <a:ext cx="271577" cy="271577"/>
          </a:xfrm>
          <a:prstGeom prst="rect">
            <a:avLst/>
          </a:prstGeom>
        </p:spPr>
      </p:pic>
      <p:sp>
        <p:nvSpPr>
          <p:cNvPr id="41" name="Text 30"/>
          <p:cNvSpPr txBox="1"/>
          <p:nvPr/>
        </p:nvSpPr>
        <p:spPr>
          <a:xfrm>
            <a:off x="8871052" y="3758184"/>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Cached raw-data reuse</a:t>
            </a:r>
            <a:endParaRPr lang="en-US" sz="1450" dirty="0"/>
          </a:p>
        </p:txBody>
      </p:sp>
      <p:sp>
        <p:nvSpPr>
          <p:cNvPr id="42" name="Shape 31"/>
          <p:cNvSpPr/>
          <p:nvPr/>
        </p:nvSpPr>
        <p:spPr>
          <a:xfrm>
            <a:off x="495148" y="4791456"/>
            <a:ext cx="3611880" cy="868680"/>
          </a:xfrm>
          <a:prstGeom prst="roundRect">
            <a:avLst>
              <a:gd name="adj" fmla="val 10526"/>
            </a:avLst>
          </a:prstGeom>
          <a:solidFill>
            <a:srgbClr val="EAF6EC"/>
          </a:solidFill>
          <a:ln w="12700">
            <a:solidFill>
              <a:srgbClr val="CFE8D2"/>
            </a:solidFill>
            <a:prstDash val="solid"/>
          </a:ln>
        </p:spPr>
      </p:sp>
      <p:sp>
        <p:nvSpPr>
          <p:cNvPr id="43" name="Shape 32"/>
          <p:cNvSpPr/>
          <p:nvPr/>
        </p:nvSpPr>
        <p:spPr>
          <a:xfrm>
            <a:off x="659740" y="4978908"/>
            <a:ext cx="493776" cy="493776"/>
          </a:xfrm>
          <a:prstGeom prst="ellipse">
            <a:avLst/>
          </a:prstGeom>
          <a:solidFill>
            <a:srgbClr val="1F7A3D"/>
          </a:solidFill>
          <a:ln/>
        </p:spPr>
      </p:sp>
      <p:pic>
        <p:nvPicPr>
          <p:cNvPr id="44" name="Image 9" descr="/home/claude/hydromet_ppt/icons/listol.png">    </p:cNvPr>
          <p:cNvPicPr>
            <a:picLocks noChangeAspect="1"/>
          </p:cNvPicPr>
          <p:nvPr/>
        </p:nvPicPr>
        <p:blipFill>
          <a:blip r:embed="rId10"/>
          <a:stretch>
            <a:fillRect/>
          </a:stretch>
        </p:blipFill>
        <p:spPr>
          <a:xfrm>
            <a:off x="770839" y="5090008"/>
            <a:ext cx="271577" cy="271577"/>
          </a:xfrm>
          <a:prstGeom prst="rect">
            <a:avLst/>
          </a:prstGeom>
        </p:spPr>
      </p:pic>
      <p:sp>
        <p:nvSpPr>
          <p:cNvPr id="45" name="Text 33"/>
          <p:cNvSpPr txBox="1"/>
          <p:nvPr/>
        </p:nvSpPr>
        <p:spPr>
          <a:xfrm>
            <a:off x="1281532" y="4791456"/>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Logging</a:t>
            </a:r>
            <a:endParaRPr lang="en-US" sz="1450" dirty="0"/>
          </a:p>
        </p:txBody>
      </p:sp>
      <p:sp>
        <p:nvSpPr>
          <p:cNvPr id="46" name="Shape 34"/>
          <p:cNvSpPr/>
          <p:nvPr/>
        </p:nvSpPr>
        <p:spPr>
          <a:xfrm>
            <a:off x="4289908" y="4791456"/>
            <a:ext cx="3611880" cy="868680"/>
          </a:xfrm>
          <a:prstGeom prst="roundRect">
            <a:avLst>
              <a:gd name="adj" fmla="val 10526"/>
            </a:avLst>
          </a:prstGeom>
          <a:solidFill>
            <a:srgbClr val="EAF6EC"/>
          </a:solidFill>
          <a:ln w="12700">
            <a:solidFill>
              <a:srgbClr val="CFE8D2"/>
            </a:solidFill>
            <a:prstDash val="solid"/>
          </a:ln>
        </p:spPr>
      </p:sp>
      <p:sp>
        <p:nvSpPr>
          <p:cNvPr id="47" name="Shape 35"/>
          <p:cNvSpPr/>
          <p:nvPr/>
        </p:nvSpPr>
        <p:spPr>
          <a:xfrm>
            <a:off x="4454500" y="4978908"/>
            <a:ext cx="493776" cy="493776"/>
          </a:xfrm>
          <a:prstGeom prst="ellipse">
            <a:avLst/>
          </a:prstGeom>
          <a:solidFill>
            <a:srgbClr val="1F7A3D"/>
          </a:solidFill>
          <a:ln/>
        </p:spPr>
      </p:sp>
      <p:pic>
        <p:nvPicPr>
          <p:cNvPr id="48" name="Image 10" descr="/home/claude/hydromet_ppt/icons/balance.png">    </p:cNvPr>
          <p:cNvPicPr>
            <a:picLocks noChangeAspect="1"/>
          </p:cNvPicPr>
          <p:nvPr/>
        </p:nvPicPr>
        <p:blipFill>
          <a:blip r:embed="rId11"/>
          <a:stretch>
            <a:fillRect/>
          </a:stretch>
        </p:blipFill>
        <p:spPr>
          <a:xfrm>
            <a:off x="4565599" y="5090008"/>
            <a:ext cx="271577" cy="271577"/>
          </a:xfrm>
          <a:prstGeom prst="rect">
            <a:avLst/>
          </a:prstGeom>
        </p:spPr>
      </p:pic>
      <p:sp>
        <p:nvSpPr>
          <p:cNvPr id="49" name="Text 36"/>
          <p:cNvSpPr txBox="1"/>
          <p:nvPr/>
        </p:nvSpPr>
        <p:spPr>
          <a:xfrm>
            <a:off x="5076292" y="4791456"/>
            <a:ext cx="2697480" cy="868680"/>
          </a:xfrm>
          <a:prstGeom prst="rect">
            <a:avLst/>
          </a:prstGeom>
          <a:noFill/>
          <a:ln/>
        </p:spPr>
        <p:txBody>
          <a:bodyPr wrap="square" lIns="0" tIns="0" rIns="0" bIns="0" rtlCol="0" anchor="ctr"/>
          <a:lstStyle/>
          <a:p>
            <a:pPr indent="0" marL="0">
              <a:lnSpc>
                <a:spcPct val="105000"/>
              </a:lnSpc>
              <a:buNone/>
            </a:pPr>
            <a:r>
              <a:rPr lang="en-US" sz="1450" b="1" dirty="0">
                <a:solidFill>
                  <a:srgbClr val="17241C"/>
                </a:solidFill>
                <a:latin typeface="Calibri" pitchFamily="34" charset="0"/>
                <a:ea typeface="Calibri" pitchFamily="34" charset="-122"/>
                <a:cs typeface="Calibri" pitchFamily="34" charset="-120"/>
              </a:rPr>
              <a:t>Automated tests</a:t>
            </a:r>
            <a:endParaRPr lang="en-US" sz="1450" dirty="0"/>
          </a:p>
        </p:txBody>
      </p:sp>
      <p:sp>
        <p:nvSpPr>
          <p:cNvPr id="50" name="Shape 37"/>
          <p:cNvSpPr/>
          <p:nvPr/>
        </p:nvSpPr>
        <p:spPr>
          <a:xfrm>
            <a:off x="495148" y="5934456"/>
            <a:ext cx="11201400" cy="457200"/>
          </a:xfrm>
          <a:prstGeom prst="roundRect">
            <a:avLst>
              <a:gd name="adj" fmla="val 20000"/>
            </a:avLst>
          </a:prstGeom>
          <a:solidFill>
            <a:srgbClr val="FFFFFF"/>
          </a:solidFill>
          <a:ln w="15240">
            <a:solidFill>
              <a:srgbClr val="D9A441"/>
            </a:solidFill>
            <a:prstDash val="solid"/>
          </a:ln>
        </p:spPr>
      </p:sp>
      <p:sp>
        <p:nvSpPr>
          <p:cNvPr id="51" name="Text 38"/>
          <p:cNvSpPr txBox="1"/>
          <p:nvPr/>
        </p:nvSpPr>
        <p:spPr>
          <a:xfrm>
            <a:off x="678028" y="5934456"/>
            <a:ext cx="10835640" cy="457200"/>
          </a:xfrm>
          <a:prstGeom prst="rect">
            <a:avLst/>
          </a:prstGeom>
          <a:noFill/>
          <a:ln/>
        </p:spPr>
        <p:txBody>
          <a:bodyPr wrap="square" lIns="0" tIns="0" rIns="0" bIns="0" rtlCol="0" anchor="ctr"/>
          <a:lstStyle/>
          <a:p>
            <a:pPr indent="0" marL="0">
              <a:buNone/>
            </a:pPr>
            <a:r>
              <a:rPr lang="en-US" sz="1300" dirty="0">
                <a:solidFill>
                  <a:srgbClr val="5C6B63"/>
                </a:solidFill>
                <a:latin typeface="Calibri" pitchFamily="34" charset="0"/>
                <a:ea typeface="Calibri" pitchFamily="34" charset="-122"/>
                <a:cs typeface="Calibri" pitchFamily="34" charset="-120"/>
              </a:rPr>
              <a:t>Raw layer preserved at </a:t>
            </a:r>
            <a:pPr indent="0" marL="0">
              <a:buNone/>
            </a:pPr>
            <a:r>
              <a:rPr lang="en-US" sz="1300" b="1" dirty="0">
                <a:solidFill>
                  <a:srgbClr val="0F3320"/>
                </a:solidFill>
                <a:latin typeface="Courier New" pitchFamily="34" charset="0"/>
                <a:ea typeface="Courier New" pitchFamily="34" charset="-122"/>
                <a:cs typeface="Courier New" pitchFamily="34" charset="-120"/>
              </a:rPr>
              <a:t>data/raw/nasa_power/</a:t>
            </a:r>
            <a:pPr indent="0" marL="0">
              <a:buNone/>
            </a:pPr>
            <a:r>
              <a:rPr lang="en-US" sz="1300" dirty="0">
                <a:solidFill>
                  <a:srgbClr val="5C6B63"/>
                </a:solidFill>
                <a:latin typeface="Calibri" pitchFamily="34" charset="0"/>
                <a:ea typeface="Calibri" pitchFamily="34" charset="-122"/>
                <a:cs typeface="Calibri" pitchFamily="34" charset="-120"/>
              </a:rPr>
              <a:t> — treated as source evidence, not a temp file.</a:t>
            </a:r>
            <a:endParaRPr lang="en-US" sz="1300" dirty="0"/>
          </a:p>
        </p:txBody>
      </p:sp>
      <p:sp>
        <p:nvSpPr>
          <p:cNvPr id="52" name="Text 39"/>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17 / 23</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3</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IDEMPOTENT DATA INGESTION</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Provenance: IDs, Manifest &amp; Checksums</a:t>
            </a:r>
            <a:endParaRPr lang="en-US" sz="3200" dirty="0"/>
          </a:p>
        </p:txBody>
      </p:sp>
      <p:sp>
        <p:nvSpPr>
          <p:cNvPr id="6" name="Shape 4"/>
          <p:cNvSpPr/>
          <p:nvPr/>
        </p:nvSpPr>
        <p:spPr>
          <a:xfrm>
            <a:off x="476860" y="1783080"/>
            <a:ext cx="3611880" cy="4617720"/>
          </a:xfrm>
          <a:prstGeom prst="roundRect">
            <a:avLst>
              <a:gd name="adj" fmla="val 3038"/>
            </a:avLst>
          </a:prstGeom>
          <a:solidFill>
            <a:srgbClr val="EAF6EC"/>
          </a:solidFill>
          <a:ln w="12700">
            <a:solidFill>
              <a:srgbClr val="CFE8D2"/>
            </a:solidFill>
            <a:prstDash val="solid"/>
          </a:ln>
        </p:spPr>
      </p:sp>
      <p:sp>
        <p:nvSpPr>
          <p:cNvPr id="7" name="Shape 5"/>
          <p:cNvSpPr/>
          <p:nvPr/>
        </p:nvSpPr>
        <p:spPr>
          <a:xfrm>
            <a:off x="2026768" y="1965960"/>
            <a:ext cx="512064" cy="512064"/>
          </a:xfrm>
          <a:prstGeom prst="ellipse">
            <a:avLst/>
          </a:prstGeom>
          <a:solidFill>
            <a:srgbClr val="1F7A3D"/>
          </a:solidFill>
          <a:ln/>
        </p:spPr>
      </p:sp>
      <p:pic>
        <p:nvPicPr>
          <p:cNvPr id="8" name="Image 0" descr="/home/claude/hydromet_ppt/icons/fingerprint.png">    </p:cNvPr>
          <p:cNvPicPr>
            <a:picLocks noChangeAspect="1"/>
          </p:cNvPicPr>
          <p:nvPr/>
        </p:nvPicPr>
        <p:blipFill>
          <a:blip r:embed="rId1"/>
          <a:stretch>
            <a:fillRect/>
          </a:stretch>
        </p:blipFill>
        <p:spPr>
          <a:xfrm>
            <a:off x="2141982" y="2081174"/>
            <a:ext cx="281635" cy="281635"/>
          </a:xfrm>
          <a:prstGeom prst="rect">
            <a:avLst/>
          </a:prstGeom>
        </p:spPr>
      </p:pic>
      <p:sp>
        <p:nvSpPr>
          <p:cNvPr id="9" name="Text 6"/>
          <p:cNvSpPr txBox="1"/>
          <p:nvPr/>
        </p:nvSpPr>
        <p:spPr>
          <a:xfrm>
            <a:off x="568300" y="2606040"/>
            <a:ext cx="3429000" cy="594360"/>
          </a:xfrm>
          <a:prstGeom prst="rect">
            <a:avLst/>
          </a:prstGeom>
          <a:noFill/>
          <a:ln/>
        </p:spPr>
        <p:txBody>
          <a:bodyPr wrap="square" lIns="0" tIns="0" rIns="0" bIns="0" rtlCol="0" anchor="ctr"/>
          <a:lstStyle/>
          <a:p>
            <a:pPr algn="ctr" indent="0" marL="0">
              <a:lnSpc>
                <a:spcPct val="105000"/>
              </a:lnSpc>
              <a:buNone/>
            </a:pPr>
            <a:r>
              <a:rPr lang="en-US" sz="1600" b="1" dirty="0">
                <a:solidFill>
                  <a:srgbClr val="0F3320"/>
                </a:solidFill>
                <a:latin typeface="Cambria" pitchFamily="34" charset="0"/>
                <a:ea typeface="Cambria" pitchFamily="34" charset="-122"/>
                <a:cs typeface="Cambria" pitchFamily="34" charset="-120"/>
              </a:rPr>
              <a:t>Deterministic</a:t>
            </a:r>
            <a:endParaRPr lang="en-US" sz="1600" dirty="0"/>
          </a:p>
          <a:p>
            <a:pPr algn="ctr" indent="0" marL="0">
              <a:lnSpc>
                <a:spcPct val="105000"/>
              </a:lnSpc>
              <a:buNone/>
            </a:pPr>
            <a:r>
              <a:rPr lang="en-US" sz="1600" b="1" dirty="0">
                <a:solidFill>
                  <a:srgbClr val="0F3320"/>
                </a:solidFill>
                <a:latin typeface="Cambria" pitchFamily="34" charset="0"/>
                <a:ea typeface="Cambria" pitchFamily="34" charset="-122"/>
                <a:cs typeface="Cambria" pitchFamily="34" charset="-120"/>
              </a:rPr>
              <a:t>Request IDs</a:t>
            </a:r>
            <a:endParaRPr lang="en-US" sz="1600" dirty="0"/>
          </a:p>
        </p:txBody>
      </p:sp>
      <p:sp>
        <p:nvSpPr>
          <p:cNvPr id="10" name="Text 7"/>
          <p:cNvSpPr txBox="1"/>
          <p:nvPr/>
        </p:nvSpPr>
        <p:spPr>
          <a:xfrm>
            <a:off x="705460" y="3246120"/>
            <a:ext cx="3154680" cy="685800"/>
          </a:xfrm>
          <a:prstGeom prst="rect">
            <a:avLst/>
          </a:prstGeom>
          <a:noFill/>
          <a:ln/>
        </p:spPr>
        <p:txBody>
          <a:bodyPr wrap="square" lIns="0" tIns="0" rIns="0" bIns="0" rtlCol="0" anchor="ctr"/>
          <a:lstStyle/>
          <a:p>
            <a:pPr algn="ctr" indent="0" marL="0">
              <a:lnSpc>
                <a:spcPct val="110000"/>
              </a:lnSpc>
              <a:buNone/>
            </a:pPr>
            <a:r>
              <a:rPr lang="en-US" sz="1250" dirty="0">
                <a:solidFill>
                  <a:srgbClr val="17241C"/>
                </a:solidFill>
                <a:latin typeface="Calibri" pitchFamily="34" charset="0"/>
                <a:ea typeface="Calibri" pitchFamily="34" charset="-122"/>
                <a:cs typeface="Calibri" pitchFamily="34" charset="-120"/>
              </a:rPr>
              <a:t>Derived from: source, location, coordinates, date range, parameters.</a:t>
            </a:r>
            <a:endParaRPr lang="en-US" sz="1250" dirty="0"/>
          </a:p>
        </p:txBody>
      </p:sp>
      <p:sp>
        <p:nvSpPr>
          <p:cNvPr id="11" name="Shape 8"/>
          <p:cNvSpPr/>
          <p:nvPr/>
        </p:nvSpPr>
        <p:spPr>
          <a:xfrm>
            <a:off x="678028" y="4069080"/>
            <a:ext cx="3209544" cy="384048"/>
          </a:xfrm>
          <a:prstGeom prst="roundRect">
            <a:avLst>
              <a:gd name="adj" fmla="val 50000"/>
            </a:avLst>
          </a:prstGeom>
          <a:solidFill>
            <a:srgbClr val="FFFFFF"/>
          </a:solidFill>
          <a:ln/>
        </p:spPr>
      </p:sp>
      <p:sp>
        <p:nvSpPr>
          <p:cNvPr id="12" name="Text 9"/>
          <p:cNvSpPr txBox="1"/>
          <p:nvPr/>
        </p:nvSpPr>
        <p:spPr>
          <a:xfrm>
            <a:off x="723748" y="4069080"/>
            <a:ext cx="3118104" cy="384048"/>
          </a:xfrm>
          <a:prstGeom prst="rect">
            <a:avLst/>
          </a:prstGeom>
          <a:noFill/>
          <a:ln/>
        </p:spPr>
        <p:txBody>
          <a:bodyPr wrap="square" lIns="0" tIns="0" rIns="0" bIns="0" rtlCol="0" anchor="ctr"/>
          <a:lstStyle/>
          <a:p>
            <a:pPr algn="ctr" indent="0" marL="0">
              <a:buNone/>
            </a:pPr>
            <a:r>
              <a:rPr lang="en-US" sz="1050" b="1" dirty="0">
                <a:solidFill>
                  <a:srgbClr val="175C2E"/>
                </a:solidFill>
                <a:latin typeface="Calibri" pitchFamily="34" charset="0"/>
                <a:ea typeface="Calibri" pitchFamily="34" charset="-122"/>
                <a:cs typeface="Calibri" pitchFamily="34" charset="-120"/>
              </a:rPr>
              <a:t>Arusha: 119dcc628fbe824b</a:t>
            </a:r>
            <a:endParaRPr lang="en-US" sz="1050" dirty="0"/>
          </a:p>
        </p:txBody>
      </p:sp>
      <p:sp>
        <p:nvSpPr>
          <p:cNvPr id="13" name="Shape 10"/>
          <p:cNvSpPr/>
          <p:nvPr/>
        </p:nvSpPr>
        <p:spPr>
          <a:xfrm>
            <a:off x="678028" y="4526280"/>
            <a:ext cx="3209544" cy="384048"/>
          </a:xfrm>
          <a:prstGeom prst="roundRect">
            <a:avLst>
              <a:gd name="adj" fmla="val 50000"/>
            </a:avLst>
          </a:prstGeom>
          <a:solidFill>
            <a:srgbClr val="FFFFFF"/>
          </a:solidFill>
          <a:ln/>
        </p:spPr>
      </p:sp>
      <p:sp>
        <p:nvSpPr>
          <p:cNvPr id="14" name="Text 11"/>
          <p:cNvSpPr txBox="1"/>
          <p:nvPr/>
        </p:nvSpPr>
        <p:spPr>
          <a:xfrm>
            <a:off x="723748" y="4526280"/>
            <a:ext cx="3118104" cy="384048"/>
          </a:xfrm>
          <a:prstGeom prst="rect">
            <a:avLst/>
          </a:prstGeom>
          <a:noFill/>
          <a:ln/>
        </p:spPr>
        <p:txBody>
          <a:bodyPr wrap="square" lIns="0" tIns="0" rIns="0" bIns="0" rtlCol="0" anchor="ctr"/>
          <a:lstStyle/>
          <a:p>
            <a:pPr algn="ctr" indent="0" marL="0">
              <a:buNone/>
            </a:pPr>
            <a:r>
              <a:rPr lang="en-US" sz="1050" b="1" dirty="0">
                <a:solidFill>
                  <a:srgbClr val="175C2E"/>
                </a:solidFill>
                <a:latin typeface="Calibri" pitchFamily="34" charset="0"/>
                <a:ea typeface="Calibri" pitchFamily="34" charset="-122"/>
                <a:cs typeface="Calibri" pitchFamily="34" charset="-120"/>
              </a:rPr>
              <a:t>Dodoma: be30bb749451583a</a:t>
            </a:r>
            <a:endParaRPr lang="en-US" sz="1050" dirty="0"/>
          </a:p>
        </p:txBody>
      </p:sp>
      <p:sp>
        <p:nvSpPr>
          <p:cNvPr id="15" name="Shape 12"/>
          <p:cNvSpPr/>
          <p:nvPr/>
        </p:nvSpPr>
        <p:spPr>
          <a:xfrm>
            <a:off x="678028" y="4983480"/>
            <a:ext cx="3209544" cy="384048"/>
          </a:xfrm>
          <a:prstGeom prst="roundRect">
            <a:avLst>
              <a:gd name="adj" fmla="val 50000"/>
            </a:avLst>
          </a:prstGeom>
          <a:solidFill>
            <a:srgbClr val="FFFFFF"/>
          </a:solidFill>
          <a:ln/>
        </p:spPr>
      </p:sp>
      <p:sp>
        <p:nvSpPr>
          <p:cNvPr id="16" name="Text 13"/>
          <p:cNvSpPr txBox="1"/>
          <p:nvPr/>
        </p:nvSpPr>
        <p:spPr>
          <a:xfrm>
            <a:off x="723748" y="4983480"/>
            <a:ext cx="3118104" cy="384048"/>
          </a:xfrm>
          <a:prstGeom prst="rect">
            <a:avLst/>
          </a:prstGeom>
          <a:noFill/>
          <a:ln/>
        </p:spPr>
        <p:txBody>
          <a:bodyPr wrap="square" lIns="0" tIns="0" rIns="0" bIns="0" rtlCol="0" anchor="ctr"/>
          <a:lstStyle/>
          <a:p>
            <a:pPr algn="ctr" indent="0" marL="0">
              <a:buNone/>
            </a:pPr>
            <a:r>
              <a:rPr lang="en-US" sz="1050" b="1" dirty="0">
                <a:solidFill>
                  <a:srgbClr val="175C2E"/>
                </a:solidFill>
                <a:latin typeface="Calibri" pitchFamily="34" charset="0"/>
                <a:ea typeface="Calibri" pitchFamily="34" charset="-122"/>
                <a:cs typeface="Calibri" pitchFamily="34" charset="-120"/>
              </a:rPr>
              <a:t>Mbeya: 99723df07c4bb3c1</a:t>
            </a:r>
            <a:endParaRPr lang="en-US" sz="1050" dirty="0"/>
          </a:p>
        </p:txBody>
      </p:sp>
      <p:sp>
        <p:nvSpPr>
          <p:cNvPr id="17" name="Text 14"/>
          <p:cNvSpPr txBox="1"/>
          <p:nvPr/>
        </p:nvSpPr>
        <p:spPr>
          <a:xfrm>
            <a:off x="659740" y="5577840"/>
            <a:ext cx="3246120" cy="685800"/>
          </a:xfrm>
          <a:prstGeom prst="rect">
            <a:avLst/>
          </a:prstGeom>
          <a:noFill/>
          <a:ln/>
        </p:spPr>
        <p:txBody>
          <a:bodyPr wrap="square" lIns="0" tIns="0" rIns="0" bIns="0" rtlCol="0" anchor="ctr"/>
          <a:lstStyle/>
          <a:p>
            <a:pPr algn="ctr" indent="0" marL="0">
              <a:lnSpc>
                <a:spcPct val="110000"/>
              </a:lnSpc>
              <a:buNone/>
            </a:pPr>
            <a:r>
              <a:rPr lang="en-US" sz="1200" i="1" dirty="0">
                <a:solidFill>
                  <a:srgbClr val="5C6B63"/>
                </a:solidFill>
                <a:latin typeface="Calibri" pitchFamily="34" charset="0"/>
                <a:ea typeface="Calibri" pitchFamily="34" charset="-122"/>
                <a:cs typeface="Calibri" pitchFamily="34" charset="-120"/>
              </a:rPr>
              <a:t>Same inputs → same ID.</a:t>
            </a:r>
            <a:endParaRPr lang="en-US" sz="1200" dirty="0"/>
          </a:p>
          <a:p>
            <a:pPr algn="ctr" indent="0" marL="0">
              <a:lnSpc>
                <a:spcPct val="110000"/>
              </a:lnSpc>
              <a:buNone/>
            </a:pPr>
            <a:r>
              <a:rPr lang="en-US" sz="1200" i="1" dirty="0">
                <a:solidFill>
                  <a:srgbClr val="5C6B63"/>
                </a:solidFill>
                <a:latin typeface="Calibri" pitchFamily="34" charset="0"/>
                <a:ea typeface="Calibri" pitchFamily="34" charset="-122"/>
                <a:cs typeface="Calibri" pitchFamily="34" charset="-120"/>
              </a:rPr>
              <a:t>Changed inputs → different ID.</a:t>
            </a:r>
            <a:endParaRPr lang="en-US" sz="1200" dirty="0"/>
          </a:p>
        </p:txBody>
      </p:sp>
      <p:sp>
        <p:nvSpPr>
          <p:cNvPr id="18" name="Shape 15"/>
          <p:cNvSpPr/>
          <p:nvPr/>
        </p:nvSpPr>
        <p:spPr>
          <a:xfrm>
            <a:off x="4289908" y="1783080"/>
            <a:ext cx="3611880" cy="4617720"/>
          </a:xfrm>
          <a:prstGeom prst="roundRect">
            <a:avLst>
              <a:gd name="adj" fmla="val 3038"/>
            </a:avLst>
          </a:prstGeom>
          <a:solidFill>
            <a:srgbClr val="EAF6EC"/>
          </a:solidFill>
          <a:ln w="12700">
            <a:solidFill>
              <a:srgbClr val="CFE8D2"/>
            </a:solidFill>
            <a:prstDash val="solid"/>
          </a:ln>
        </p:spPr>
      </p:sp>
      <p:sp>
        <p:nvSpPr>
          <p:cNvPr id="19" name="Shape 16"/>
          <p:cNvSpPr/>
          <p:nvPr/>
        </p:nvSpPr>
        <p:spPr>
          <a:xfrm>
            <a:off x="5839816" y="1965960"/>
            <a:ext cx="512064" cy="512064"/>
          </a:xfrm>
          <a:prstGeom prst="ellipse">
            <a:avLst/>
          </a:prstGeom>
          <a:solidFill>
            <a:srgbClr val="1F7A3D"/>
          </a:solidFill>
          <a:ln/>
        </p:spPr>
      </p:sp>
      <p:pic>
        <p:nvPicPr>
          <p:cNvPr id="20" name="Image 1" descr="/home/claude/hydromet_ppt/icons/clipboard.png">    </p:cNvPr>
          <p:cNvPicPr>
            <a:picLocks noChangeAspect="1"/>
          </p:cNvPicPr>
          <p:nvPr/>
        </p:nvPicPr>
        <p:blipFill>
          <a:blip r:embed="rId2"/>
          <a:stretch>
            <a:fillRect/>
          </a:stretch>
        </p:blipFill>
        <p:spPr>
          <a:xfrm>
            <a:off x="5955030" y="2081174"/>
            <a:ext cx="281635" cy="281635"/>
          </a:xfrm>
          <a:prstGeom prst="rect">
            <a:avLst/>
          </a:prstGeom>
        </p:spPr>
      </p:pic>
      <p:sp>
        <p:nvSpPr>
          <p:cNvPr id="21" name="Text 17"/>
          <p:cNvSpPr txBox="1"/>
          <p:nvPr/>
        </p:nvSpPr>
        <p:spPr>
          <a:xfrm>
            <a:off x="4381348" y="2606040"/>
            <a:ext cx="3429000" cy="594360"/>
          </a:xfrm>
          <a:prstGeom prst="rect">
            <a:avLst/>
          </a:prstGeom>
          <a:noFill/>
          <a:ln/>
        </p:spPr>
        <p:txBody>
          <a:bodyPr wrap="square" lIns="0" tIns="0" rIns="0" bIns="0" rtlCol="0" anchor="ctr"/>
          <a:lstStyle/>
          <a:p>
            <a:pPr algn="ctr" indent="0" marL="0">
              <a:lnSpc>
                <a:spcPct val="105000"/>
              </a:lnSpc>
              <a:buNone/>
            </a:pPr>
            <a:r>
              <a:rPr lang="en-US" sz="1600" b="1" dirty="0">
                <a:solidFill>
                  <a:srgbClr val="0F3320"/>
                </a:solidFill>
                <a:latin typeface="Cambria" pitchFamily="34" charset="0"/>
                <a:ea typeface="Cambria" pitchFamily="34" charset="-122"/>
                <a:cs typeface="Cambria" pitchFamily="34" charset="-120"/>
              </a:rPr>
              <a:t>Ingestion</a:t>
            </a:r>
            <a:endParaRPr lang="en-US" sz="1600" dirty="0"/>
          </a:p>
          <a:p>
            <a:pPr algn="ctr" indent="0" marL="0">
              <a:lnSpc>
                <a:spcPct val="105000"/>
              </a:lnSpc>
              <a:buNone/>
            </a:pPr>
            <a:r>
              <a:rPr lang="en-US" sz="1600" b="1" dirty="0">
                <a:solidFill>
                  <a:srgbClr val="0F3320"/>
                </a:solidFill>
                <a:latin typeface="Cambria" pitchFamily="34" charset="0"/>
                <a:ea typeface="Cambria" pitchFamily="34" charset="-122"/>
                <a:cs typeface="Cambria" pitchFamily="34" charset="-120"/>
              </a:rPr>
              <a:t>Manifest</a:t>
            </a:r>
            <a:endParaRPr lang="en-US" sz="1600" dirty="0"/>
          </a:p>
        </p:txBody>
      </p:sp>
      <p:sp>
        <p:nvSpPr>
          <p:cNvPr id="22" name="Shape 18"/>
          <p:cNvSpPr/>
          <p:nvPr/>
        </p:nvSpPr>
        <p:spPr>
          <a:xfrm>
            <a:off x="4472788" y="3200400"/>
            <a:ext cx="3246120" cy="365760"/>
          </a:xfrm>
          <a:prstGeom prst="roundRect">
            <a:avLst>
              <a:gd name="adj" fmla="val 50000"/>
            </a:avLst>
          </a:prstGeom>
          <a:solidFill>
            <a:srgbClr val="FFFFFF"/>
          </a:solidFill>
          <a:ln/>
        </p:spPr>
      </p:sp>
      <p:sp>
        <p:nvSpPr>
          <p:cNvPr id="23" name="Text 19"/>
          <p:cNvSpPr txBox="1"/>
          <p:nvPr/>
        </p:nvSpPr>
        <p:spPr>
          <a:xfrm>
            <a:off x="4518508" y="3200400"/>
            <a:ext cx="3154680" cy="365760"/>
          </a:xfrm>
          <a:prstGeom prst="rect">
            <a:avLst/>
          </a:prstGeom>
          <a:noFill/>
          <a:ln/>
        </p:spPr>
        <p:txBody>
          <a:bodyPr wrap="square" lIns="0" tIns="0" rIns="0" bIns="0" rtlCol="0" anchor="ctr"/>
          <a:lstStyle/>
          <a:p>
            <a:pPr algn="ctr" indent="0" marL="0">
              <a:buNone/>
            </a:pPr>
            <a:r>
              <a:rPr lang="en-US" sz="1050" b="1" dirty="0">
                <a:solidFill>
                  <a:srgbClr val="175C2E"/>
                </a:solidFill>
                <a:latin typeface="Calibri" pitchFamily="34" charset="0"/>
                <a:ea typeface="Calibri" pitchFamily="34" charset="-122"/>
                <a:cs typeface="Calibri" pitchFamily="34" charset="-120"/>
              </a:rPr>
              <a:t>metadata/ingestion_manifest.json</a:t>
            </a:r>
            <a:endParaRPr lang="en-US" sz="1050" dirty="0"/>
          </a:p>
        </p:txBody>
      </p:sp>
      <p:sp>
        <p:nvSpPr>
          <p:cNvPr id="24" name="Text 20"/>
          <p:cNvSpPr txBox="1"/>
          <p:nvPr/>
        </p:nvSpPr>
        <p:spPr>
          <a:xfrm>
            <a:off x="4518508" y="3703320"/>
            <a:ext cx="3154680" cy="1188720"/>
          </a:xfrm>
          <a:prstGeom prst="rect">
            <a:avLst/>
          </a:prstGeom>
          <a:noFill/>
          <a:ln/>
        </p:spPr>
        <p:txBody>
          <a:bodyPr wrap="square" lIns="0" tIns="0" rIns="0" bIns="0" rtlCol="0" anchor="ctr"/>
          <a:lstStyle/>
          <a:p>
            <a:pPr algn="ctr" indent="0" marL="0">
              <a:lnSpc>
                <a:spcPct val="112000"/>
              </a:lnSpc>
              <a:buNone/>
            </a:pPr>
            <a:r>
              <a:rPr lang="en-US" sz="1250" dirty="0">
                <a:solidFill>
                  <a:srgbClr val="17241C"/>
                </a:solidFill>
                <a:latin typeface="Calibri" pitchFamily="34" charset="0"/>
                <a:ea typeface="Calibri" pitchFamily="34" charset="-122"/>
                <a:cs typeface="Calibri" pitchFamily="34" charset="-120"/>
              </a:rPr>
              <a:t>Records: source, request ID, location, coordinates, date range, parameters, raw-file path, checksum, status, verification time.</a:t>
            </a:r>
            <a:endParaRPr lang="en-US" sz="1250" dirty="0"/>
          </a:p>
        </p:txBody>
      </p:sp>
      <p:sp>
        <p:nvSpPr>
          <p:cNvPr id="25" name="Shape 21"/>
          <p:cNvSpPr/>
          <p:nvPr/>
        </p:nvSpPr>
        <p:spPr>
          <a:xfrm>
            <a:off x="4491076" y="5074920"/>
            <a:ext cx="1536192" cy="384048"/>
          </a:xfrm>
          <a:prstGeom prst="roundRect">
            <a:avLst>
              <a:gd name="adj" fmla="val 50000"/>
            </a:avLst>
          </a:prstGeom>
          <a:solidFill>
            <a:srgbClr val="D9A441"/>
          </a:solidFill>
          <a:ln/>
        </p:spPr>
      </p:sp>
      <p:sp>
        <p:nvSpPr>
          <p:cNvPr id="26" name="Text 22"/>
          <p:cNvSpPr txBox="1"/>
          <p:nvPr/>
        </p:nvSpPr>
        <p:spPr>
          <a:xfrm>
            <a:off x="4536796" y="5074920"/>
            <a:ext cx="1444752" cy="384048"/>
          </a:xfrm>
          <a:prstGeom prst="rect">
            <a:avLst/>
          </a:prstGeom>
          <a:noFill/>
          <a:ln/>
        </p:spPr>
        <p:txBody>
          <a:bodyPr wrap="square" lIns="0" tIns="0" rIns="0" bIns="0" rtlCol="0" anchor="ctr"/>
          <a:lstStyle/>
          <a:p>
            <a:pPr algn="ctr" indent="0" marL="0">
              <a:buNone/>
            </a:pPr>
            <a:r>
              <a:rPr lang="en-US" sz="1150" b="1" dirty="0">
                <a:solidFill>
                  <a:srgbClr val="0F3320"/>
                </a:solidFill>
                <a:latin typeface="Calibri" pitchFamily="34" charset="0"/>
                <a:ea typeface="Calibri" pitchFamily="34" charset="-122"/>
                <a:cs typeface="Calibri" pitchFamily="34" charset="-120"/>
              </a:rPr>
              <a:t>Lineage</a:t>
            </a:r>
            <a:endParaRPr lang="en-US" sz="1150" dirty="0"/>
          </a:p>
        </p:txBody>
      </p:sp>
      <p:sp>
        <p:nvSpPr>
          <p:cNvPr id="27" name="Shape 23"/>
          <p:cNvSpPr/>
          <p:nvPr/>
        </p:nvSpPr>
        <p:spPr>
          <a:xfrm>
            <a:off x="6164428" y="5074920"/>
            <a:ext cx="1536192" cy="384048"/>
          </a:xfrm>
          <a:prstGeom prst="roundRect">
            <a:avLst>
              <a:gd name="adj" fmla="val 50000"/>
            </a:avLst>
          </a:prstGeom>
          <a:solidFill>
            <a:srgbClr val="D9A441"/>
          </a:solidFill>
          <a:ln/>
        </p:spPr>
      </p:sp>
      <p:sp>
        <p:nvSpPr>
          <p:cNvPr id="28" name="Text 24"/>
          <p:cNvSpPr txBox="1"/>
          <p:nvPr/>
        </p:nvSpPr>
        <p:spPr>
          <a:xfrm>
            <a:off x="6210148" y="5074920"/>
            <a:ext cx="1444752" cy="384048"/>
          </a:xfrm>
          <a:prstGeom prst="rect">
            <a:avLst/>
          </a:prstGeom>
          <a:noFill/>
          <a:ln/>
        </p:spPr>
        <p:txBody>
          <a:bodyPr wrap="square" lIns="0" tIns="0" rIns="0" bIns="0" rtlCol="0" anchor="ctr"/>
          <a:lstStyle/>
          <a:p>
            <a:pPr algn="ctr" indent="0" marL="0">
              <a:buNone/>
            </a:pPr>
            <a:r>
              <a:rPr lang="en-US" sz="1150" b="1" dirty="0">
                <a:solidFill>
                  <a:srgbClr val="0F3320"/>
                </a:solidFill>
                <a:latin typeface="Calibri" pitchFamily="34" charset="0"/>
                <a:ea typeface="Calibri" pitchFamily="34" charset="-122"/>
                <a:cs typeface="Calibri" pitchFamily="34" charset="-120"/>
              </a:rPr>
              <a:t>Provenance</a:t>
            </a:r>
            <a:endParaRPr lang="en-US" sz="1150" dirty="0"/>
          </a:p>
        </p:txBody>
      </p:sp>
      <p:sp>
        <p:nvSpPr>
          <p:cNvPr id="29" name="Shape 25"/>
          <p:cNvSpPr/>
          <p:nvPr/>
        </p:nvSpPr>
        <p:spPr>
          <a:xfrm>
            <a:off x="4491076" y="5532120"/>
            <a:ext cx="1536192" cy="384048"/>
          </a:xfrm>
          <a:prstGeom prst="roundRect">
            <a:avLst>
              <a:gd name="adj" fmla="val 50000"/>
            </a:avLst>
          </a:prstGeom>
          <a:solidFill>
            <a:srgbClr val="D9A441"/>
          </a:solidFill>
          <a:ln/>
        </p:spPr>
      </p:sp>
      <p:sp>
        <p:nvSpPr>
          <p:cNvPr id="30" name="Text 26"/>
          <p:cNvSpPr txBox="1"/>
          <p:nvPr/>
        </p:nvSpPr>
        <p:spPr>
          <a:xfrm>
            <a:off x="4536796" y="5532120"/>
            <a:ext cx="1444752" cy="384048"/>
          </a:xfrm>
          <a:prstGeom prst="rect">
            <a:avLst/>
          </a:prstGeom>
          <a:noFill/>
          <a:ln/>
        </p:spPr>
        <p:txBody>
          <a:bodyPr wrap="square" lIns="0" tIns="0" rIns="0" bIns="0" rtlCol="0" anchor="ctr"/>
          <a:lstStyle/>
          <a:p>
            <a:pPr algn="ctr" indent="0" marL="0">
              <a:buNone/>
            </a:pPr>
            <a:r>
              <a:rPr lang="en-US" sz="1150" b="1" dirty="0">
                <a:solidFill>
                  <a:srgbClr val="0F3320"/>
                </a:solidFill>
                <a:latin typeface="Calibri" pitchFamily="34" charset="0"/>
                <a:ea typeface="Calibri" pitchFamily="34" charset="-122"/>
                <a:cs typeface="Calibri" pitchFamily="34" charset="-120"/>
              </a:rPr>
              <a:t>Integrity</a:t>
            </a:r>
            <a:endParaRPr lang="en-US" sz="1150" dirty="0"/>
          </a:p>
        </p:txBody>
      </p:sp>
      <p:sp>
        <p:nvSpPr>
          <p:cNvPr id="31" name="Shape 27"/>
          <p:cNvSpPr/>
          <p:nvPr/>
        </p:nvSpPr>
        <p:spPr>
          <a:xfrm>
            <a:off x="6164428" y="5532120"/>
            <a:ext cx="1536192" cy="384048"/>
          </a:xfrm>
          <a:prstGeom prst="roundRect">
            <a:avLst>
              <a:gd name="adj" fmla="val 50000"/>
            </a:avLst>
          </a:prstGeom>
          <a:solidFill>
            <a:srgbClr val="D9A441"/>
          </a:solidFill>
          <a:ln/>
        </p:spPr>
      </p:sp>
      <p:sp>
        <p:nvSpPr>
          <p:cNvPr id="32" name="Text 28"/>
          <p:cNvSpPr txBox="1"/>
          <p:nvPr/>
        </p:nvSpPr>
        <p:spPr>
          <a:xfrm>
            <a:off x="6210148" y="5532120"/>
            <a:ext cx="1444752" cy="384048"/>
          </a:xfrm>
          <a:prstGeom prst="rect">
            <a:avLst/>
          </a:prstGeom>
          <a:noFill/>
          <a:ln/>
        </p:spPr>
        <p:txBody>
          <a:bodyPr wrap="square" lIns="0" tIns="0" rIns="0" bIns="0" rtlCol="0" anchor="ctr"/>
          <a:lstStyle/>
          <a:p>
            <a:pPr algn="ctr" indent="0" marL="0">
              <a:buNone/>
            </a:pPr>
            <a:r>
              <a:rPr lang="en-US" sz="1150" b="1" dirty="0">
                <a:solidFill>
                  <a:srgbClr val="0F3320"/>
                </a:solidFill>
                <a:latin typeface="Calibri" pitchFamily="34" charset="0"/>
                <a:ea typeface="Calibri" pitchFamily="34" charset="-122"/>
                <a:cs typeface="Calibri" pitchFamily="34" charset="-120"/>
              </a:rPr>
              <a:t>Reproducibility</a:t>
            </a:r>
            <a:endParaRPr lang="en-US" sz="1150" dirty="0"/>
          </a:p>
        </p:txBody>
      </p:sp>
      <p:sp>
        <p:nvSpPr>
          <p:cNvPr id="33" name="Shape 29"/>
          <p:cNvSpPr/>
          <p:nvPr/>
        </p:nvSpPr>
        <p:spPr>
          <a:xfrm>
            <a:off x="8102956" y="1783080"/>
            <a:ext cx="3611880" cy="4617720"/>
          </a:xfrm>
          <a:prstGeom prst="roundRect">
            <a:avLst>
              <a:gd name="adj" fmla="val 3038"/>
            </a:avLst>
          </a:prstGeom>
          <a:solidFill>
            <a:srgbClr val="EAF6EC"/>
          </a:solidFill>
          <a:ln w="12700">
            <a:solidFill>
              <a:srgbClr val="CFE8D2"/>
            </a:solidFill>
            <a:prstDash val="solid"/>
          </a:ln>
        </p:spPr>
      </p:sp>
      <p:sp>
        <p:nvSpPr>
          <p:cNvPr id="34" name="Shape 30"/>
          <p:cNvSpPr/>
          <p:nvPr/>
        </p:nvSpPr>
        <p:spPr>
          <a:xfrm>
            <a:off x="9652864" y="1965960"/>
            <a:ext cx="512064" cy="512064"/>
          </a:xfrm>
          <a:prstGeom prst="ellipse">
            <a:avLst/>
          </a:prstGeom>
          <a:solidFill>
            <a:srgbClr val="1F7A3D"/>
          </a:solidFill>
          <a:ln/>
        </p:spPr>
      </p:sp>
      <p:pic>
        <p:nvPicPr>
          <p:cNvPr id="35" name="Image 2" descr="/home/claude/hydromet_ppt/icons/shield.png">    </p:cNvPr>
          <p:cNvPicPr>
            <a:picLocks noChangeAspect="1"/>
          </p:cNvPicPr>
          <p:nvPr/>
        </p:nvPicPr>
        <p:blipFill>
          <a:blip r:embed="rId3"/>
          <a:stretch>
            <a:fillRect/>
          </a:stretch>
        </p:blipFill>
        <p:spPr>
          <a:xfrm>
            <a:off x="9768078" y="2081174"/>
            <a:ext cx="281635" cy="281635"/>
          </a:xfrm>
          <a:prstGeom prst="rect">
            <a:avLst/>
          </a:prstGeom>
        </p:spPr>
      </p:pic>
      <p:sp>
        <p:nvSpPr>
          <p:cNvPr id="36" name="Text 31"/>
          <p:cNvSpPr txBox="1"/>
          <p:nvPr/>
        </p:nvSpPr>
        <p:spPr>
          <a:xfrm>
            <a:off x="8194396" y="2606040"/>
            <a:ext cx="3429000" cy="594360"/>
          </a:xfrm>
          <a:prstGeom prst="rect">
            <a:avLst/>
          </a:prstGeom>
          <a:noFill/>
          <a:ln/>
        </p:spPr>
        <p:txBody>
          <a:bodyPr wrap="square" lIns="0" tIns="0" rIns="0" bIns="0" rtlCol="0" anchor="ctr"/>
          <a:lstStyle/>
          <a:p>
            <a:pPr algn="ctr" indent="0" marL="0">
              <a:lnSpc>
                <a:spcPct val="105000"/>
              </a:lnSpc>
              <a:buNone/>
            </a:pPr>
            <a:r>
              <a:rPr lang="en-US" sz="1600" b="1" dirty="0">
                <a:solidFill>
                  <a:srgbClr val="0F3320"/>
                </a:solidFill>
                <a:latin typeface="Cambria" pitchFamily="34" charset="0"/>
                <a:ea typeface="Cambria" pitchFamily="34" charset="-122"/>
                <a:cs typeface="Cambria" pitchFamily="34" charset="-120"/>
              </a:rPr>
              <a:t>SHA-256</a:t>
            </a:r>
            <a:endParaRPr lang="en-US" sz="1600" dirty="0"/>
          </a:p>
          <a:p>
            <a:pPr algn="ctr" indent="0" marL="0">
              <a:lnSpc>
                <a:spcPct val="105000"/>
              </a:lnSpc>
              <a:buNone/>
            </a:pPr>
            <a:r>
              <a:rPr lang="en-US" sz="1600" b="1" dirty="0">
                <a:solidFill>
                  <a:srgbClr val="0F3320"/>
                </a:solidFill>
                <a:latin typeface="Cambria" pitchFamily="34" charset="0"/>
                <a:ea typeface="Cambria" pitchFamily="34" charset="-122"/>
                <a:cs typeface="Cambria" pitchFamily="34" charset="-120"/>
              </a:rPr>
              <a:t>Integrity Checking</a:t>
            </a:r>
            <a:endParaRPr lang="en-US" sz="1600" dirty="0"/>
          </a:p>
        </p:txBody>
      </p:sp>
      <p:sp>
        <p:nvSpPr>
          <p:cNvPr id="37" name="Shape 32"/>
          <p:cNvSpPr/>
          <p:nvPr/>
        </p:nvSpPr>
        <p:spPr>
          <a:xfrm>
            <a:off x="8285836" y="3291840"/>
            <a:ext cx="3246120" cy="384048"/>
          </a:xfrm>
          <a:prstGeom prst="roundRect">
            <a:avLst>
              <a:gd name="adj" fmla="val 50000"/>
            </a:avLst>
          </a:prstGeom>
          <a:solidFill>
            <a:srgbClr val="FFFFFF"/>
          </a:solidFill>
          <a:ln/>
        </p:spPr>
      </p:sp>
      <p:sp>
        <p:nvSpPr>
          <p:cNvPr id="38" name="Text 33"/>
          <p:cNvSpPr txBox="1"/>
          <p:nvPr/>
        </p:nvSpPr>
        <p:spPr>
          <a:xfrm>
            <a:off x="8331556" y="3291840"/>
            <a:ext cx="3154680" cy="384048"/>
          </a:xfrm>
          <a:prstGeom prst="rect">
            <a:avLst/>
          </a:prstGeom>
          <a:noFill/>
          <a:ln/>
        </p:spPr>
        <p:txBody>
          <a:bodyPr wrap="square" lIns="0" tIns="0" rIns="0" bIns="0" rtlCol="0" anchor="ctr"/>
          <a:lstStyle/>
          <a:p>
            <a:pPr algn="ctr" indent="0" marL="0">
              <a:buNone/>
            </a:pPr>
            <a:r>
              <a:rPr lang="en-US" sz="1100" b="1" dirty="0">
                <a:solidFill>
                  <a:srgbClr val="175C2E"/>
                </a:solidFill>
                <a:latin typeface="Calibri" pitchFamily="34" charset="0"/>
                <a:ea typeface="Calibri" pitchFamily="34" charset="-122"/>
                <a:cs typeface="Calibri" pitchFamily="34" charset="-120"/>
              </a:rPr>
              <a:t>FILE  →  SHA-256  →  ABC123...</a:t>
            </a:r>
            <a:endParaRPr lang="en-US" sz="1100" dirty="0"/>
          </a:p>
        </p:txBody>
      </p:sp>
      <p:sp>
        <p:nvSpPr>
          <p:cNvPr id="39" name="Shape 34"/>
          <p:cNvSpPr/>
          <p:nvPr/>
        </p:nvSpPr>
        <p:spPr>
          <a:xfrm>
            <a:off x="8285836" y="3749040"/>
            <a:ext cx="3246120" cy="384048"/>
          </a:xfrm>
          <a:prstGeom prst="roundRect">
            <a:avLst>
              <a:gd name="adj" fmla="val 50000"/>
            </a:avLst>
          </a:prstGeom>
          <a:solidFill>
            <a:srgbClr val="FFFFFF"/>
          </a:solidFill>
          <a:ln/>
        </p:spPr>
      </p:sp>
      <p:sp>
        <p:nvSpPr>
          <p:cNvPr id="40" name="Text 35"/>
          <p:cNvSpPr txBox="1"/>
          <p:nvPr/>
        </p:nvSpPr>
        <p:spPr>
          <a:xfrm>
            <a:off x="8331556" y="3749040"/>
            <a:ext cx="3154680" cy="384048"/>
          </a:xfrm>
          <a:prstGeom prst="rect">
            <a:avLst/>
          </a:prstGeom>
          <a:noFill/>
          <a:ln/>
        </p:spPr>
        <p:txBody>
          <a:bodyPr wrap="square" lIns="0" tIns="0" rIns="0" bIns="0" rtlCol="0" anchor="ctr"/>
          <a:lstStyle/>
          <a:p>
            <a:pPr algn="ctr" indent="0" marL="0">
              <a:buNone/>
            </a:pPr>
            <a:r>
              <a:rPr lang="en-US" sz="1050" b="1" dirty="0">
                <a:solidFill>
                  <a:srgbClr val="A93226"/>
                </a:solidFill>
                <a:latin typeface="Calibri" pitchFamily="34" charset="0"/>
                <a:ea typeface="Calibri" pitchFamily="34" charset="-122"/>
                <a:cs typeface="Calibri" pitchFamily="34" charset="-120"/>
              </a:rPr>
              <a:t>MODIFIED FILE → SHA-256 → XYZ789...</a:t>
            </a:r>
            <a:endParaRPr lang="en-US" sz="1050" dirty="0"/>
          </a:p>
        </p:txBody>
      </p:sp>
      <p:sp>
        <p:nvSpPr>
          <p:cNvPr id="41" name="Text 36"/>
          <p:cNvSpPr txBox="1"/>
          <p:nvPr/>
        </p:nvSpPr>
        <p:spPr>
          <a:xfrm>
            <a:off x="8285836" y="4251960"/>
            <a:ext cx="3246120" cy="365760"/>
          </a:xfrm>
          <a:prstGeom prst="rect">
            <a:avLst/>
          </a:prstGeom>
          <a:noFill/>
          <a:ln/>
        </p:spPr>
        <p:txBody>
          <a:bodyPr wrap="square" lIns="0" tIns="0" rIns="0" bIns="0" rtlCol="0" anchor="ctr"/>
          <a:lstStyle/>
          <a:p>
            <a:pPr algn="ctr" indent="0" marL="0">
              <a:buNone/>
            </a:pPr>
            <a:r>
              <a:rPr lang="en-US" sz="1400" b="1" dirty="0">
                <a:solidFill>
                  <a:srgbClr val="0F3320"/>
                </a:solidFill>
                <a:latin typeface="Courier New" pitchFamily="34" charset="0"/>
                <a:ea typeface="Courier New" pitchFamily="34" charset="-122"/>
                <a:cs typeface="Courier New" pitchFamily="34" charset="-120"/>
              </a:rPr>
              <a:t>ABC123 ≠ XYZ789</a:t>
            </a:r>
            <a:endParaRPr lang="en-US" sz="1400" dirty="0"/>
          </a:p>
        </p:txBody>
      </p:sp>
      <p:sp>
        <p:nvSpPr>
          <p:cNvPr id="42" name="Text 37"/>
          <p:cNvSpPr txBox="1"/>
          <p:nvPr/>
        </p:nvSpPr>
        <p:spPr>
          <a:xfrm>
            <a:off x="8331556" y="4754880"/>
            <a:ext cx="3154680" cy="1005840"/>
          </a:xfrm>
          <a:prstGeom prst="rect">
            <a:avLst/>
          </a:prstGeom>
          <a:noFill/>
          <a:ln/>
        </p:spPr>
        <p:txBody>
          <a:bodyPr wrap="square" lIns="0" tIns="0" rIns="0" bIns="0" rtlCol="0" anchor="ctr"/>
          <a:lstStyle/>
          <a:p>
            <a:pPr algn="ctr" indent="0" marL="0">
              <a:lnSpc>
                <a:spcPct val="112000"/>
              </a:lnSpc>
              <a:buNone/>
            </a:pPr>
            <a:r>
              <a:rPr lang="en-US" sz="1250" dirty="0">
                <a:solidFill>
                  <a:srgbClr val="17241C"/>
                </a:solidFill>
                <a:latin typeface="Calibri" pitchFamily="34" charset="0"/>
                <a:ea typeface="Calibri" pitchFamily="34" charset="-122"/>
                <a:cs typeface="Calibri" pitchFamily="34" charset="-120"/>
              </a:rPr>
              <a:t>A single changed byte changes the hash completely — modification or corruption is instantly detectable.</a:t>
            </a:r>
            <a:endParaRPr lang="en-US" sz="1250" dirty="0"/>
          </a:p>
        </p:txBody>
      </p:sp>
      <p:sp>
        <p:nvSpPr>
          <p:cNvPr id="43" name="Text 38"/>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18 / 23</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3320"/>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3</a:t>
            </a:r>
            <a:endParaRPr lang="en-US" sz="1400" dirty="0"/>
          </a:p>
        </p:txBody>
      </p:sp>
      <p:sp>
        <p:nvSpPr>
          <p:cNvPr id="4" name="Text 2"/>
          <p:cNvSpPr txBox="1"/>
          <p:nvPr/>
        </p:nvSpPr>
        <p:spPr>
          <a:xfrm>
            <a:off x="1874520" y="429768"/>
            <a:ext cx="3657600" cy="320040"/>
          </a:xfrm>
          <a:prstGeom prst="rect">
            <a:avLst/>
          </a:prstGeom>
          <a:noFill/>
          <a:ln/>
        </p:spPr>
        <p:txBody>
          <a:bodyPr wrap="square" lIns="0" tIns="0" rIns="0" bIns="0" rtlCol="0" anchor="ctr"/>
          <a:lstStyle/>
          <a:p>
            <a:pPr indent="0" marL="0">
              <a:buNone/>
            </a:pPr>
            <a:r>
              <a:rPr lang="en-US" sz="1300" b="1" spc="200" kern="0" dirty="0">
                <a:solidFill>
                  <a:srgbClr val="D9F0DC"/>
                </a:solidFill>
                <a:latin typeface="Calibri" pitchFamily="34" charset="0"/>
                <a:ea typeface="Calibri" pitchFamily="34" charset="-122"/>
                <a:cs typeface="Calibri" pitchFamily="34" charset="-120"/>
              </a:rPr>
              <a:t>KEY EVIDENCE</a:t>
            </a:r>
            <a:endParaRPr lang="en-US" sz="1300" dirty="0"/>
          </a:p>
        </p:txBody>
      </p:sp>
      <p:sp>
        <p:nvSpPr>
          <p:cNvPr id="5" name="Text 3"/>
          <p:cNvSpPr txBox="1"/>
          <p:nvPr/>
        </p:nvSpPr>
        <p:spPr>
          <a:xfrm>
            <a:off x="548640" y="868680"/>
            <a:ext cx="106070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Proof: Idempotency Verified</a:t>
            </a:r>
            <a:endParaRPr lang="en-US" sz="3200" dirty="0"/>
          </a:p>
        </p:txBody>
      </p:sp>
      <p:sp>
        <p:nvSpPr>
          <p:cNvPr id="6" name="Shape 4"/>
          <p:cNvSpPr/>
          <p:nvPr/>
        </p:nvSpPr>
        <p:spPr>
          <a:xfrm>
            <a:off x="822960" y="1828800"/>
            <a:ext cx="4114800" cy="2286000"/>
          </a:xfrm>
          <a:prstGeom prst="roundRect">
            <a:avLst>
              <a:gd name="adj" fmla="val 5600"/>
            </a:avLst>
          </a:prstGeom>
          <a:solidFill>
            <a:srgbClr val="17402A"/>
          </a:solidFill>
          <a:ln w="12700">
            <a:solidFill>
              <a:srgbClr val="2C5A3D"/>
            </a:solidFill>
            <a:prstDash val="solid"/>
          </a:ln>
        </p:spPr>
      </p:sp>
      <p:sp>
        <p:nvSpPr>
          <p:cNvPr id="7" name="Text 5"/>
          <p:cNvSpPr txBox="1"/>
          <p:nvPr/>
        </p:nvSpPr>
        <p:spPr>
          <a:xfrm>
            <a:off x="822960" y="2011680"/>
            <a:ext cx="4114800" cy="411480"/>
          </a:xfrm>
          <a:prstGeom prst="rect">
            <a:avLst/>
          </a:prstGeom>
          <a:noFill/>
          <a:ln/>
        </p:spPr>
        <p:txBody>
          <a:bodyPr wrap="square" lIns="0" tIns="0" rIns="0" bIns="0" rtlCol="0" anchor="ctr"/>
          <a:lstStyle/>
          <a:p>
            <a:pPr algn="ctr" indent="0" marL="0">
              <a:buNone/>
            </a:pPr>
            <a:r>
              <a:rPr lang="en-US" sz="2000" b="1" dirty="0">
                <a:solidFill>
                  <a:srgbClr val="D9A441"/>
                </a:solidFill>
                <a:latin typeface="Cambria" pitchFamily="34" charset="0"/>
                <a:ea typeface="Cambria" pitchFamily="34" charset="-122"/>
                <a:cs typeface="Cambria" pitchFamily="34" charset="-120"/>
              </a:rPr>
              <a:t>RUN 1</a:t>
            </a:r>
            <a:endParaRPr lang="en-US" sz="2000" dirty="0"/>
          </a:p>
        </p:txBody>
      </p:sp>
      <p:sp>
        <p:nvSpPr>
          <p:cNvPr id="8" name="Text 6"/>
          <p:cNvSpPr txBox="1"/>
          <p:nvPr/>
        </p:nvSpPr>
        <p:spPr>
          <a:xfrm>
            <a:off x="822960" y="2514600"/>
            <a:ext cx="41148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73,048 rows</a:t>
            </a:r>
            <a:endParaRPr lang="en-US" sz="2000" dirty="0"/>
          </a:p>
        </p:txBody>
      </p:sp>
      <p:sp>
        <p:nvSpPr>
          <p:cNvPr id="9" name="Text 7"/>
          <p:cNvSpPr txBox="1"/>
          <p:nvPr/>
        </p:nvSpPr>
        <p:spPr>
          <a:xfrm>
            <a:off x="822960" y="3063240"/>
            <a:ext cx="4114800" cy="274320"/>
          </a:xfrm>
          <a:prstGeom prst="rect">
            <a:avLst/>
          </a:prstGeom>
          <a:noFill/>
          <a:ln/>
        </p:spPr>
        <p:txBody>
          <a:bodyPr wrap="square" lIns="0" tIns="0" rIns="0" bIns="0" rtlCol="0" anchor="ctr"/>
          <a:lstStyle/>
          <a:p>
            <a:pPr algn="ctr" indent="0" marL="0">
              <a:buNone/>
            </a:pPr>
            <a:r>
              <a:rPr lang="en-US" sz="1100" dirty="0">
                <a:solidFill>
                  <a:srgbClr val="D9F0DC"/>
                </a:solidFill>
                <a:latin typeface="Calibri" pitchFamily="34" charset="0"/>
                <a:ea typeface="Calibri" pitchFamily="34" charset="-122"/>
                <a:cs typeface="Calibri" pitchFamily="34" charset="-120"/>
              </a:rPr>
              <a:t>SHA-256</a:t>
            </a:r>
            <a:endParaRPr lang="en-US" sz="1100" dirty="0"/>
          </a:p>
        </p:txBody>
      </p:sp>
      <p:sp>
        <p:nvSpPr>
          <p:cNvPr id="10" name="Text 8"/>
          <p:cNvSpPr txBox="1"/>
          <p:nvPr/>
        </p:nvSpPr>
        <p:spPr>
          <a:xfrm>
            <a:off x="1005840" y="3337560"/>
            <a:ext cx="3749040" cy="777240"/>
          </a:xfrm>
          <a:prstGeom prst="rect">
            <a:avLst/>
          </a:prstGeom>
          <a:noFill/>
          <a:ln/>
        </p:spPr>
        <p:txBody>
          <a:bodyPr wrap="square" lIns="0" tIns="0" rIns="0" bIns="0" rtlCol="0" anchor="ctr"/>
          <a:lstStyle/>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FDAB2668F283FE9531B3</a:t>
            </a:r>
            <a:endParaRPr lang="en-US" sz="950" dirty="0"/>
          </a:p>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9506EBB4325A462D9283</a:t>
            </a:r>
            <a:endParaRPr lang="en-US" sz="950" dirty="0"/>
          </a:p>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ED5434D1CFAA67E8D743</a:t>
            </a:r>
            <a:endParaRPr lang="en-US" sz="950" dirty="0"/>
          </a:p>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A8B9</a:t>
            </a:r>
            <a:endParaRPr lang="en-US" sz="950" dirty="0"/>
          </a:p>
        </p:txBody>
      </p:sp>
      <p:sp>
        <p:nvSpPr>
          <p:cNvPr id="11" name="Text 9"/>
          <p:cNvSpPr txBox="1"/>
          <p:nvPr/>
        </p:nvSpPr>
        <p:spPr>
          <a:xfrm>
            <a:off x="5166360" y="2514600"/>
            <a:ext cx="1463040" cy="1097280"/>
          </a:xfrm>
          <a:prstGeom prst="rect">
            <a:avLst/>
          </a:prstGeom>
          <a:noFill/>
          <a:ln/>
        </p:spPr>
        <p:txBody>
          <a:bodyPr wrap="square" lIns="0" tIns="0" rIns="0" bIns="0" rtlCol="0" anchor="ctr"/>
          <a:lstStyle/>
          <a:p>
            <a:pPr algn="ctr" indent="0" marL="0">
              <a:buNone/>
            </a:pPr>
            <a:r>
              <a:rPr lang="en-US" sz="4600" b="1" dirty="0">
                <a:solidFill>
                  <a:srgbClr val="D9A441"/>
                </a:solidFill>
                <a:latin typeface="Cambria" pitchFamily="34" charset="0"/>
                <a:ea typeface="Cambria" pitchFamily="34" charset="-122"/>
                <a:cs typeface="Cambria" pitchFamily="34" charset="-120"/>
              </a:rPr>
              <a:t>=</a:t>
            </a:r>
            <a:endParaRPr lang="en-US" sz="4600" dirty="0"/>
          </a:p>
        </p:txBody>
      </p:sp>
      <p:sp>
        <p:nvSpPr>
          <p:cNvPr id="12" name="Shape 10"/>
          <p:cNvSpPr/>
          <p:nvPr/>
        </p:nvSpPr>
        <p:spPr>
          <a:xfrm>
            <a:off x="6995160" y="1828800"/>
            <a:ext cx="4114800" cy="2286000"/>
          </a:xfrm>
          <a:prstGeom prst="roundRect">
            <a:avLst>
              <a:gd name="adj" fmla="val 5600"/>
            </a:avLst>
          </a:prstGeom>
          <a:solidFill>
            <a:srgbClr val="17402A"/>
          </a:solidFill>
          <a:ln w="12700">
            <a:solidFill>
              <a:srgbClr val="2C5A3D"/>
            </a:solidFill>
            <a:prstDash val="solid"/>
          </a:ln>
        </p:spPr>
      </p:sp>
      <p:sp>
        <p:nvSpPr>
          <p:cNvPr id="13" name="Text 11"/>
          <p:cNvSpPr txBox="1"/>
          <p:nvPr/>
        </p:nvSpPr>
        <p:spPr>
          <a:xfrm>
            <a:off x="6995160" y="2011680"/>
            <a:ext cx="4114800" cy="411480"/>
          </a:xfrm>
          <a:prstGeom prst="rect">
            <a:avLst/>
          </a:prstGeom>
          <a:noFill/>
          <a:ln/>
        </p:spPr>
        <p:txBody>
          <a:bodyPr wrap="square" lIns="0" tIns="0" rIns="0" bIns="0" rtlCol="0" anchor="ctr"/>
          <a:lstStyle/>
          <a:p>
            <a:pPr algn="ctr" indent="0" marL="0">
              <a:buNone/>
            </a:pPr>
            <a:r>
              <a:rPr lang="en-US" sz="2000" b="1" dirty="0">
                <a:solidFill>
                  <a:srgbClr val="D9A441"/>
                </a:solidFill>
                <a:latin typeface="Cambria" pitchFamily="34" charset="0"/>
                <a:ea typeface="Cambria" pitchFamily="34" charset="-122"/>
                <a:cs typeface="Cambria" pitchFamily="34" charset="-120"/>
              </a:rPr>
              <a:t>RUN 2</a:t>
            </a:r>
            <a:endParaRPr lang="en-US" sz="2000" dirty="0"/>
          </a:p>
        </p:txBody>
      </p:sp>
      <p:sp>
        <p:nvSpPr>
          <p:cNvPr id="14" name="Text 12"/>
          <p:cNvSpPr txBox="1"/>
          <p:nvPr/>
        </p:nvSpPr>
        <p:spPr>
          <a:xfrm>
            <a:off x="6995160" y="2514600"/>
            <a:ext cx="41148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73,048 rows</a:t>
            </a:r>
            <a:endParaRPr lang="en-US" sz="2000" dirty="0"/>
          </a:p>
        </p:txBody>
      </p:sp>
      <p:sp>
        <p:nvSpPr>
          <p:cNvPr id="15" name="Text 13"/>
          <p:cNvSpPr txBox="1"/>
          <p:nvPr/>
        </p:nvSpPr>
        <p:spPr>
          <a:xfrm>
            <a:off x="6995160" y="3063240"/>
            <a:ext cx="4114800" cy="274320"/>
          </a:xfrm>
          <a:prstGeom prst="rect">
            <a:avLst/>
          </a:prstGeom>
          <a:noFill/>
          <a:ln/>
        </p:spPr>
        <p:txBody>
          <a:bodyPr wrap="square" lIns="0" tIns="0" rIns="0" bIns="0" rtlCol="0" anchor="ctr"/>
          <a:lstStyle/>
          <a:p>
            <a:pPr algn="ctr" indent="0" marL="0">
              <a:buNone/>
            </a:pPr>
            <a:r>
              <a:rPr lang="en-US" sz="1100" dirty="0">
                <a:solidFill>
                  <a:srgbClr val="D9F0DC"/>
                </a:solidFill>
                <a:latin typeface="Calibri" pitchFamily="34" charset="0"/>
                <a:ea typeface="Calibri" pitchFamily="34" charset="-122"/>
                <a:cs typeface="Calibri" pitchFamily="34" charset="-120"/>
              </a:rPr>
              <a:t>SHA-256</a:t>
            </a:r>
            <a:endParaRPr lang="en-US" sz="1100" dirty="0"/>
          </a:p>
        </p:txBody>
      </p:sp>
      <p:sp>
        <p:nvSpPr>
          <p:cNvPr id="16" name="Text 14"/>
          <p:cNvSpPr txBox="1"/>
          <p:nvPr/>
        </p:nvSpPr>
        <p:spPr>
          <a:xfrm>
            <a:off x="7178040" y="3337560"/>
            <a:ext cx="3749040" cy="777240"/>
          </a:xfrm>
          <a:prstGeom prst="rect">
            <a:avLst/>
          </a:prstGeom>
          <a:noFill/>
          <a:ln/>
        </p:spPr>
        <p:txBody>
          <a:bodyPr wrap="square" lIns="0" tIns="0" rIns="0" bIns="0" rtlCol="0" anchor="ctr"/>
          <a:lstStyle/>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FDAB2668F283FE9531B3</a:t>
            </a:r>
            <a:endParaRPr lang="en-US" sz="950" dirty="0"/>
          </a:p>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9506EBB4325A462D9283</a:t>
            </a:r>
            <a:endParaRPr lang="en-US" sz="950" dirty="0"/>
          </a:p>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ED5434D1CFAA67E8D743</a:t>
            </a:r>
            <a:endParaRPr lang="en-US" sz="950" dirty="0"/>
          </a:p>
          <a:p>
            <a:pPr algn="ctr" indent="0" marL="0">
              <a:lnSpc>
                <a:spcPct val="110000"/>
              </a:lnSpc>
              <a:buNone/>
            </a:pPr>
            <a:r>
              <a:rPr lang="en-US" sz="950" dirty="0">
                <a:solidFill>
                  <a:srgbClr val="D9F0DC"/>
                </a:solidFill>
                <a:latin typeface="Courier New" pitchFamily="34" charset="0"/>
                <a:ea typeface="Courier New" pitchFamily="34" charset="-122"/>
                <a:cs typeface="Courier New" pitchFamily="34" charset="-120"/>
              </a:rPr>
              <a:t>A8B9</a:t>
            </a:r>
            <a:endParaRPr lang="en-US" sz="950" dirty="0"/>
          </a:p>
        </p:txBody>
      </p:sp>
      <p:sp>
        <p:nvSpPr>
          <p:cNvPr id="17" name="Shape 15"/>
          <p:cNvSpPr/>
          <p:nvPr/>
        </p:nvSpPr>
        <p:spPr>
          <a:xfrm>
            <a:off x="6013552" y="4224528"/>
            <a:ext cx="164592" cy="457200"/>
          </a:xfrm>
          <a:prstGeom prst="downArrow">
            <a:avLst/>
          </a:prstGeom>
          <a:solidFill>
            <a:srgbClr val="D9A441"/>
          </a:solidFill>
          <a:ln/>
        </p:spPr>
      </p:sp>
      <p:sp>
        <p:nvSpPr>
          <p:cNvPr id="18" name="Shape 16"/>
          <p:cNvSpPr/>
          <p:nvPr/>
        </p:nvSpPr>
        <p:spPr>
          <a:xfrm>
            <a:off x="3169768" y="4800600"/>
            <a:ext cx="5852160" cy="777240"/>
          </a:xfrm>
          <a:prstGeom prst="roundRect">
            <a:avLst>
              <a:gd name="adj" fmla="val 49412"/>
            </a:avLst>
          </a:prstGeom>
          <a:solidFill>
            <a:srgbClr val="D9A441"/>
          </a:solidFill>
          <a:ln/>
        </p:spPr>
      </p:sp>
      <p:sp>
        <p:nvSpPr>
          <p:cNvPr id="19" name="Text 17"/>
          <p:cNvSpPr txBox="1"/>
          <p:nvPr/>
        </p:nvSpPr>
        <p:spPr>
          <a:xfrm>
            <a:off x="3169768" y="4800600"/>
            <a:ext cx="5852160" cy="777240"/>
          </a:xfrm>
          <a:prstGeom prst="rect">
            <a:avLst/>
          </a:prstGeom>
          <a:noFill/>
          <a:ln/>
        </p:spPr>
        <p:txBody>
          <a:bodyPr wrap="square" lIns="0" tIns="0" rIns="0" bIns="0" rtlCol="0" anchor="ctr"/>
          <a:lstStyle/>
          <a:p>
            <a:pPr algn="ctr" indent="0" marL="0">
              <a:buNone/>
            </a:pPr>
            <a:r>
              <a:rPr lang="en-US" sz="2400" b="1" dirty="0">
                <a:solidFill>
                  <a:srgbClr val="0F3320"/>
                </a:solidFill>
                <a:latin typeface="Cambria" pitchFamily="34" charset="0"/>
                <a:ea typeface="Cambria" pitchFamily="34" charset="-122"/>
                <a:cs typeface="Cambria" pitchFamily="34" charset="-120"/>
              </a:rPr>
              <a:t>IDEMPOTENCY VERIFIED  ✓</a:t>
            </a:r>
            <a:endParaRPr lang="en-US" sz="2400" dirty="0"/>
          </a:p>
        </p:txBody>
      </p:sp>
      <p:sp>
        <p:nvSpPr>
          <p:cNvPr id="20" name="Text 18"/>
          <p:cNvSpPr txBox="1"/>
          <p:nvPr/>
        </p:nvSpPr>
        <p:spPr>
          <a:xfrm>
            <a:off x="822960" y="6263640"/>
            <a:ext cx="10545775" cy="365760"/>
          </a:xfrm>
          <a:prstGeom prst="rect">
            <a:avLst/>
          </a:prstGeom>
          <a:noFill/>
          <a:ln/>
        </p:spPr>
        <p:txBody>
          <a:bodyPr wrap="square" lIns="0" tIns="0" rIns="0" bIns="0" rtlCol="0" anchor="ctr"/>
          <a:lstStyle/>
          <a:p>
            <a:pPr algn="ctr" indent="0" marL="0">
              <a:buNone/>
            </a:pPr>
            <a:r>
              <a:rPr lang="en-US" sz="1300" i="1" dirty="0">
                <a:solidFill>
                  <a:srgbClr val="D9F0DC"/>
                </a:solidFill>
                <a:latin typeface="Calibri" pitchFamily="34" charset="0"/>
                <a:ea typeface="Calibri" pitchFamily="34" charset="-122"/>
                <a:cs typeface="Calibri" pitchFamily="34" charset="-120"/>
              </a:rPr>
              <a:t>Both runs reported: “Existing validated raw file found. Skipping API.” for all 8 locations.</a:t>
            </a:r>
            <a:endParaRPr lang="en-US" sz="1300" dirty="0"/>
          </a:p>
        </p:txBody>
      </p:sp>
      <p:sp>
        <p:nvSpPr>
          <p:cNvPr id="21" name="Text 19"/>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19 / 23</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234440" cy="384048"/>
          </a:xfrm>
          <a:prstGeom prst="roundRect">
            <a:avLst>
              <a:gd name="adj" fmla="val 50000"/>
            </a:avLst>
          </a:prstGeom>
          <a:solidFill>
            <a:srgbClr val="D9A441"/>
          </a:solidFill>
          <a:ln/>
        </p:spPr>
      </p:sp>
      <p:sp>
        <p:nvSpPr>
          <p:cNvPr id="3" name="Text 1"/>
          <p:cNvSpPr txBox="1"/>
          <p:nvPr/>
        </p:nvSpPr>
        <p:spPr>
          <a:xfrm>
            <a:off x="457200" y="365760"/>
            <a:ext cx="1234440" cy="384048"/>
          </a:xfrm>
          <a:prstGeom prst="rect">
            <a:avLst/>
          </a:prstGeom>
          <a:noFill/>
          <a:ln/>
        </p:spPr>
        <p:txBody>
          <a:bodyPr wrap="square" lIns="0" tIns="0" rIns="0" bIns="0" rtlCol="0" anchor="ctr"/>
          <a:lstStyle/>
          <a:p>
            <a:pPr algn="ctr" indent="0" marL="0">
              <a:buNone/>
            </a:pPr>
            <a:r>
              <a:rPr lang="en-US" sz="1400" b="1" dirty="0">
                <a:solidFill>
                  <a:srgbClr val="0F3320"/>
                </a:solidFill>
                <a:latin typeface="Calibri" pitchFamily="34" charset="0"/>
                <a:ea typeface="Calibri" pitchFamily="34" charset="-122"/>
                <a:cs typeface="Calibri" pitchFamily="34" charset="-120"/>
              </a:rPr>
              <a:t>WEEK 3</a:t>
            </a:r>
            <a:endParaRPr lang="en-US" sz="1400" dirty="0"/>
          </a:p>
        </p:txBody>
      </p:sp>
      <p:sp>
        <p:nvSpPr>
          <p:cNvPr id="4" name="Text 2"/>
          <p:cNvSpPr txBox="1"/>
          <p:nvPr/>
        </p:nvSpPr>
        <p:spPr>
          <a:xfrm>
            <a:off x="1874520" y="429768"/>
            <a:ext cx="7315200" cy="320040"/>
          </a:xfrm>
          <a:prstGeom prst="rect">
            <a:avLst/>
          </a:prstGeom>
          <a:noFill/>
          <a:ln/>
        </p:spPr>
        <p:txBody>
          <a:bodyPr wrap="square" lIns="0" tIns="0" rIns="0" bIns="0" rtlCol="0" anchor="ctr"/>
          <a:lstStyle/>
          <a:p>
            <a:pPr indent="0" marL="0">
              <a:buNone/>
            </a:pPr>
            <a:r>
              <a:rPr lang="en-US" sz="1300" b="1" spc="200" kern="0" dirty="0">
                <a:solidFill>
                  <a:srgbClr val="5C6B63"/>
                </a:solidFill>
                <a:latin typeface="Calibri" pitchFamily="34" charset="0"/>
                <a:ea typeface="Calibri" pitchFamily="34" charset="-122"/>
                <a:cs typeface="Calibri" pitchFamily="34" charset="-120"/>
              </a:rPr>
              <a:t>IDEMPOTENT DATA INGESTION</a:t>
            </a:r>
            <a:endParaRPr lang="en-US" sz="1300" dirty="0"/>
          </a:p>
        </p:txBody>
      </p:sp>
      <p:sp>
        <p:nvSpPr>
          <p:cNvPr id="5" name="Text 3"/>
          <p:cNvSpPr txBox="1"/>
          <p:nvPr/>
        </p:nvSpPr>
        <p:spPr>
          <a:xfrm>
            <a:off x="548640" y="868680"/>
            <a:ext cx="10607040" cy="777240"/>
          </a:xfrm>
          <a:prstGeom prst="rect">
            <a:avLst/>
          </a:prstGeom>
          <a:noFill/>
          <a:ln/>
        </p:spPr>
        <p:txBody>
          <a:bodyPr wrap="square" lIns="0" tIns="0" rIns="0" bIns="0" rtlCol="0" anchor="t"/>
          <a:lstStyle/>
          <a:p>
            <a:pPr indent="0" marL="0">
              <a:buNone/>
            </a:pPr>
            <a:r>
              <a:rPr lang="en-US" sz="3200" b="1" dirty="0">
                <a:solidFill>
                  <a:srgbClr val="0F3320"/>
                </a:solidFill>
                <a:latin typeface="Cambria" pitchFamily="34" charset="0"/>
                <a:ea typeface="Cambria" pitchFamily="34" charset="-122"/>
                <a:cs typeface="Cambria" pitchFamily="34" charset="-120"/>
              </a:rPr>
              <a:t>Automated Testing Evidence</a:t>
            </a:r>
            <a:endParaRPr lang="en-US" sz="3200" dirty="0"/>
          </a:p>
        </p:txBody>
      </p:sp>
      <p:sp>
        <p:nvSpPr>
          <p:cNvPr id="6" name="Shape 4"/>
          <p:cNvSpPr/>
          <p:nvPr/>
        </p:nvSpPr>
        <p:spPr>
          <a:xfrm>
            <a:off x="822960" y="1737360"/>
            <a:ext cx="4937760" cy="1828800"/>
          </a:xfrm>
          <a:prstGeom prst="roundRect">
            <a:avLst>
              <a:gd name="adj" fmla="val 7000"/>
            </a:avLst>
          </a:prstGeom>
          <a:solidFill>
            <a:srgbClr val="0F3320"/>
          </a:solidFill>
          <a:ln/>
        </p:spPr>
      </p:sp>
      <p:sp>
        <p:nvSpPr>
          <p:cNvPr id="7" name="Text 5"/>
          <p:cNvSpPr txBox="1"/>
          <p:nvPr/>
        </p:nvSpPr>
        <p:spPr>
          <a:xfrm>
            <a:off x="822960" y="1874520"/>
            <a:ext cx="4937760" cy="868680"/>
          </a:xfrm>
          <a:prstGeom prst="rect">
            <a:avLst/>
          </a:prstGeom>
          <a:noFill/>
          <a:ln/>
        </p:spPr>
        <p:txBody>
          <a:bodyPr wrap="square" lIns="0" tIns="0" rIns="0" bIns="0" rtlCol="0" anchor="ctr"/>
          <a:lstStyle/>
          <a:p>
            <a:pPr algn="ctr" indent="0" marL="0">
              <a:buNone/>
            </a:pPr>
            <a:r>
              <a:rPr lang="en-US" sz="4600" b="1" dirty="0">
                <a:solidFill>
                  <a:srgbClr val="D9A441"/>
                </a:solidFill>
                <a:latin typeface="Cambria" pitchFamily="34" charset="0"/>
                <a:ea typeface="Cambria" pitchFamily="34" charset="-122"/>
                <a:cs typeface="Cambria" pitchFamily="34" charset="-120"/>
              </a:rPr>
              <a:t>5 / 5</a:t>
            </a:r>
            <a:endParaRPr lang="en-US" sz="4600" dirty="0"/>
          </a:p>
        </p:txBody>
      </p:sp>
      <p:sp>
        <p:nvSpPr>
          <p:cNvPr id="8" name="Text 6"/>
          <p:cNvSpPr txBox="1"/>
          <p:nvPr/>
        </p:nvSpPr>
        <p:spPr>
          <a:xfrm>
            <a:off x="822960" y="2651760"/>
            <a:ext cx="4937760" cy="36576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pytest tests passed</a:t>
            </a:r>
            <a:endParaRPr lang="en-US" sz="1700" dirty="0"/>
          </a:p>
        </p:txBody>
      </p:sp>
      <p:sp>
        <p:nvSpPr>
          <p:cNvPr id="9" name="Text 7"/>
          <p:cNvSpPr txBox="1"/>
          <p:nvPr/>
        </p:nvSpPr>
        <p:spPr>
          <a:xfrm>
            <a:off x="822960" y="3063240"/>
            <a:ext cx="4937760" cy="365760"/>
          </a:xfrm>
          <a:prstGeom prst="rect">
            <a:avLst/>
          </a:prstGeom>
          <a:noFill/>
          <a:ln/>
        </p:spPr>
        <p:txBody>
          <a:bodyPr wrap="square" lIns="0" tIns="0" rIns="0" bIns="0" rtlCol="0" anchor="ctr"/>
          <a:lstStyle/>
          <a:p>
            <a:pPr algn="ctr" indent="0" marL="0">
              <a:buNone/>
            </a:pPr>
            <a:r>
              <a:rPr lang="en-US" sz="1350" i="1" dirty="0">
                <a:solidFill>
                  <a:srgbClr val="D9F0DC"/>
                </a:solidFill>
                <a:latin typeface="Calibri" pitchFamily="34" charset="0"/>
                <a:ea typeface="Calibri" pitchFamily="34" charset="-122"/>
                <a:cs typeface="Calibri" pitchFamily="34" charset="-120"/>
              </a:rPr>
              <a:t>≈ 0.77 seconds execution time</a:t>
            </a:r>
            <a:endParaRPr lang="en-US" sz="1350" dirty="0"/>
          </a:p>
        </p:txBody>
      </p:sp>
      <p:sp>
        <p:nvSpPr>
          <p:cNvPr id="10" name="Text 8"/>
          <p:cNvSpPr txBox="1"/>
          <p:nvPr/>
        </p:nvSpPr>
        <p:spPr>
          <a:xfrm>
            <a:off x="6172200" y="1783080"/>
            <a:ext cx="5303520" cy="320040"/>
          </a:xfrm>
          <a:prstGeom prst="rect">
            <a:avLst/>
          </a:prstGeom>
          <a:noFill/>
          <a:ln/>
        </p:spPr>
        <p:txBody>
          <a:bodyPr wrap="square" lIns="0" tIns="0" rIns="0" bIns="0" rtlCol="0" anchor="ctr"/>
          <a:lstStyle/>
          <a:p>
            <a:pPr indent="0" marL="0">
              <a:buNone/>
            </a:pPr>
            <a:r>
              <a:rPr lang="en-US" sz="1350" b="1" spc="100" kern="0" dirty="0">
                <a:solidFill>
                  <a:srgbClr val="175C2E"/>
                </a:solidFill>
                <a:latin typeface="Calibri" pitchFamily="34" charset="0"/>
                <a:ea typeface="Calibri" pitchFamily="34" charset="-122"/>
                <a:cs typeface="Calibri" pitchFamily="34" charset="-120"/>
              </a:rPr>
              <a:t>WHAT THE TESTS VERIFY</a:t>
            </a:r>
            <a:endParaRPr lang="en-US" sz="1350" dirty="0"/>
          </a:p>
        </p:txBody>
      </p:sp>
      <p:sp>
        <p:nvSpPr>
          <p:cNvPr id="11" name="Shape 9"/>
          <p:cNvSpPr/>
          <p:nvPr/>
        </p:nvSpPr>
        <p:spPr>
          <a:xfrm>
            <a:off x="6172200" y="2194560"/>
            <a:ext cx="365760" cy="365760"/>
          </a:xfrm>
          <a:prstGeom prst="ellipse">
            <a:avLst/>
          </a:prstGeom>
          <a:solidFill>
            <a:srgbClr val="3FA34D"/>
          </a:solidFill>
          <a:ln/>
        </p:spPr>
      </p:sp>
      <p:pic>
        <p:nvPicPr>
          <p:cNvPr id="12" name="Image 0" descr="/home/claude/hydromet_ppt/icons/check.png">    </p:cNvPr>
          <p:cNvPicPr>
            <a:picLocks noChangeAspect="1"/>
          </p:cNvPicPr>
          <p:nvPr/>
        </p:nvPicPr>
        <p:blipFill>
          <a:blip r:embed="rId1"/>
          <a:stretch>
            <a:fillRect/>
          </a:stretch>
        </p:blipFill>
        <p:spPr>
          <a:xfrm>
            <a:off x="6254496" y="2276856"/>
            <a:ext cx="201168" cy="201168"/>
          </a:xfrm>
          <a:prstGeom prst="rect">
            <a:avLst/>
          </a:prstGeom>
        </p:spPr>
      </p:pic>
      <p:sp>
        <p:nvSpPr>
          <p:cNvPr id="13" name="Text 10"/>
          <p:cNvSpPr txBox="1"/>
          <p:nvPr/>
        </p:nvSpPr>
        <p:spPr>
          <a:xfrm>
            <a:off x="6647688" y="2176272"/>
            <a:ext cx="4663440" cy="411480"/>
          </a:xfrm>
          <a:prstGeom prst="rect">
            <a:avLst/>
          </a:prstGeom>
          <a:noFill/>
          <a:ln/>
        </p:spPr>
        <p:txBody>
          <a:bodyPr wrap="square" lIns="0" tIns="0" rIns="0" bIns="0" rtlCol="0" anchor="ctr"/>
          <a:lstStyle/>
          <a:p>
            <a:pPr indent="0" marL="0">
              <a:buNone/>
            </a:pPr>
            <a:r>
              <a:rPr lang="en-US" sz="1550" dirty="0">
                <a:solidFill>
                  <a:srgbClr val="17241C"/>
                </a:solidFill>
                <a:latin typeface="Calibri" pitchFamily="34" charset="0"/>
                <a:ea typeface="Calibri" pitchFamily="34" charset="-122"/>
                <a:cs typeface="Calibri" pitchFamily="34" charset="-120"/>
              </a:rPr>
              <a:t>Interim file exists</a:t>
            </a:r>
            <a:endParaRPr lang="en-US" sz="1550" dirty="0"/>
          </a:p>
        </p:txBody>
      </p:sp>
      <p:sp>
        <p:nvSpPr>
          <p:cNvPr id="14" name="Shape 11"/>
          <p:cNvSpPr/>
          <p:nvPr/>
        </p:nvSpPr>
        <p:spPr>
          <a:xfrm>
            <a:off x="6172200" y="2697480"/>
            <a:ext cx="365760" cy="365760"/>
          </a:xfrm>
          <a:prstGeom prst="ellipse">
            <a:avLst/>
          </a:prstGeom>
          <a:solidFill>
            <a:srgbClr val="3FA34D"/>
          </a:solidFill>
          <a:ln/>
        </p:spPr>
      </p:sp>
      <p:pic>
        <p:nvPicPr>
          <p:cNvPr id="15" name="Image 1" descr="/home/claude/hydromet_ppt/icons/check.png">    </p:cNvPr>
          <p:cNvPicPr>
            <a:picLocks noChangeAspect="1"/>
          </p:cNvPicPr>
          <p:nvPr/>
        </p:nvPicPr>
        <p:blipFill>
          <a:blip r:embed="rId2"/>
          <a:stretch>
            <a:fillRect/>
          </a:stretch>
        </p:blipFill>
        <p:spPr>
          <a:xfrm>
            <a:off x="6254496" y="2779776"/>
            <a:ext cx="201168" cy="201168"/>
          </a:xfrm>
          <a:prstGeom prst="rect">
            <a:avLst/>
          </a:prstGeom>
        </p:spPr>
      </p:pic>
      <p:sp>
        <p:nvSpPr>
          <p:cNvPr id="16" name="Text 12"/>
          <p:cNvSpPr txBox="1"/>
          <p:nvPr/>
        </p:nvSpPr>
        <p:spPr>
          <a:xfrm>
            <a:off x="6647688" y="2679192"/>
            <a:ext cx="4663440" cy="411480"/>
          </a:xfrm>
          <a:prstGeom prst="rect">
            <a:avLst/>
          </a:prstGeom>
          <a:noFill/>
          <a:ln/>
        </p:spPr>
        <p:txBody>
          <a:bodyPr wrap="square" lIns="0" tIns="0" rIns="0" bIns="0" rtlCol="0" anchor="ctr"/>
          <a:lstStyle/>
          <a:p>
            <a:pPr indent="0" marL="0">
              <a:buNone/>
            </a:pPr>
            <a:r>
              <a:rPr lang="en-US" sz="1550" dirty="0">
                <a:solidFill>
                  <a:srgbClr val="17241C"/>
                </a:solidFill>
                <a:latin typeface="Calibri" pitchFamily="34" charset="0"/>
                <a:ea typeface="Calibri" pitchFamily="34" charset="-122"/>
                <a:cs typeface="Calibri" pitchFamily="34" charset="-120"/>
              </a:rPr>
              <a:t>Expected row count</a:t>
            </a:r>
            <a:endParaRPr lang="en-US" sz="1550" dirty="0"/>
          </a:p>
        </p:txBody>
      </p:sp>
      <p:sp>
        <p:nvSpPr>
          <p:cNvPr id="17" name="Shape 13"/>
          <p:cNvSpPr/>
          <p:nvPr/>
        </p:nvSpPr>
        <p:spPr>
          <a:xfrm>
            <a:off x="6172200" y="3200400"/>
            <a:ext cx="365760" cy="365760"/>
          </a:xfrm>
          <a:prstGeom prst="ellipse">
            <a:avLst/>
          </a:prstGeom>
          <a:solidFill>
            <a:srgbClr val="3FA34D"/>
          </a:solidFill>
          <a:ln/>
        </p:spPr>
      </p:sp>
      <p:pic>
        <p:nvPicPr>
          <p:cNvPr id="18" name="Image 2" descr="/home/claude/hydromet_ppt/icons/check.png">    </p:cNvPr>
          <p:cNvPicPr>
            <a:picLocks noChangeAspect="1"/>
          </p:cNvPicPr>
          <p:nvPr/>
        </p:nvPicPr>
        <p:blipFill>
          <a:blip r:embed="rId3"/>
          <a:stretch>
            <a:fillRect/>
          </a:stretch>
        </p:blipFill>
        <p:spPr>
          <a:xfrm>
            <a:off x="6254496" y="3282696"/>
            <a:ext cx="201168" cy="201168"/>
          </a:xfrm>
          <a:prstGeom prst="rect">
            <a:avLst/>
          </a:prstGeom>
        </p:spPr>
      </p:pic>
      <p:sp>
        <p:nvSpPr>
          <p:cNvPr id="19" name="Text 14"/>
          <p:cNvSpPr txBox="1"/>
          <p:nvPr/>
        </p:nvSpPr>
        <p:spPr>
          <a:xfrm>
            <a:off x="6647688" y="3182112"/>
            <a:ext cx="4663440" cy="411480"/>
          </a:xfrm>
          <a:prstGeom prst="rect">
            <a:avLst/>
          </a:prstGeom>
          <a:noFill/>
          <a:ln/>
        </p:spPr>
        <p:txBody>
          <a:bodyPr wrap="square" lIns="0" tIns="0" rIns="0" bIns="0" rtlCol="0" anchor="ctr"/>
          <a:lstStyle/>
          <a:p>
            <a:pPr indent="0" marL="0">
              <a:buNone/>
            </a:pPr>
            <a:r>
              <a:rPr lang="en-US" sz="1550" dirty="0">
                <a:solidFill>
                  <a:srgbClr val="17241C"/>
                </a:solidFill>
                <a:latin typeface="Calibri" pitchFamily="34" charset="0"/>
                <a:ea typeface="Calibri" pitchFamily="34" charset="-122"/>
                <a:cs typeface="Calibri" pitchFamily="34" charset="-120"/>
              </a:rPr>
              <a:t>Expected location count</a:t>
            </a:r>
            <a:endParaRPr lang="en-US" sz="1550" dirty="0"/>
          </a:p>
        </p:txBody>
      </p:sp>
      <p:sp>
        <p:nvSpPr>
          <p:cNvPr id="20" name="Shape 15"/>
          <p:cNvSpPr/>
          <p:nvPr/>
        </p:nvSpPr>
        <p:spPr>
          <a:xfrm>
            <a:off x="6172200" y="3703320"/>
            <a:ext cx="365760" cy="365760"/>
          </a:xfrm>
          <a:prstGeom prst="ellipse">
            <a:avLst/>
          </a:prstGeom>
          <a:solidFill>
            <a:srgbClr val="3FA34D"/>
          </a:solidFill>
          <a:ln/>
        </p:spPr>
      </p:sp>
      <p:pic>
        <p:nvPicPr>
          <p:cNvPr id="21" name="Image 3" descr="/home/claude/hydromet_ppt/icons/check.png">    </p:cNvPr>
          <p:cNvPicPr>
            <a:picLocks noChangeAspect="1"/>
          </p:cNvPicPr>
          <p:nvPr/>
        </p:nvPicPr>
        <p:blipFill>
          <a:blip r:embed="rId4"/>
          <a:stretch>
            <a:fillRect/>
          </a:stretch>
        </p:blipFill>
        <p:spPr>
          <a:xfrm>
            <a:off x="6254496" y="3785616"/>
            <a:ext cx="201168" cy="201168"/>
          </a:xfrm>
          <a:prstGeom prst="rect">
            <a:avLst/>
          </a:prstGeom>
        </p:spPr>
      </p:pic>
      <p:sp>
        <p:nvSpPr>
          <p:cNvPr id="22" name="Text 16"/>
          <p:cNvSpPr txBox="1"/>
          <p:nvPr/>
        </p:nvSpPr>
        <p:spPr>
          <a:xfrm>
            <a:off x="6647688" y="3685032"/>
            <a:ext cx="4663440" cy="411480"/>
          </a:xfrm>
          <a:prstGeom prst="rect">
            <a:avLst/>
          </a:prstGeom>
          <a:noFill/>
          <a:ln/>
        </p:spPr>
        <p:txBody>
          <a:bodyPr wrap="square" lIns="0" tIns="0" rIns="0" bIns="0" rtlCol="0" anchor="ctr"/>
          <a:lstStyle/>
          <a:p>
            <a:pPr indent="0" marL="0">
              <a:buNone/>
            </a:pPr>
            <a:r>
              <a:rPr lang="en-US" sz="1550" dirty="0">
                <a:solidFill>
                  <a:srgbClr val="17241C"/>
                </a:solidFill>
                <a:latin typeface="Calibri" pitchFamily="34" charset="0"/>
                <a:ea typeface="Calibri" pitchFamily="34" charset="-122"/>
                <a:cs typeface="Calibri" pitchFamily="34" charset="-120"/>
              </a:rPr>
              <a:t>No duplicate location-date records</a:t>
            </a:r>
            <a:endParaRPr lang="en-US" sz="1550" dirty="0"/>
          </a:p>
        </p:txBody>
      </p:sp>
      <p:sp>
        <p:nvSpPr>
          <p:cNvPr id="23" name="Shape 17"/>
          <p:cNvSpPr/>
          <p:nvPr/>
        </p:nvSpPr>
        <p:spPr>
          <a:xfrm>
            <a:off x="6172200" y="4206240"/>
            <a:ext cx="365760" cy="365760"/>
          </a:xfrm>
          <a:prstGeom prst="ellipse">
            <a:avLst/>
          </a:prstGeom>
          <a:solidFill>
            <a:srgbClr val="3FA34D"/>
          </a:solidFill>
          <a:ln/>
        </p:spPr>
      </p:sp>
      <p:pic>
        <p:nvPicPr>
          <p:cNvPr id="24" name="Image 4" descr="/home/claude/hydromet_ppt/icons/check.png">    </p:cNvPr>
          <p:cNvPicPr>
            <a:picLocks noChangeAspect="1"/>
          </p:cNvPicPr>
          <p:nvPr/>
        </p:nvPicPr>
        <p:blipFill>
          <a:blip r:embed="rId5"/>
          <a:stretch>
            <a:fillRect/>
          </a:stretch>
        </p:blipFill>
        <p:spPr>
          <a:xfrm>
            <a:off x="6254496" y="4288536"/>
            <a:ext cx="201168" cy="201168"/>
          </a:xfrm>
          <a:prstGeom prst="rect">
            <a:avLst/>
          </a:prstGeom>
        </p:spPr>
      </p:pic>
      <p:sp>
        <p:nvSpPr>
          <p:cNvPr id="25" name="Text 18"/>
          <p:cNvSpPr txBox="1"/>
          <p:nvPr/>
        </p:nvSpPr>
        <p:spPr>
          <a:xfrm>
            <a:off x="6647688" y="4187952"/>
            <a:ext cx="4663440" cy="411480"/>
          </a:xfrm>
          <a:prstGeom prst="rect">
            <a:avLst/>
          </a:prstGeom>
          <a:noFill/>
          <a:ln/>
        </p:spPr>
        <p:txBody>
          <a:bodyPr wrap="square" lIns="0" tIns="0" rIns="0" bIns="0" rtlCol="0" anchor="ctr"/>
          <a:lstStyle/>
          <a:p>
            <a:pPr indent="0" marL="0">
              <a:buNone/>
            </a:pPr>
            <a:r>
              <a:rPr lang="en-US" sz="1550" dirty="0">
                <a:solidFill>
                  <a:srgbClr val="17241C"/>
                </a:solidFill>
                <a:latin typeface="Calibri" pitchFamily="34" charset="0"/>
                <a:ea typeface="Calibri" pitchFamily="34" charset="-122"/>
                <a:cs typeface="Calibri" pitchFamily="34" charset="-120"/>
              </a:rPr>
              <a:t>Unique source identification</a:t>
            </a:r>
            <a:endParaRPr lang="en-US" sz="1550" dirty="0"/>
          </a:p>
        </p:txBody>
      </p:sp>
      <p:sp>
        <p:nvSpPr>
          <p:cNvPr id="26" name="Shape 19"/>
          <p:cNvSpPr/>
          <p:nvPr/>
        </p:nvSpPr>
        <p:spPr>
          <a:xfrm>
            <a:off x="822960" y="3977640"/>
            <a:ext cx="4937760" cy="1417320"/>
          </a:xfrm>
          <a:prstGeom prst="roundRect">
            <a:avLst>
              <a:gd name="adj" fmla="val 6452"/>
            </a:avLst>
          </a:prstGeom>
          <a:solidFill>
            <a:srgbClr val="F5F5F5"/>
          </a:solidFill>
          <a:ln w="12700">
            <a:solidFill>
              <a:srgbClr val="CFE8D2"/>
            </a:solidFill>
            <a:prstDash val="solid"/>
          </a:ln>
        </p:spPr>
      </p:sp>
      <p:sp>
        <p:nvSpPr>
          <p:cNvPr id="27" name="Shape 20"/>
          <p:cNvSpPr/>
          <p:nvPr/>
        </p:nvSpPr>
        <p:spPr>
          <a:xfrm>
            <a:off x="822960" y="3977640"/>
            <a:ext cx="4937760" cy="1417320"/>
          </a:xfrm>
          <a:prstGeom prst="roundRect">
            <a:avLst>
              <a:gd name="adj" fmla="val 6452"/>
            </a:avLst>
          </a:prstGeom>
          <a:ln w="12700">
            <a:solidFill>
              <a:srgbClr val="5C6B63"/>
            </a:solidFill>
            <a:prstDash val="dash"/>
          </a:ln>
        </p:spPr>
      </p:sp>
      <p:sp>
        <p:nvSpPr>
          <p:cNvPr id="28" name="Text 21"/>
          <p:cNvSpPr txBox="1"/>
          <p:nvPr/>
        </p:nvSpPr>
        <p:spPr>
          <a:xfrm>
            <a:off x="1005840" y="3977640"/>
            <a:ext cx="4572000" cy="1417320"/>
          </a:xfrm>
          <a:prstGeom prst="rect">
            <a:avLst/>
          </a:prstGeom>
          <a:noFill/>
          <a:ln/>
        </p:spPr>
        <p:txBody>
          <a:bodyPr wrap="square" lIns="0" tIns="0" rIns="0" bIns="0" rtlCol="0" anchor="ctr"/>
          <a:lstStyle/>
          <a:p>
            <a:pPr algn="ctr" indent="0" marL="0">
              <a:lnSpc>
                <a:spcPct val="120000"/>
              </a:lnSpc>
              <a:buNone/>
            </a:pPr>
            <a:r>
              <a:rPr lang="en-US" sz="1300" dirty="0">
                <a:solidFill>
                  <a:srgbClr val="5C6B63"/>
                </a:solidFill>
                <a:latin typeface="Courier New" pitchFamily="34" charset="0"/>
                <a:ea typeface="Courier New" pitchFamily="34" charset="-122"/>
                <a:cs typeface="Courier New" pitchFamily="34" charset="-120"/>
              </a:rPr>
              <a:t>[ INSERT TERMINAL SCREENSHOT:</a:t>
            </a:r>
            <a:endParaRPr lang="en-US" sz="1300" dirty="0"/>
          </a:p>
          <a:p>
            <a:pPr algn="ctr" indent="0" marL="0">
              <a:lnSpc>
                <a:spcPct val="120000"/>
              </a:lnSpc>
              <a:buNone/>
            </a:pPr>
            <a:r>
              <a:rPr lang="en-US" sz="1300" dirty="0">
                <a:solidFill>
                  <a:srgbClr val="5C6B63"/>
                </a:solidFill>
                <a:latin typeface="Courier New" pitchFamily="34" charset="0"/>
                <a:ea typeface="Courier New" pitchFamily="34" charset="-122"/>
                <a:cs typeface="Courier New" pitchFamily="34" charset="-120"/>
              </a:rPr>
              <a:t>pytest — 5 passed ]</a:t>
            </a:r>
            <a:endParaRPr lang="en-US" sz="1300" dirty="0"/>
          </a:p>
        </p:txBody>
      </p:sp>
      <p:sp>
        <p:nvSpPr>
          <p:cNvPr id="29" name="Shape 22"/>
          <p:cNvSpPr/>
          <p:nvPr/>
        </p:nvSpPr>
        <p:spPr>
          <a:xfrm>
            <a:off x="822960" y="5623560"/>
            <a:ext cx="10545775" cy="777240"/>
          </a:xfrm>
          <a:prstGeom prst="roundRect">
            <a:avLst>
              <a:gd name="adj" fmla="val 14118"/>
            </a:avLst>
          </a:prstGeom>
          <a:solidFill>
            <a:srgbClr val="EAF6EC"/>
          </a:solidFill>
          <a:ln w="12700">
            <a:solidFill>
              <a:srgbClr val="CFE8D2"/>
            </a:solidFill>
            <a:prstDash val="solid"/>
          </a:ln>
        </p:spPr>
      </p:sp>
      <p:sp>
        <p:nvSpPr>
          <p:cNvPr id="30" name="Text 23"/>
          <p:cNvSpPr txBox="1"/>
          <p:nvPr/>
        </p:nvSpPr>
        <p:spPr>
          <a:xfrm>
            <a:off x="1097280" y="5623560"/>
            <a:ext cx="9997135" cy="777240"/>
          </a:xfrm>
          <a:prstGeom prst="rect">
            <a:avLst/>
          </a:prstGeom>
          <a:noFill/>
          <a:ln/>
        </p:spPr>
        <p:txBody>
          <a:bodyPr wrap="square" lIns="0" tIns="0" rIns="0" bIns="0" rtlCol="0" anchor="ctr"/>
          <a:lstStyle/>
          <a:p>
            <a:pPr indent="0" marL="0">
              <a:lnSpc>
                <a:spcPct val="110000"/>
              </a:lnSpc>
              <a:buNone/>
            </a:pPr>
            <a:r>
              <a:rPr lang="en-US" sz="1450" dirty="0">
                <a:solidFill>
                  <a:srgbClr val="17241C"/>
                </a:solidFill>
                <a:latin typeface="Calibri" pitchFamily="34" charset="0"/>
                <a:ea typeface="Calibri" pitchFamily="34" charset="-122"/>
                <a:cs typeface="Calibri" pitchFamily="34" charset="-120"/>
              </a:rPr>
              <a:t>Automated tests give repeatable, machine-checked confidence that ingestion behaves correctly on every run — not just the two we manually inspected.</a:t>
            </a:r>
            <a:endParaRPr lang="en-US" sz="1450" dirty="0"/>
          </a:p>
        </p:txBody>
      </p:sp>
      <p:sp>
        <p:nvSpPr>
          <p:cNvPr id="31" name="Text 24"/>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20 / 23</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3320"/>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320040"/>
          </a:xfrm>
          <a:prstGeom prst="rect">
            <a:avLst/>
          </a:prstGeom>
          <a:noFill/>
          <a:ln/>
        </p:spPr>
        <p:txBody>
          <a:bodyPr wrap="square" lIns="0" tIns="0" rIns="0" bIns="0" rtlCol="0" anchor="ctr"/>
          <a:lstStyle/>
          <a:p>
            <a:pPr indent="0" marL="0">
              <a:buNone/>
            </a:pPr>
            <a:r>
              <a:rPr lang="en-US" sz="1300" b="1" spc="200" kern="0" dirty="0">
                <a:solidFill>
                  <a:srgbClr val="D9F0DC"/>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841248"/>
            <a:ext cx="106070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Weeks 1–3 Have Achieved</a:t>
            </a:r>
            <a:endParaRPr lang="en-US" sz="3200" dirty="0"/>
          </a:p>
        </p:txBody>
      </p:sp>
      <p:sp>
        <p:nvSpPr>
          <p:cNvPr id="4" name="Shape 2"/>
          <p:cNvSpPr/>
          <p:nvPr/>
        </p:nvSpPr>
        <p:spPr>
          <a:xfrm>
            <a:off x="2090776" y="1600200"/>
            <a:ext cx="512064" cy="512064"/>
          </a:xfrm>
          <a:prstGeom prst="ellipse">
            <a:avLst/>
          </a:prstGeom>
          <a:solidFill>
            <a:srgbClr val="D9A441"/>
          </a:solidFill>
          <a:ln/>
        </p:spPr>
      </p:sp>
      <p:pic>
        <p:nvPicPr>
          <p:cNvPr id="5" name="Image 0" descr="/home/claude/hydromet_ppt/icons/search.png">    </p:cNvPr>
          <p:cNvPicPr>
            <a:picLocks noChangeAspect="1"/>
          </p:cNvPicPr>
          <p:nvPr/>
        </p:nvPicPr>
        <p:blipFill>
          <a:blip r:embed="rId1"/>
          <a:stretch>
            <a:fillRect/>
          </a:stretch>
        </p:blipFill>
        <p:spPr>
          <a:xfrm>
            <a:off x="2205990" y="1715414"/>
            <a:ext cx="281635" cy="281635"/>
          </a:xfrm>
          <a:prstGeom prst="rect">
            <a:avLst/>
          </a:prstGeom>
        </p:spPr>
      </p:pic>
      <p:sp>
        <p:nvSpPr>
          <p:cNvPr id="6" name="Text 3"/>
          <p:cNvSpPr txBox="1"/>
          <p:nvPr/>
        </p:nvSpPr>
        <p:spPr>
          <a:xfrm>
            <a:off x="1158088" y="2194560"/>
            <a:ext cx="2377440" cy="3200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Understand</a:t>
            </a:r>
            <a:endParaRPr lang="en-US" sz="1450" dirty="0"/>
          </a:p>
        </p:txBody>
      </p:sp>
      <p:sp>
        <p:nvSpPr>
          <p:cNvPr id="7" name="Shape 4"/>
          <p:cNvSpPr/>
          <p:nvPr/>
        </p:nvSpPr>
        <p:spPr>
          <a:xfrm>
            <a:off x="3672688" y="1819656"/>
            <a:ext cx="1097280" cy="73152"/>
          </a:xfrm>
          <a:prstGeom prst="rightArrow">
            <a:avLst/>
          </a:prstGeom>
          <a:solidFill>
            <a:srgbClr val="D9A441"/>
          </a:solidFill>
          <a:ln/>
        </p:spPr>
      </p:sp>
      <p:sp>
        <p:nvSpPr>
          <p:cNvPr id="8" name="Shape 5"/>
          <p:cNvSpPr/>
          <p:nvPr/>
        </p:nvSpPr>
        <p:spPr>
          <a:xfrm>
            <a:off x="5839816" y="1600200"/>
            <a:ext cx="512064" cy="512064"/>
          </a:xfrm>
          <a:prstGeom prst="ellipse">
            <a:avLst/>
          </a:prstGeom>
          <a:solidFill>
            <a:srgbClr val="D9A441"/>
          </a:solidFill>
          <a:ln/>
        </p:spPr>
      </p:sp>
      <p:pic>
        <p:nvPicPr>
          <p:cNvPr id="9" name="Image 1" descr="/home/claude/hydromet_ppt/icons/sitemap.png">    </p:cNvPr>
          <p:cNvPicPr>
            <a:picLocks noChangeAspect="1"/>
          </p:cNvPicPr>
          <p:nvPr/>
        </p:nvPicPr>
        <p:blipFill>
          <a:blip r:embed="rId2"/>
          <a:stretch>
            <a:fillRect/>
          </a:stretch>
        </p:blipFill>
        <p:spPr>
          <a:xfrm>
            <a:off x="5955030" y="1715414"/>
            <a:ext cx="281635" cy="281635"/>
          </a:xfrm>
          <a:prstGeom prst="rect">
            <a:avLst/>
          </a:prstGeom>
        </p:spPr>
      </p:pic>
      <p:sp>
        <p:nvSpPr>
          <p:cNvPr id="10" name="Text 6"/>
          <p:cNvSpPr txBox="1"/>
          <p:nvPr/>
        </p:nvSpPr>
        <p:spPr>
          <a:xfrm>
            <a:off x="4907128" y="2194560"/>
            <a:ext cx="2377440" cy="3200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Design</a:t>
            </a:r>
            <a:endParaRPr lang="en-US" sz="1450" dirty="0"/>
          </a:p>
        </p:txBody>
      </p:sp>
      <p:sp>
        <p:nvSpPr>
          <p:cNvPr id="11" name="Shape 7"/>
          <p:cNvSpPr/>
          <p:nvPr/>
        </p:nvSpPr>
        <p:spPr>
          <a:xfrm>
            <a:off x="7421728" y="1819656"/>
            <a:ext cx="1097280" cy="73152"/>
          </a:xfrm>
          <a:prstGeom prst="rightArrow">
            <a:avLst/>
          </a:prstGeom>
          <a:solidFill>
            <a:srgbClr val="D9A441"/>
          </a:solidFill>
          <a:ln/>
        </p:spPr>
      </p:sp>
      <p:sp>
        <p:nvSpPr>
          <p:cNvPr id="12" name="Shape 8"/>
          <p:cNvSpPr/>
          <p:nvPr/>
        </p:nvSpPr>
        <p:spPr>
          <a:xfrm>
            <a:off x="9588856" y="1600200"/>
            <a:ext cx="512064" cy="512064"/>
          </a:xfrm>
          <a:prstGeom prst="ellipse">
            <a:avLst/>
          </a:prstGeom>
          <a:solidFill>
            <a:srgbClr val="D9A441"/>
          </a:solidFill>
          <a:ln/>
        </p:spPr>
      </p:sp>
      <p:pic>
        <p:nvPicPr>
          <p:cNvPr id="13" name="Image 2" descr="/home/claude/hydromet_ppt/icons/sync.png">    </p:cNvPr>
          <p:cNvPicPr>
            <a:picLocks noChangeAspect="1"/>
          </p:cNvPicPr>
          <p:nvPr/>
        </p:nvPicPr>
        <p:blipFill>
          <a:blip r:embed="rId3"/>
          <a:stretch>
            <a:fillRect/>
          </a:stretch>
        </p:blipFill>
        <p:spPr>
          <a:xfrm>
            <a:off x="9704070" y="1715414"/>
            <a:ext cx="281635" cy="281635"/>
          </a:xfrm>
          <a:prstGeom prst="rect">
            <a:avLst/>
          </a:prstGeom>
        </p:spPr>
      </p:pic>
      <p:sp>
        <p:nvSpPr>
          <p:cNvPr id="14" name="Text 9"/>
          <p:cNvSpPr txBox="1"/>
          <p:nvPr/>
        </p:nvSpPr>
        <p:spPr>
          <a:xfrm>
            <a:off x="8656168" y="2194560"/>
            <a:ext cx="2377440" cy="3200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Build</a:t>
            </a:r>
            <a:endParaRPr lang="en-US" sz="1450" dirty="0"/>
          </a:p>
        </p:txBody>
      </p:sp>
      <p:sp>
        <p:nvSpPr>
          <p:cNvPr id="15" name="Shape 10"/>
          <p:cNvSpPr/>
          <p:nvPr/>
        </p:nvSpPr>
        <p:spPr>
          <a:xfrm>
            <a:off x="640080" y="2697480"/>
            <a:ext cx="292608" cy="292608"/>
          </a:xfrm>
          <a:prstGeom prst="ellipse">
            <a:avLst/>
          </a:prstGeom>
          <a:solidFill>
            <a:srgbClr val="3FA34D"/>
          </a:solidFill>
          <a:ln/>
        </p:spPr>
      </p:sp>
      <p:pic>
        <p:nvPicPr>
          <p:cNvPr id="16" name="Image 3" descr="/home/claude/hydromet_ppt/icons/check.png">    </p:cNvPr>
          <p:cNvPicPr>
            <a:picLocks noChangeAspect="1"/>
          </p:cNvPicPr>
          <p:nvPr/>
        </p:nvPicPr>
        <p:blipFill>
          <a:blip r:embed="rId4"/>
          <a:stretch>
            <a:fillRect/>
          </a:stretch>
        </p:blipFill>
        <p:spPr>
          <a:xfrm>
            <a:off x="698602" y="2756002"/>
            <a:ext cx="175565" cy="175565"/>
          </a:xfrm>
          <a:prstGeom prst="rect">
            <a:avLst/>
          </a:prstGeom>
        </p:spPr>
      </p:pic>
      <p:sp>
        <p:nvSpPr>
          <p:cNvPr id="17" name="Text 11"/>
          <p:cNvSpPr txBox="1"/>
          <p:nvPr/>
        </p:nvSpPr>
        <p:spPr>
          <a:xfrm>
            <a:off x="1042416" y="267004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NASA POWER ingestion (8 locations, 25 yrs)</a:t>
            </a:r>
            <a:endParaRPr lang="en-US" sz="1400" dirty="0"/>
          </a:p>
        </p:txBody>
      </p:sp>
      <p:sp>
        <p:nvSpPr>
          <p:cNvPr id="18" name="Shape 12"/>
          <p:cNvSpPr/>
          <p:nvPr/>
        </p:nvSpPr>
        <p:spPr>
          <a:xfrm>
            <a:off x="6172200" y="2697480"/>
            <a:ext cx="292608" cy="292608"/>
          </a:xfrm>
          <a:prstGeom prst="ellipse">
            <a:avLst/>
          </a:prstGeom>
          <a:solidFill>
            <a:srgbClr val="3FA34D"/>
          </a:solidFill>
          <a:ln/>
        </p:spPr>
      </p:sp>
      <p:pic>
        <p:nvPicPr>
          <p:cNvPr id="19" name="Image 4" descr="/home/claude/hydromet_ppt/icons/check.png">    </p:cNvPr>
          <p:cNvPicPr>
            <a:picLocks noChangeAspect="1"/>
          </p:cNvPicPr>
          <p:nvPr/>
        </p:nvPicPr>
        <p:blipFill>
          <a:blip r:embed="rId5"/>
          <a:stretch>
            <a:fillRect/>
          </a:stretch>
        </p:blipFill>
        <p:spPr>
          <a:xfrm>
            <a:off x="6230722" y="2756002"/>
            <a:ext cx="175565" cy="175565"/>
          </a:xfrm>
          <a:prstGeom prst="rect">
            <a:avLst/>
          </a:prstGeom>
        </p:spPr>
      </p:pic>
      <p:sp>
        <p:nvSpPr>
          <p:cNvPr id="20" name="Text 13"/>
          <p:cNvSpPr txBox="1"/>
          <p:nvPr/>
        </p:nvSpPr>
        <p:spPr>
          <a:xfrm>
            <a:off x="6574536" y="267004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Initial profiling — structurally clean</a:t>
            </a:r>
            <a:endParaRPr lang="en-US" sz="1400" dirty="0"/>
          </a:p>
        </p:txBody>
      </p:sp>
      <p:sp>
        <p:nvSpPr>
          <p:cNvPr id="21" name="Shape 14"/>
          <p:cNvSpPr/>
          <p:nvPr/>
        </p:nvSpPr>
        <p:spPr>
          <a:xfrm>
            <a:off x="640080" y="3200400"/>
            <a:ext cx="292608" cy="292608"/>
          </a:xfrm>
          <a:prstGeom prst="ellipse">
            <a:avLst/>
          </a:prstGeom>
          <a:solidFill>
            <a:srgbClr val="3FA34D"/>
          </a:solidFill>
          <a:ln/>
        </p:spPr>
      </p:sp>
      <p:pic>
        <p:nvPicPr>
          <p:cNvPr id="22" name="Image 5" descr="/home/claude/hydromet_ppt/icons/check.png">    </p:cNvPr>
          <p:cNvPicPr>
            <a:picLocks noChangeAspect="1"/>
          </p:cNvPicPr>
          <p:nvPr/>
        </p:nvPicPr>
        <p:blipFill>
          <a:blip r:embed="rId6"/>
          <a:stretch>
            <a:fillRect/>
          </a:stretch>
        </p:blipFill>
        <p:spPr>
          <a:xfrm>
            <a:off x="698602" y="3258922"/>
            <a:ext cx="175565" cy="175565"/>
          </a:xfrm>
          <a:prstGeom prst="rect">
            <a:avLst/>
          </a:prstGeom>
        </p:spPr>
      </p:pic>
      <p:sp>
        <p:nvSpPr>
          <p:cNvPr id="23" name="Text 15"/>
          <p:cNvSpPr txBox="1"/>
          <p:nvPr/>
        </p:nvSpPr>
        <p:spPr>
          <a:xfrm>
            <a:off x="1042416" y="317296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Advanced profiling — 3 problems found</a:t>
            </a:r>
            <a:endParaRPr lang="en-US" sz="1400" dirty="0"/>
          </a:p>
        </p:txBody>
      </p:sp>
      <p:sp>
        <p:nvSpPr>
          <p:cNvPr id="24" name="Shape 16"/>
          <p:cNvSpPr/>
          <p:nvPr/>
        </p:nvSpPr>
        <p:spPr>
          <a:xfrm>
            <a:off x="6172200" y="3200400"/>
            <a:ext cx="292608" cy="292608"/>
          </a:xfrm>
          <a:prstGeom prst="ellipse">
            <a:avLst/>
          </a:prstGeom>
          <a:solidFill>
            <a:srgbClr val="3FA34D"/>
          </a:solidFill>
          <a:ln/>
        </p:spPr>
      </p:sp>
      <p:pic>
        <p:nvPicPr>
          <p:cNvPr id="25" name="Image 6" descr="/home/claude/hydromet_ppt/icons/check.png">    </p:cNvPr>
          <p:cNvPicPr>
            <a:picLocks noChangeAspect="1"/>
          </p:cNvPicPr>
          <p:nvPr/>
        </p:nvPicPr>
        <p:blipFill>
          <a:blip r:embed="rId7"/>
          <a:stretch>
            <a:fillRect/>
          </a:stretch>
        </p:blipFill>
        <p:spPr>
          <a:xfrm>
            <a:off x="6230722" y="3258922"/>
            <a:ext cx="175565" cy="175565"/>
          </a:xfrm>
          <a:prstGeom prst="rect">
            <a:avLst/>
          </a:prstGeom>
        </p:spPr>
      </p:pic>
      <p:sp>
        <p:nvSpPr>
          <p:cNvPr id="26" name="Text 17"/>
          <p:cNvSpPr txBox="1"/>
          <p:nvPr/>
        </p:nvSpPr>
        <p:spPr>
          <a:xfrm>
            <a:off x="6574536" y="317296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Formal problem statement</a:t>
            </a:r>
            <a:endParaRPr lang="en-US" sz="1400" dirty="0"/>
          </a:p>
        </p:txBody>
      </p:sp>
      <p:sp>
        <p:nvSpPr>
          <p:cNvPr id="27" name="Shape 18"/>
          <p:cNvSpPr/>
          <p:nvPr/>
        </p:nvSpPr>
        <p:spPr>
          <a:xfrm>
            <a:off x="640080" y="3703320"/>
            <a:ext cx="292608" cy="292608"/>
          </a:xfrm>
          <a:prstGeom prst="ellipse">
            <a:avLst/>
          </a:prstGeom>
          <a:solidFill>
            <a:srgbClr val="3FA34D"/>
          </a:solidFill>
          <a:ln/>
        </p:spPr>
      </p:sp>
      <p:pic>
        <p:nvPicPr>
          <p:cNvPr id="28" name="Image 7" descr="/home/claude/hydromet_ppt/icons/check.png">    </p:cNvPr>
          <p:cNvPicPr>
            <a:picLocks noChangeAspect="1"/>
          </p:cNvPicPr>
          <p:nvPr/>
        </p:nvPicPr>
        <p:blipFill>
          <a:blip r:embed="rId8"/>
          <a:stretch>
            <a:fillRect/>
          </a:stretch>
        </p:blipFill>
        <p:spPr>
          <a:xfrm>
            <a:off x="698602" y="3761842"/>
            <a:ext cx="175565" cy="175565"/>
          </a:xfrm>
          <a:prstGeom prst="rect">
            <a:avLst/>
          </a:prstGeom>
        </p:spPr>
      </p:pic>
      <p:sp>
        <p:nvSpPr>
          <p:cNvPr id="29" name="Text 19"/>
          <p:cNvSpPr txBox="1"/>
          <p:nvPr/>
        </p:nvSpPr>
        <p:spPr>
          <a:xfrm>
            <a:off x="1042416" y="367588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DuckDB star-schema model</a:t>
            </a:r>
            <a:endParaRPr lang="en-US" sz="1400" dirty="0"/>
          </a:p>
        </p:txBody>
      </p:sp>
      <p:sp>
        <p:nvSpPr>
          <p:cNvPr id="30" name="Shape 20"/>
          <p:cNvSpPr/>
          <p:nvPr/>
        </p:nvSpPr>
        <p:spPr>
          <a:xfrm>
            <a:off x="6172200" y="3703320"/>
            <a:ext cx="292608" cy="292608"/>
          </a:xfrm>
          <a:prstGeom prst="ellipse">
            <a:avLst/>
          </a:prstGeom>
          <a:solidFill>
            <a:srgbClr val="3FA34D"/>
          </a:solidFill>
          <a:ln/>
        </p:spPr>
      </p:sp>
      <p:pic>
        <p:nvPicPr>
          <p:cNvPr id="31" name="Image 8" descr="/home/claude/hydromet_ppt/icons/check.png">    </p:cNvPr>
          <p:cNvPicPr>
            <a:picLocks noChangeAspect="1"/>
          </p:cNvPicPr>
          <p:nvPr/>
        </p:nvPicPr>
        <p:blipFill>
          <a:blip r:embed="rId9"/>
          <a:stretch>
            <a:fillRect/>
          </a:stretch>
        </p:blipFill>
        <p:spPr>
          <a:xfrm>
            <a:off x="6230722" y="3761842"/>
            <a:ext cx="175565" cy="175565"/>
          </a:xfrm>
          <a:prstGeom prst="rect">
            <a:avLst/>
          </a:prstGeom>
        </p:spPr>
      </p:pic>
      <p:sp>
        <p:nvSpPr>
          <p:cNvPr id="32" name="Text 21"/>
          <p:cNvSpPr txBox="1"/>
          <p:nvPr/>
        </p:nvSpPr>
        <p:spPr>
          <a:xfrm>
            <a:off x="6574536" y="367588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Wide-to-long ETL (511,336 fact rows)</a:t>
            </a:r>
            <a:endParaRPr lang="en-US" sz="1400" dirty="0"/>
          </a:p>
        </p:txBody>
      </p:sp>
      <p:sp>
        <p:nvSpPr>
          <p:cNvPr id="33" name="Shape 22"/>
          <p:cNvSpPr/>
          <p:nvPr/>
        </p:nvSpPr>
        <p:spPr>
          <a:xfrm>
            <a:off x="640080" y="4206240"/>
            <a:ext cx="292608" cy="292608"/>
          </a:xfrm>
          <a:prstGeom prst="ellipse">
            <a:avLst/>
          </a:prstGeom>
          <a:solidFill>
            <a:srgbClr val="3FA34D"/>
          </a:solidFill>
          <a:ln/>
        </p:spPr>
      </p:sp>
      <p:pic>
        <p:nvPicPr>
          <p:cNvPr id="34" name="Image 9" descr="/home/claude/hydromet_ppt/icons/check.png">    </p:cNvPr>
          <p:cNvPicPr>
            <a:picLocks noChangeAspect="1"/>
          </p:cNvPicPr>
          <p:nvPr/>
        </p:nvPicPr>
        <p:blipFill>
          <a:blip r:embed="rId10"/>
          <a:stretch>
            <a:fillRect/>
          </a:stretch>
        </p:blipFill>
        <p:spPr>
          <a:xfrm>
            <a:off x="698602" y="4264762"/>
            <a:ext cx="175565" cy="175565"/>
          </a:xfrm>
          <a:prstGeom prst="rect">
            <a:avLst/>
          </a:prstGeom>
        </p:spPr>
      </p:pic>
      <p:sp>
        <p:nvSpPr>
          <p:cNvPr id="35" name="Text 23"/>
          <p:cNvSpPr txBox="1"/>
          <p:nvPr/>
        </p:nvSpPr>
        <p:spPr>
          <a:xfrm>
            <a:off x="1042416" y="417880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Quality-flag architecture</a:t>
            </a:r>
            <a:endParaRPr lang="en-US" sz="1400" dirty="0"/>
          </a:p>
        </p:txBody>
      </p:sp>
      <p:sp>
        <p:nvSpPr>
          <p:cNvPr id="36" name="Shape 24"/>
          <p:cNvSpPr/>
          <p:nvPr/>
        </p:nvSpPr>
        <p:spPr>
          <a:xfrm>
            <a:off x="6172200" y="4206240"/>
            <a:ext cx="292608" cy="292608"/>
          </a:xfrm>
          <a:prstGeom prst="ellipse">
            <a:avLst/>
          </a:prstGeom>
          <a:solidFill>
            <a:srgbClr val="3FA34D"/>
          </a:solidFill>
          <a:ln/>
        </p:spPr>
      </p:sp>
      <p:pic>
        <p:nvPicPr>
          <p:cNvPr id="37" name="Image 10" descr="/home/claude/hydromet_ppt/icons/check.png">    </p:cNvPr>
          <p:cNvPicPr>
            <a:picLocks noChangeAspect="1"/>
          </p:cNvPicPr>
          <p:nvPr/>
        </p:nvPicPr>
        <p:blipFill>
          <a:blip r:embed="rId11"/>
          <a:stretch>
            <a:fillRect/>
          </a:stretch>
        </p:blipFill>
        <p:spPr>
          <a:xfrm>
            <a:off x="6230722" y="4264762"/>
            <a:ext cx="175565" cy="175565"/>
          </a:xfrm>
          <a:prstGeom prst="rect">
            <a:avLst/>
          </a:prstGeom>
        </p:spPr>
      </p:pic>
      <p:sp>
        <p:nvSpPr>
          <p:cNvPr id="38" name="Text 25"/>
          <p:cNvSpPr txBox="1"/>
          <p:nvPr/>
        </p:nvSpPr>
        <p:spPr>
          <a:xfrm>
            <a:off x="6574536" y="417880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Deterministic request IDs</a:t>
            </a:r>
            <a:endParaRPr lang="en-US" sz="1400" dirty="0"/>
          </a:p>
        </p:txBody>
      </p:sp>
      <p:sp>
        <p:nvSpPr>
          <p:cNvPr id="39" name="Shape 26"/>
          <p:cNvSpPr/>
          <p:nvPr/>
        </p:nvSpPr>
        <p:spPr>
          <a:xfrm>
            <a:off x="640080" y="4709160"/>
            <a:ext cx="292608" cy="292608"/>
          </a:xfrm>
          <a:prstGeom prst="ellipse">
            <a:avLst/>
          </a:prstGeom>
          <a:solidFill>
            <a:srgbClr val="3FA34D"/>
          </a:solidFill>
          <a:ln/>
        </p:spPr>
      </p:sp>
      <p:pic>
        <p:nvPicPr>
          <p:cNvPr id="40" name="Image 11" descr="/home/claude/hydromet_ppt/icons/check.png">    </p:cNvPr>
          <p:cNvPicPr>
            <a:picLocks noChangeAspect="1"/>
          </p:cNvPicPr>
          <p:nvPr/>
        </p:nvPicPr>
        <p:blipFill>
          <a:blip r:embed="rId12"/>
          <a:stretch>
            <a:fillRect/>
          </a:stretch>
        </p:blipFill>
        <p:spPr>
          <a:xfrm>
            <a:off x="698602" y="4767682"/>
            <a:ext cx="175565" cy="175565"/>
          </a:xfrm>
          <a:prstGeom prst="rect">
            <a:avLst/>
          </a:prstGeom>
        </p:spPr>
      </p:pic>
      <p:sp>
        <p:nvSpPr>
          <p:cNvPr id="41" name="Text 27"/>
          <p:cNvSpPr txBox="1"/>
          <p:nvPr/>
        </p:nvSpPr>
        <p:spPr>
          <a:xfrm>
            <a:off x="1042416" y="468172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Raw-data preservation + manifest</a:t>
            </a:r>
            <a:endParaRPr lang="en-US" sz="1400" dirty="0"/>
          </a:p>
        </p:txBody>
      </p:sp>
      <p:sp>
        <p:nvSpPr>
          <p:cNvPr id="42" name="Shape 28"/>
          <p:cNvSpPr/>
          <p:nvPr/>
        </p:nvSpPr>
        <p:spPr>
          <a:xfrm>
            <a:off x="6172200" y="4709160"/>
            <a:ext cx="292608" cy="292608"/>
          </a:xfrm>
          <a:prstGeom prst="ellipse">
            <a:avLst/>
          </a:prstGeom>
          <a:solidFill>
            <a:srgbClr val="3FA34D"/>
          </a:solidFill>
          <a:ln/>
        </p:spPr>
      </p:sp>
      <p:pic>
        <p:nvPicPr>
          <p:cNvPr id="43" name="Image 12" descr="/home/claude/hydromet_ppt/icons/check.png">    </p:cNvPr>
          <p:cNvPicPr>
            <a:picLocks noChangeAspect="1"/>
          </p:cNvPicPr>
          <p:nvPr/>
        </p:nvPicPr>
        <p:blipFill>
          <a:blip r:embed="rId13"/>
          <a:stretch>
            <a:fillRect/>
          </a:stretch>
        </p:blipFill>
        <p:spPr>
          <a:xfrm>
            <a:off x="6230722" y="4767682"/>
            <a:ext cx="175565" cy="175565"/>
          </a:xfrm>
          <a:prstGeom prst="rect">
            <a:avLst/>
          </a:prstGeom>
        </p:spPr>
      </p:pic>
      <p:sp>
        <p:nvSpPr>
          <p:cNvPr id="44" name="Text 29"/>
          <p:cNvSpPr txBox="1"/>
          <p:nvPr/>
        </p:nvSpPr>
        <p:spPr>
          <a:xfrm>
            <a:off x="6574536" y="468172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SHA-256 integrity checksums</a:t>
            </a:r>
            <a:endParaRPr lang="en-US" sz="1400" dirty="0"/>
          </a:p>
        </p:txBody>
      </p:sp>
      <p:sp>
        <p:nvSpPr>
          <p:cNvPr id="45" name="Shape 30"/>
          <p:cNvSpPr/>
          <p:nvPr/>
        </p:nvSpPr>
        <p:spPr>
          <a:xfrm>
            <a:off x="640080" y="5212080"/>
            <a:ext cx="292608" cy="292608"/>
          </a:xfrm>
          <a:prstGeom prst="ellipse">
            <a:avLst/>
          </a:prstGeom>
          <a:solidFill>
            <a:srgbClr val="3FA34D"/>
          </a:solidFill>
          <a:ln/>
        </p:spPr>
      </p:sp>
      <p:pic>
        <p:nvPicPr>
          <p:cNvPr id="46" name="Image 13" descr="/home/claude/hydromet_ppt/icons/check.png">    </p:cNvPr>
          <p:cNvPicPr>
            <a:picLocks noChangeAspect="1"/>
          </p:cNvPicPr>
          <p:nvPr/>
        </p:nvPicPr>
        <p:blipFill>
          <a:blip r:embed="rId14"/>
          <a:stretch>
            <a:fillRect/>
          </a:stretch>
        </p:blipFill>
        <p:spPr>
          <a:xfrm>
            <a:off x="698602" y="5270602"/>
            <a:ext cx="175565" cy="175565"/>
          </a:xfrm>
          <a:prstGeom prst="rect">
            <a:avLst/>
          </a:prstGeom>
        </p:spPr>
      </p:pic>
      <p:sp>
        <p:nvSpPr>
          <p:cNvPr id="47" name="Text 31"/>
          <p:cNvSpPr txBox="1"/>
          <p:nvPr/>
        </p:nvSpPr>
        <p:spPr>
          <a:xfrm>
            <a:off x="1042416" y="518464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Retry / exponential-backoff logic</a:t>
            </a:r>
            <a:endParaRPr lang="en-US" sz="1400" dirty="0"/>
          </a:p>
        </p:txBody>
      </p:sp>
      <p:sp>
        <p:nvSpPr>
          <p:cNvPr id="48" name="Shape 32"/>
          <p:cNvSpPr/>
          <p:nvPr/>
        </p:nvSpPr>
        <p:spPr>
          <a:xfrm>
            <a:off x="6172200" y="5212080"/>
            <a:ext cx="292608" cy="292608"/>
          </a:xfrm>
          <a:prstGeom prst="ellipse">
            <a:avLst/>
          </a:prstGeom>
          <a:solidFill>
            <a:srgbClr val="3FA34D"/>
          </a:solidFill>
          <a:ln/>
        </p:spPr>
      </p:sp>
      <p:pic>
        <p:nvPicPr>
          <p:cNvPr id="49" name="Image 14" descr="/home/claude/hydromet_ppt/icons/check.png">    </p:cNvPr>
          <p:cNvPicPr>
            <a:picLocks noChangeAspect="1"/>
          </p:cNvPicPr>
          <p:nvPr/>
        </p:nvPicPr>
        <p:blipFill>
          <a:blip r:embed="rId15"/>
          <a:stretch>
            <a:fillRect/>
          </a:stretch>
        </p:blipFill>
        <p:spPr>
          <a:xfrm>
            <a:off x="6230722" y="5270602"/>
            <a:ext cx="175565" cy="175565"/>
          </a:xfrm>
          <a:prstGeom prst="rect">
            <a:avLst/>
          </a:prstGeom>
        </p:spPr>
      </p:pic>
      <p:sp>
        <p:nvSpPr>
          <p:cNvPr id="50" name="Text 33"/>
          <p:cNvSpPr txBox="1"/>
          <p:nvPr/>
        </p:nvSpPr>
        <p:spPr>
          <a:xfrm>
            <a:off x="6574536" y="518464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Idempotency proven by rerun test</a:t>
            </a:r>
            <a:endParaRPr lang="en-US" sz="1400" dirty="0"/>
          </a:p>
        </p:txBody>
      </p:sp>
      <p:sp>
        <p:nvSpPr>
          <p:cNvPr id="51" name="Shape 34"/>
          <p:cNvSpPr/>
          <p:nvPr/>
        </p:nvSpPr>
        <p:spPr>
          <a:xfrm>
            <a:off x="640080" y="5715000"/>
            <a:ext cx="292608" cy="292608"/>
          </a:xfrm>
          <a:prstGeom prst="ellipse">
            <a:avLst/>
          </a:prstGeom>
          <a:solidFill>
            <a:srgbClr val="3FA34D"/>
          </a:solidFill>
          <a:ln/>
        </p:spPr>
      </p:sp>
      <p:pic>
        <p:nvPicPr>
          <p:cNvPr id="52" name="Image 15" descr="/home/claude/hydromet_ppt/icons/check.png">    </p:cNvPr>
          <p:cNvPicPr>
            <a:picLocks noChangeAspect="1"/>
          </p:cNvPicPr>
          <p:nvPr/>
        </p:nvPicPr>
        <p:blipFill>
          <a:blip r:embed="rId16"/>
          <a:stretch>
            <a:fillRect/>
          </a:stretch>
        </p:blipFill>
        <p:spPr>
          <a:xfrm>
            <a:off x="698602" y="5773522"/>
            <a:ext cx="175565" cy="175565"/>
          </a:xfrm>
          <a:prstGeom prst="rect">
            <a:avLst/>
          </a:prstGeom>
        </p:spPr>
      </p:pic>
      <p:sp>
        <p:nvSpPr>
          <p:cNvPr id="53" name="Text 35"/>
          <p:cNvSpPr txBox="1"/>
          <p:nvPr/>
        </p:nvSpPr>
        <p:spPr>
          <a:xfrm>
            <a:off x="1042416" y="5687568"/>
            <a:ext cx="4855464" cy="365760"/>
          </a:xfrm>
          <a:prstGeom prst="rect">
            <a:avLst/>
          </a:prstGeom>
          <a:noFill/>
          <a:ln/>
        </p:spPr>
        <p:txBody>
          <a:bodyPr wrap="square" lIns="0" tIns="0" rIns="0" bIns="0" rtlCol="0" anchor="ctr"/>
          <a:lstStyle/>
          <a:p>
            <a:pPr indent="0" marL="0">
              <a:buNone/>
            </a:pPr>
            <a:r>
              <a:rPr lang="en-US" sz="1400" dirty="0">
                <a:solidFill>
                  <a:srgbClr val="D9F0DC"/>
                </a:solidFill>
                <a:latin typeface="Calibri" pitchFamily="34" charset="0"/>
                <a:ea typeface="Calibri" pitchFamily="34" charset="-122"/>
                <a:cs typeface="Calibri" pitchFamily="34" charset="-120"/>
              </a:rPr>
              <a:t>Automated tests (5 / 5 passing)</a:t>
            </a:r>
            <a:endParaRPr lang="en-US" sz="1400" dirty="0"/>
          </a:p>
        </p:txBody>
      </p:sp>
      <p:sp>
        <p:nvSpPr>
          <p:cNvPr id="54" name="Text 36"/>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21 / 23</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3320"/>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320040"/>
          </a:xfrm>
          <a:prstGeom prst="rect">
            <a:avLst/>
          </a:prstGeom>
          <a:noFill/>
          <a:ln/>
        </p:spPr>
        <p:txBody>
          <a:bodyPr wrap="square" lIns="0" tIns="0" rIns="0" bIns="0" rtlCol="0" anchor="ctr"/>
          <a:lstStyle/>
          <a:p>
            <a:pPr indent="0" marL="0">
              <a:buNone/>
            </a:pPr>
            <a:r>
              <a:rPr lang="en-US" sz="1300" b="1" spc="200" kern="0" dirty="0">
                <a:solidFill>
                  <a:srgbClr val="D9F0DC"/>
                </a:solidFill>
                <a:latin typeface="Calibri" pitchFamily="34" charset="0"/>
                <a:ea typeface="Calibri" pitchFamily="34" charset="-122"/>
                <a:cs typeface="Calibri" pitchFamily="34" charset="-120"/>
              </a:rPr>
              <a:t>LOOKING AHEAD</a:t>
            </a:r>
            <a:endParaRPr lang="en-US" sz="1300" dirty="0"/>
          </a:p>
        </p:txBody>
      </p:sp>
      <p:sp>
        <p:nvSpPr>
          <p:cNvPr id="3" name="Text 1"/>
          <p:cNvSpPr txBox="1"/>
          <p:nvPr/>
        </p:nvSpPr>
        <p:spPr>
          <a:xfrm>
            <a:off x="548640" y="841248"/>
            <a:ext cx="106070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Steps</a:t>
            </a:r>
            <a:endParaRPr lang="en-US" sz="3200" dirty="0"/>
          </a:p>
        </p:txBody>
      </p:sp>
      <p:sp>
        <p:nvSpPr>
          <p:cNvPr id="4" name="Shape 2"/>
          <p:cNvSpPr/>
          <p:nvPr/>
        </p:nvSpPr>
        <p:spPr>
          <a:xfrm>
            <a:off x="548640" y="1691640"/>
            <a:ext cx="11094415" cy="502920"/>
          </a:xfrm>
          <a:prstGeom prst="roundRect">
            <a:avLst>
              <a:gd name="adj" fmla="val 18182"/>
            </a:avLst>
          </a:prstGeom>
          <a:solidFill>
            <a:srgbClr val="D9A441"/>
          </a:solidFill>
          <a:ln/>
        </p:spPr>
      </p:sp>
      <p:sp>
        <p:nvSpPr>
          <p:cNvPr id="5" name="Text 3"/>
          <p:cNvSpPr txBox="1"/>
          <p:nvPr/>
        </p:nvSpPr>
        <p:spPr>
          <a:xfrm>
            <a:off x="548640" y="1691640"/>
            <a:ext cx="11094415" cy="502920"/>
          </a:xfrm>
          <a:prstGeom prst="rect">
            <a:avLst/>
          </a:prstGeom>
          <a:noFill/>
          <a:ln/>
        </p:spPr>
        <p:txBody>
          <a:bodyPr wrap="square" lIns="0" tIns="0" rIns="0" bIns="0" rtlCol="0" anchor="ctr"/>
          <a:lstStyle/>
          <a:p>
            <a:pPr algn="ctr" indent="0" marL="0">
              <a:buNone/>
            </a:pPr>
            <a:r>
              <a:rPr lang="en-US" sz="1450" b="1" spc="100" kern="0" dirty="0">
                <a:solidFill>
                  <a:srgbClr val="0F3320"/>
                </a:solidFill>
                <a:latin typeface="Calibri" pitchFamily="34" charset="0"/>
                <a:ea typeface="Calibri" pitchFamily="34" charset="-122"/>
                <a:cs typeface="Calibri" pitchFamily="34" charset="-120"/>
              </a:rPr>
              <a:t>NOT YET IMPLEMENTED — PLANNED FOR LATER UNITS</a:t>
            </a:r>
            <a:endParaRPr lang="en-US" sz="1450" dirty="0"/>
          </a:p>
        </p:txBody>
      </p:sp>
      <p:sp>
        <p:nvSpPr>
          <p:cNvPr id="6" name="Shape 4"/>
          <p:cNvSpPr/>
          <p:nvPr/>
        </p:nvSpPr>
        <p:spPr>
          <a:xfrm>
            <a:off x="700888" y="2468880"/>
            <a:ext cx="5257800" cy="566928"/>
          </a:xfrm>
          <a:prstGeom prst="roundRect">
            <a:avLst>
              <a:gd name="adj" fmla="val 50000"/>
            </a:avLst>
          </a:prstGeom>
          <a:ln w="19050">
            <a:solidFill>
              <a:srgbClr val="D9A441"/>
            </a:solidFill>
            <a:prstDash val="dash"/>
          </a:ln>
        </p:spPr>
      </p:sp>
      <p:sp>
        <p:nvSpPr>
          <p:cNvPr id="7" name="Text 5"/>
          <p:cNvSpPr txBox="1"/>
          <p:nvPr/>
        </p:nvSpPr>
        <p:spPr>
          <a:xfrm>
            <a:off x="975208" y="246888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CSV vs Parquet vs DuckDB/Postgres benchmarking</a:t>
            </a:r>
            <a:endParaRPr lang="en-US" sz="1350" dirty="0"/>
          </a:p>
        </p:txBody>
      </p:sp>
      <p:sp>
        <p:nvSpPr>
          <p:cNvPr id="8" name="Shape 6"/>
          <p:cNvSpPr/>
          <p:nvPr/>
        </p:nvSpPr>
        <p:spPr>
          <a:xfrm>
            <a:off x="6233008" y="2468880"/>
            <a:ext cx="5257800" cy="566928"/>
          </a:xfrm>
          <a:prstGeom prst="roundRect">
            <a:avLst>
              <a:gd name="adj" fmla="val 50000"/>
            </a:avLst>
          </a:prstGeom>
          <a:ln w="19050">
            <a:solidFill>
              <a:srgbClr val="D9A441"/>
            </a:solidFill>
            <a:prstDash val="dash"/>
          </a:ln>
        </p:spPr>
      </p:sp>
      <p:sp>
        <p:nvSpPr>
          <p:cNvPr id="9" name="Text 7"/>
          <p:cNvSpPr txBox="1"/>
          <p:nvPr/>
        </p:nvSpPr>
        <p:spPr>
          <a:xfrm>
            <a:off x="6507328" y="246888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Additional sources: CHIRPS, ERA5-Land, stations</a:t>
            </a:r>
            <a:endParaRPr lang="en-US" sz="1350" dirty="0"/>
          </a:p>
        </p:txBody>
      </p:sp>
      <p:sp>
        <p:nvSpPr>
          <p:cNvPr id="10" name="Shape 8"/>
          <p:cNvSpPr/>
          <p:nvPr/>
        </p:nvSpPr>
        <p:spPr>
          <a:xfrm>
            <a:off x="700888" y="3200400"/>
            <a:ext cx="5257800" cy="566928"/>
          </a:xfrm>
          <a:prstGeom prst="roundRect">
            <a:avLst>
              <a:gd name="adj" fmla="val 50000"/>
            </a:avLst>
          </a:prstGeom>
          <a:ln w="19050">
            <a:solidFill>
              <a:srgbClr val="D9A441"/>
            </a:solidFill>
            <a:prstDash val="dash"/>
          </a:ln>
        </p:spPr>
      </p:sp>
      <p:sp>
        <p:nvSpPr>
          <p:cNvPr id="11" name="Text 9"/>
          <p:cNvSpPr txBox="1"/>
          <p:nvPr/>
        </p:nvSpPr>
        <p:spPr>
          <a:xfrm>
            <a:off x="975208" y="320040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Further data-quality rules</a:t>
            </a:r>
            <a:endParaRPr lang="en-US" sz="1350" dirty="0"/>
          </a:p>
        </p:txBody>
      </p:sp>
      <p:sp>
        <p:nvSpPr>
          <p:cNvPr id="12" name="Shape 10"/>
          <p:cNvSpPr/>
          <p:nvPr/>
        </p:nvSpPr>
        <p:spPr>
          <a:xfrm>
            <a:off x="6233008" y="3200400"/>
            <a:ext cx="5257800" cy="566928"/>
          </a:xfrm>
          <a:prstGeom prst="roundRect">
            <a:avLst>
              <a:gd name="adj" fmla="val 50000"/>
            </a:avLst>
          </a:prstGeom>
          <a:ln w="19050">
            <a:solidFill>
              <a:srgbClr val="D9A441"/>
            </a:solidFill>
            <a:prstDash val="dash"/>
          </a:ln>
        </p:spPr>
      </p:sp>
      <p:sp>
        <p:nvSpPr>
          <p:cNvPr id="13" name="Text 11"/>
          <p:cNvSpPr txBox="1"/>
          <p:nvPr/>
        </p:nvSpPr>
        <p:spPr>
          <a:xfrm>
            <a:off x="6507328" y="320040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Orchestration</a:t>
            </a:r>
            <a:endParaRPr lang="en-US" sz="1350" dirty="0"/>
          </a:p>
        </p:txBody>
      </p:sp>
      <p:sp>
        <p:nvSpPr>
          <p:cNvPr id="14" name="Shape 12"/>
          <p:cNvSpPr/>
          <p:nvPr/>
        </p:nvSpPr>
        <p:spPr>
          <a:xfrm>
            <a:off x="700888" y="3931920"/>
            <a:ext cx="5257800" cy="566928"/>
          </a:xfrm>
          <a:prstGeom prst="roundRect">
            <a:avLst>
              <a:gd name="adj" fmla="val 50000"/>
            </a:avLst>
          </a:prstGeom>
          <a:ln w="19050">
            <a:solidFill>
              <a:srgbClr val="D9A441"/>
            </a:solidFill>
            <a:prstDash val="dash"/>
          </a:ln>
        </p:spPr>
      </p:sp>
      <p:sp>
        <p:nvSpPr>
          <p:cNvPr id="15" name="Text 13"/>
          <p:cNvSpPr txBox="1"/>
          <p:nvPr/>
        </p:nvSpPr>
        <p:spPr>
          <a:xfrm>
            <a:off x="975208" y="393192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Spark</a:t>
            </a:r>
            <a:endParaRPr lang="en-US" sz="1350" dirty="0"/>
          </a:p>
        </p:txBody>
      </p:sp>
      <p:sp>
        <p:nvSpPr>
          <p:cNvPr id="16" name="Shape 14"/>
          <p:cNvSpPr/>
          <p:nvPr/>
        </p:nvSpPr>
        <p:spPr>
          <a:xfrm>
            <a:off x="6233008" y="3931920"/>
            <a:ext cx="5257800" cy="566928"/>
          </a:xfrm>
          <a:prstGeom prst="roundRect">
            <a:avLst>
              <a:gd name="adj" fmla="val 50000"/>
            </a:avLst>
          </a:prstGeom>
          <a:ln w="19050">
            <a:solidFill>
              <a:srgbClr val="D9A441"/>
            </a:solidFill>
            <a:prstDash val="dash"/>
          </a:ln>
        </p:spPr>
      </p:sp>
      <p:sp>
        <p:nvSpPr>
          <p:cNvPr id="17" name="Text 15"/>
          <p:cNvSpPr txBox="1"/>
          <p:nvPr/>
        </p:nvSpPr>
        <p:spPr>
          <a:xfrm>
            <a:off x="6507328" y="393192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Streaming</a:t>
            </a:r>
            <a:endParaRPr lang="en-US" sz="1350" dirty="0"/>
          </a:p>
        </p:txBody>
      </p:sp>
      <p:sp>
        <p:nvSpPr>
          <p:cNvPr id="18" name="Shape 16"/>
          <p:cNvSpPr/>
          <p:nvPr/>
        </p:nvSpPr>
        <p:spPr>
          <a:xfrm>
            <a:off x="700888" y="4663440"/>
            <a:ext cx="5257800" cy="566928"/>
          </a:xfrm>
          <a:prstGeom prst="roundRect">
            <a:avLst>
              <a:gd name="adj" fmla="val 50000"/>
            </a:avLst>
          </a:prstGeom>
          <a:ln w="19050">
            <a:solidFill>
              <a:srgbClr val="D9A441"/>
            </a:solidFill>
            <a:prstDash val="dash"/>
          </a:ln>
        </p:spPr>
      </p:sp>
      <p:sp>
        <p:nvSpPr>
          <p:cNvPr id="19" name="Text 17"/>
          <p:cNvSpPr txBox="1"/>
          <p:nvPr/>
        </p:nvSpPr>
        <p:spPr>
          <a:xfrm>
            <a:off x="975208" y="466344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Serving / API</a:t>
            </a:r>
            <a:endParaRPr lang="en-US" sz="1350" dirty="0"/>
          </a:p>
        </p:txBody>
      </p:sp>
      <p:sp>
        <p:nvSpPr>
          <p:cNvPr id="20" name="Shape 18"/>
          <p:cNvSpPr/>
          <p:nvPr/>
        </p:nvSpPr>
        <p:spPr>
          <a:xfrm>
            <a:off x="6233008" y="4663440"/>
            <a:ext cx="5257800" cy="566928"/>
          </a:xfrm>
          <a:prstGeom prst="roundRect">
            <a:avLst>
              <a:gd name="adj" fmla="val 50000"/>
            </a:avLst>
          </a:prstGeom>
          <a:ln w="19050">
            <a:solidFill>
              <a:srgbClr val="D9A441"/>
            </a:solidFill>
            <a:prstDash val="dash"/>
          </a:ln>
        </p:spPr>
      </p:sp>
      <p:sp>
        <p:nvSpPr>
          <p:cNvPr id="21" name="Text 19"/>
          <p:cNvSpPr txBox="1"/>
          <p:nvPr/>
        </p:nvSpPr>
        <p:spPr>
          <a:xfrm>
            <a:off x="6507328" y="466344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Docker</a:t>
            </a:r>
            <a:endParaRPr lang="en-US" sz="1350" dirty="0"/>
          </a:p>
        </p:txBody>
      </p:sp>
      <p:sp>
        <p:nvSpPr>
          <p:cNvPr id="22" name="Shape 20"/>
          <p:cNvSpPr/>
          <p:nvPr/>
        </p:nvSpPr>
        <p:spPr>
          <a:xfrm>
            <a:off x="700888" y="5394960"/>
            <a:ext cx="5257800" cy="566928"/>
          </a:xfrm>
          <a:prstGeom prst="roundRect">
            <a:avLst>
              <a:gd name="adj" fmla="val 50000"/>
            </a:avLst>
          </a:prstGeom>
          <a:ln w="19050">
            <a:solidFill>
              <a:srgbClr val="D9A441"/>
            </a:solidFill>
            <a:prstDash val="dash"/>
          </a:ln>
        </p:spPr>
      </p:sp>
      <p:sp>
        <p:nvSpPr>
          <p:cNvPr id="23" name="Text 21"/>
          <p:cNvSpPr txBox="1"/>
          <p:nvPr/>
        </p:nvSpPr>
        <p:spPr>
          <a:xfrm>
            <a:off x="975208" y="539496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CI/CD</a:t>
            </a:r>
            <a:endParaRPr lang="en-US" sz="1350" dirty="0"/>
          </a:p>
        </p:txBody>
      </p:sp>
      <p:sp>
        <p:nvSpPr>
          <p:cNvPr id="24" name="Shape 22"/>
          <p:cNvSpPr/>
          <p:nvPr/>
        </p:nvSpPr>
        <p:spPr>
          <a:xfrm>
            <a:off x="6233008" y="5394960"/>
            <a:ext cx="5257800" cy="566928"/>
          </a:xfrm>
          <a:prstGeom prst="roundRect">
            <a:avLst>
              <a:gd name="adj" fmla="val 50000"/>
            </a:avLst>
          </a:prstGeom>
          <a:ln w="19050">
            <a:solidFill>
              <a:srgbClr val="D9A441"/>
            </a:solidFill>
            <a:prstDash val="dash"/>
          </a:ln>
        </p:spPr>
      </p:sp>
      <p:sp>
        <p:nvSpPr>
          <p:cNvPr id="25" name="Text 23"/>
          <p:cNvSpPr txBox="1"/>
          <p:nvPr/>
        </p:nvSpPr>
        <p:spPr>
          <a:xfrm>
            <a:off x="6507328" y="5394960"/>
            <a:ext cx="4709160" cy="56692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Cloud deployment</a:t>
            </a:r>
            <a:endParaRPr lang="en-US" sz="1350" dirty="0"/>
          </a:p>
        </p:txBody>
      </p:sp>
      <p:sp>
        <p:nvSpPr>
          <p:cNvPr id="26" name="Text 24"/>
          <p:cNvSpPr txBox="1"/>
          <p:nvPr/>
        </p:nvSpPr>
        <p:spPr>
          <a:xfrm>
            <a:off x="11185855" y="6473952"/>
            <a:ext cx="822960" cy="274320"/>
          </a:xfrm>
          <a:prstGeom prst="rect">
            <a:avLst/>
          </a:prstGeom>
          <a:noFill/>
          <a:ln/>
        </p:spPr>
        <p:txBody>
          <a:bodyPr wrap="square" lIns="0" tIns="0" rIns="0" bIns="0" rtlCol="0" anchor="ctr"/>
          <a:lstStyle/>
          <a:p>
            <a:pPr algn="r" indent="0" marL="0">
              <a:buNone/>
            </a:pPr>
            <a:r>
              <a:rPr lang="en-US" sz="1050" dirty="0">
                <a:solidFill>
                  <a:srgbClr val="5C6B63"/>
                </a:solidFill>
                <a:latin typeface="Calibri" pitchFamily="34" charset="0"/>
                <a:ea typeface="Calibri" pitchFamily="34" charset="-122"/>
                <a:cs typeface="Calibri" pitchFamily="34" charset="-120"/>
              </a:rPr>
              <a:t>22 / 23</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3320"/>
        </a:solidFill>
      </p:bgPr>
    </p:bg>
    <p:spTree>
      <p:nvGrpSpPr>
        <p:cNvPr id="1" name=""/>
        <p:cNvGrpSpPr/>
        <p:nvPr/>
      </p:nvGrpSpPr>
      <p:grpSpPr>
        <a:xfrm>
          <a:off x="0" y="0"/>
          <a:ext cx="0" cy="0"/>
          <a:chOff x="0" y="0"/>
          <a:chExt cx="0" cy="0"/>
        </a:xfrm>
      </p:grpSpPr>
      <p:sp>
        <p:nvSpPr>
          <p:cNvPr id="2" name="Shape 0"/>
          <p:cNvSpPr/>
          <p:nvPr/>
        </p:nvSpPr>
        <p:spPr>
          <a:xfrm>
            <a:off x="5638648" y="1737360"/>
            <a:ext cx="914400" cy="914400"/>
          </a:xfrm>
          <a:prstGeom prst="ellipse">
            <a:avLst/>
          </a:prstGeom>
          <a:solidFill>
            <a:srgbClr val="D9A441"/>
          </a:solidFill>
          <a:ln/>
        </p:spPr>
      </p:sp>
      <p:pic>
        <p:nvPicPr>
          <p:cNvPr id="3" name="Image 0" descr="/home/claude/hydromet_ppt/icons/diagram.png">    </p:cNvPr>
          <p:cNvPicPr>
            <a:picLocks noChangeAspect="1"/>
          </p:cNvPicPr>
          <p:nvPr/>
        </p:nvPicPr>
        <p:blipFill>
          <a:blip r:embed="rId1"/>
          <a:stretch>
            <a:fillRect/>
          </a:stretch>
        </p:blipFill>
        <p:spPr>
          <a:xfrm>
            <a:off x="5867248" y="1965960"/>
            <a:ext cx="457200" cy="457200"/>
          </a:xfrm>
          <a:prstGeom prst="rect">
            <a:avLst/>
          </a:prstGeom>
        </p:spPr>
      </p:pic>
      <p:sp>
        <p:nvSpPr>
          <p:cNvPr id="4" name="Text 1"/>
          <p:cNvSpPr txBox="1"/>
          <p:nvPr/>
        </p:nvSpPr>
        <p:spPr>
          <a:xfrm>
            <a:off x="0" y="2880360"/>
            <a:ext cx="12191695"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2"/>
          <p:cNvSpPr txBox="1"/>
          <p:nvPr/>
        </p:nvSpPr>
        <p:spPr>
          <a:xfrm>
            <a:off x="0" y="3749040"/>
            <a:ext cx="12191695" cy="548640"/>
          </a:xfrm>
          <a:prstGeom prst="rect">
            <a:avLst/>
          </a:prstGeom>
          <a:noFill/>
          <a:ln/>
        </p:spPr>
        <p:txBody>
          <a:bodyPr wrap="square" lIns="0" tIns="0" rIns="0" bIns="0" rtlCol="0" anchor="ctr"/>
          <a:lstStyle/>
          <a:p>
            <a:pPr algn="ctr" indent="0" marL="0">
              <a:buNone/>
            </a:pPr>
            <a:r>
              <a:rPr lang="en-US" sz="2200" i="1" dirty="0">
                <a:solidFill>
                  <a:srgbClr val="D9A441"/>
                </a:solidFill>
                <a:latin typeface="Cambria" pitchFamily="34" charset="0"/>
                <a:ea typeface="Cambria" pitchFamily="34" charset="-122"/>
                <a:cs typeface="Cambria" pitchFamily="34" charset="-120"/>
              </a:rPr>
              <a:t>Questions?</a:t>
            </a:r>
            <a:endParaRPr lang="en-US" sz="2200" dirty="0"/>
          </a:p>
        </p:txBody>
      </p:sp>
      <p:sp>
        <p:nvSpPr>
          <p:cNvPr id="6" name="Text 3"/>
          <p:cNvSpPr txBox="1"/>
          <p:nvPr/>
        </p:nvSpPr>
        <p:spPr>
          <a:xfrm>
            <a:off x="0" y="4663440"/>
            <a:ext cx="12191695" cy="365760"/>
          </a:xfrm>
          <a:prstGeom prst="rect">
            <a:avLst/>
          </a:prstGeom>
          <a:noFill/>
          <a:ln/>
        </p:spPr>
        <p:txBody>
          <a:bodyPr wrap="square" lIns="0" tIns="0" rIns="0" bIns="0" rtlCol="0" anchor="ctr"/>
          <a:lstStyle/>
          <a:p>
            <a:pPr algn="ctr" indent="0" marL="0">
              <a:buNone/>
            </a:pPr>
            <a:r>
              <a:rPr lang="en-US" sz="1500" dirty="0">
                <a:solidFill>
                  <a:srgbClr val="D9F0DC"/>
                </a:solidFill>
                <a:latin typeface="Calibri" pitchFamily="34" charset="0"/>
                <a:ea typeface="Calibri" pitchFamily="34" charset="-122"/>
                <a:cs typeface="Calibri" pitchFamily="34" charset="-120"/>
              </a:rPr>
              <a:t>HydroMet-ETL  ·  DSAI 6226 — Data Engineering and Analytics</a:t>
            </a:r>
            <a:endParaRPr lang="en-US" sz="1500" dirty="0"/>
          </a:p>
        </p:txBody>
      </p:sp>
      <p:sp>
        <p:nvSpPr>
          <p:cNvPr id="7" name="Text 4"/>
          <p:cNvSpPr txBox="1"/>
          <p:nvPr/>
        </p:nvSpPr>
        <p:spPr>
          <a:xfrm>
            <a:off x="0" y="6080760"/>
            <a:ext cx="12191695" cy="365760"/>
          </a:xfrm>
          <a:prstGeom prst="rect">
            <a:avLst/>
          </a:prstGeom>
          <a:noFill/>
          <a:ln/>
        </p:spPr>
        <p:txBody>
          <a:bodyPr wrap="square" lIns="0" tIns="0" rIns="0" bIns="0" rtlCol="0" anchor="ctr"/>
          <a:lstStyle/>
          <a:p>
            <a:pPr algn="ctr" indent="0" marL="0">
              <a:buNone/>
            </a:pPr>
            <a:r>
              <a:rPr lang="en-US" sz="1250" dirty="0">
                <a:solidFill>
                  <a:srgbClr val="D9F0DC"/>
                </a:solidFill>
                <a:latin typeface="Calibri" pitchFamily="34" charset="0"/>
                <a:ea typeface="Calibri" pitchFamily="34" charset="-122"/>
                <a:cs typeface="Calibri" pitchFamily="34" charset="-120"/>
              </a:rPr>
              <a:t>Daniel Noah Laizer (Laizer DN)   ·   NM-AIST  ·   Reg. MT074/T25</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2026-09-01T10:49:39Z</dcterms:created>
  <dcterms:modified xsi:type="dcterms:W3CDTF">2026-09-01T10:49:39Z</dcterms:modified>
</cp:coreProperties>
</file>